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2743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3800" b="1" i="0">
                <a:solidFill>
                  <a:srgbClr val="FFFFFF"/>
                </a:solidFill>
                <a:latin typeface="PingFang SC"/>
                <a:ea typeface="PingFang SC"/>
              </a:rPr>
              <a:t>API 文档 → 训练数据 → 大模型学会新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CFDDEA"/>
                </a:solidFill>
                <a:latin typeface="PingFang SC"/>
                <a:ea typeface="PingFang SC"/>
              </a:rPr>
              <a:t>—— APIKG4SYN 全流程解读与通用评价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FC2D5"/>
                </a:solidFill>
                <a:latin typeface="PingFang SC"/>
                <a:ea typeface="PingFang SC"/>
              </a:rPr>
              <a:t>附：与 HumanEval 的对比 · 基于仓库代码与实验数据的核查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A6BC"/>
                </a:solidFill>
                <a:latin typeface="PingFang SC"/>
                <a:ea typeface="PingFang SC"/>
              </a:rPr>
              <a:t>面向懂技术的决策层 · 11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43"/>
                </a:solidFill>
                <a:latin typeface="PingFang SC"/>
                <a:ea typeface="PingFang SC"/>
              </a:rPr>
              <a:t>一页看懂：它造练习册、再验收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411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F96"/>
                </a:solidFill>
                <a:latin typeface="PingFang SC"/>
                <a:ea typeface="PingFang SC"/>
              </a:rPr>
              <a:t>输入官方 API 文档，输出可直接用于训练的数据，全程无需人工标注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官方 API 文档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PingFang SC"/>
                <a:ea typeface="PingFang SC"/>
              </a:rPr>
              <a:t>.d.ts 声明文件
（华为 ArkTS）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28316" y="2345436"/>
            <a:ext cx="365760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42616" y="1828800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API 成员清单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PingFang SC"/>
                <a:ea typeface="PingFang SC"/>
              </a:rPr>
              <a:t>从文档中解析出
类 / 方法 / 属性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8012" y="2345436"/>
            <a:ext cx="365760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82312" y="1828800"/>
            <a:ext cx="2011680" cy="1234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82312" y="1828800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练习题 + 答案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</a:rPr>
              <a:t>大模型按清单出题并
写答案代码 ×8,000 条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07708" y="2345436"/>
            <a:ext cx="365760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22008" y="1828800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微调大模型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PingFang SC"/>
                <a:ea typeface="PingFang SC"/>
              </a:rPr>
              <a:t>继续训练 7B 模型
教它这种语言的写法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947404" y="2345436"/>
            <a:ext cx="365760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61704" y="1828800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108 道人工题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PingFang SC"/>
                <a:ea typeface="PingFang SC"/>
              </a:rPr>
              <a:t>跑测试验收
看通过率（pass@1）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11201400" cy="2194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67E22"/>
                </a:solidFill>
                <a:latin typeface="PingFang SC"/>
                <a:ea typeface="PingFang SC"/>
              </a:rPr>
              <a:t>三句话概括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333333"/>
                </a:solidFill>
                <a:latin typeface="PingFang SC"/>
                <a:ea typeface="PingFang SC"/>
              </a:rPr>
              <a:t>▍ 它造了一套“编程练习题 → 答案代码”的练习册（8,000 条），用来教大模型学会一套新 API（华为 ArkTS）。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333333"/>
                </a:solidFill>
                <a:latin typeface="PingFang SC"/>
                <a:ea typeface="PingFang SC"/>
              </a:rPr>
              <a:t>▍ 它同时造了一份人工编写的小考卷（108 题），用来验收“教学”效果，看大模型学完之后通过率多少。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333333"/>
                </a:solidFill>
                <a:latin typeface="PingFang SC"/>
                <a:ea typeface="PingFang SC"/>
              </a:rPr>
              <a:t>▍ 全流程自动化：官方文档进去、可训练的数据出来——这是它相对人工标注数据集的根本差异。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APIKG4SYN 方法解读与评价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43"/>
                </a:solidFill>
                <a:latin typeface="PingFang SC"/>
                <a:ea typeface="PingFang SC"/>
              </a:rPr>
              <a:t>四步流水线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411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F96"/>
                </a:solidFill>
                <a:latin typeface="PingFang SC"/>
                <a:ea typeface="PingFang SC"/>
              </a:rPr>
              <a:t>对应仓库里 construct_KG → generate_single/multi_api_data → eval 四个目录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554480"/>
            <a:ext cx="566928" cy="56692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81912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499616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02A43"/>
                </a:solidFill>
                <a:latin typeface="PingFang SC"/>
                <a:ea typeface="PingFang SC"/>
              </a:rPr>
              <a:t>① 解析文档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读取官方 API 声明文件（.d.ts），逐条提取类、方法、属性的名字与说明，整理成结构化清单（即“知识图谱”，存入 Neo4j 图数据库）。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61488"/>
            <a:ext cx="566928" cy="56692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06624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02A43"/>
                </a:solidFill>
                <a:latin typeface="PingFang SC"/>
                <a:ea typeface="PingFang SC"/>
              </a:rPr>
              <a:t>② 出题 + 写答案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把清单喂给大模型：先按指定 API 出题（如“用 sort 和 removeByIndex 写一个排序并去尾的函数”），再让它写出答案代码；单 API 与多 API 两条线各自生成。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68496"/>
            <a:ext cx="566928" cy="56692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95928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913632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02A43"/>
                </a:solidFill>
                <a:latin typeface="PingFang SC"/>
                <a:ea typeface="PingFang SC"/>
              </a:rPr>
              <a:t>③ 微调模型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用 8,000 条“题 → 答案”（6,400 单 API + 1,600 多 API）继续训练一个开源 7B 模型，让它学会按这种语言的 API 规范写代码。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175504"/>
            <a:ext cx="566928" cy="56692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02936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120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02A43"/>
                </a:solidFill>
                <a:latin typeface="PingFang SC"/>
                <a:ea typeface="PingFang SC"/>
              </a:rPr>
              <a:t>④ 验收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108 道人工题（每题带单元测试）交给模型作答，把代码放进真实工程编译、跑测试，统计通过率 pass@1。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APIKG4SYN 方法解读与评价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43"/>
                </a:solidFill>
                <a:latin typeface="PingFang SC"/>
                <a:ea typeface="PingFang SC"/>
              </a:rPr>
              <a:t>与 HumanEval 的对比：练习册 vs 考卷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411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F96"/>
                </a:solidFill>
                <a:latin typeface="PingFang SC"/>
                <a:ea typeface="PingFang SC"/>
              </a:rPr>
              <a:t>HumanEval 是“考试题”，APIKG4SYN 是“练习册 ＋ 考试题”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00200"/>
          <a:ext cx="10058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402336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维度</a:t>
                      </a:r>
                    </a:p>
                  </a:txBody>
                  <a:tcPr anchor="ctr" marL="109728" marR="109728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HumanEval</a:t>
                      </a:r>
                    </a:p>
                  </a:txBody>
                  <a:tcPr anchor="ctr" marL="109728" marR="109728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APIKG4SYN</a:t>
                      </a:r>
                    </a:p>
                  </a:txBody>
                  <a:tcPr anchor="ctr" marL="109728" marR="109728">
                    <a:solidFill>
                      <a:srgbClr val="102A4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</a:rPr>
                        <a:t>定位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考卷：164 题，只评测，从不拿它训练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练习册（8,000 条）＋ 考卷（108 条）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</a:rPr>
                        <a:t>测试在哪里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每道题自带测试代码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练习册没有测试；只有考卷带测试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</a:rPr>
                        <a:t>怎么判对错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跑断言测试，结果与预期相等即算对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编译并跑测试，日志中无报错即算对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</a:rPr>
                        <a:t>数据怎么来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人工编写（OpenAI 团队）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全自动生成，无人工标注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</a:rPr>
                        <a:t>一句话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测“模型会不会”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教“模型学会”，再测效果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02A43"/>
                </a:solidFill>
                <a:latin typeface="PingFang SC"/>
                <a:ea typeface="PingFang SC"/>
              </a:rPr>
              <a:t>结论：两者分工不同——HumanEval 只“考”，APIKG4SYN 先“教”再“考”。它结合了自动生成数据与人工评测，是可训练 + 可验证的闭环。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APIKG4SYN 方法解读与评价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43"/>
                </a:solidFill>
                <a:latin typeface="PingFang SC"/>
                <a:ea typeface="PingFang SC"/>
              </a:rPr>
              <a:t>实测效果：练习册确实有效（多模型）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411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F96"/>
                </a:solidFill>
                <a:latin typeface="PingFang SC"/>
                <a:ea typeface="PingFang SC"/>
              </a:rPr>
              <a:t>数字来自仓库 eval_data/ 下的实验结果，均可复核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69748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Qwen2.5-Coder-7B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微调前 8.3%  →  </a:t>
            </a:r>
            <a:r>
              <a:rPr sz="1700" b="1" i="0">
                <a:solidFill>
                  <a:srgbClr val="2E7D32"/>
                </a:solidFill>
                <a:latin typeface="PingFang SC"/>
                <a:ea typeface="PingFang SC"/>
              </a:rPr>
              <a:t>微调后 25.0%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04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F96"/>
                </a:solidFill>
                <a:latin typeface="PingFang SC"/>
                <a:ea typeface="PingFang SC"/>
              </a:rPr>
              <a:t>最好成绩，代码预训练底子好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434840"/>
            <a:ext cx="582930" cy="1463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434840"/>
            <a:ext cx="1981962" cy="1463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6177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F96"/>
                </a:solidFill>
                <a:latin typeface="PingFang SC"/>
                <a:ea typeface="PingFang SC"/>
              </a:rPr>
              <a:t>深色柱 = 微调后通过率（示意）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269748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920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Mistral-7B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1460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微调前 4.6%  →  </a:t>
            </a:r>
            <a:r>
              <a:rPr sz="1700" b="1" i="0">
                <a:solidFill>
                  <a:srgbClr val="2E7D32"/>
                </a:solidFill>
                <a:latin typeface="PingFang SC"/>
                <a:ea typeface="PingFang SC"/>
              </a:rPr>
              <a:t>微调后 14.8%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5204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F96"/>
                </a:solidFill>
                <a:latin typeface="PingFang SC"/>
                <a:ea typeface="PingFang SC"/>
              </a:rPr>
              <a:t>提升约 10 个百分点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4434840"/>
            <a:ext cx="582930" cy="1463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4434840"/>
            <a:ext cx="1981962" cy="1463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46177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F96"/>
                </a:solidFill>
                <a:latin typeface="PingFang SC"/>
                <a:ea typeface="PingFang SC"/>
              </a:rPr>
              <a:t>深色柱 = 微调后通过率（示意）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691640"/>
            <a:ext cx="269748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20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DeepSeek-r1-7B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微调前 0.0%  →  </a:t>
            </a:r>
            <a:r>
              <a:rPr sz="1700" b="1" i="0">
                <a:solidFill>
                  <a:srgbClr val="2E7D32"/>
                </a:solidFill>
                <a:latin typeface="PingFang SC"/>
                <a:ea typeface="PingFang SC"/>
              </a:rPr>
              <a:t>微调后 9.3%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204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F96"/>
                </a:solidFill>
                <a:latin typeface="PingFang SC"/>
                <a:ea typeface="PingFang SC"/>
              </a:rPr>
              <a:t>从一道不会到会 10 题 / 108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434840"/>
            <a:ext cx="582930" cy="1463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434840"/>
            <a:ext cx="1981962" cy="1463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177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F96"/>
                </a:solidFill>
                <a:latin typeface="PingFang SC"/>
                <a:ea typeface="PingFang SC"/>
              </a:rPr>
              <a:t>深色柱 = 微调后通过率（示意）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1691640"/>
            <a:ext cx="269748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F0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920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GPT-4o（闭源参考）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51460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不微调  </a:t>
            </a:r>
            <a:r>
              <a:rPr sz="1700" b="1" i="0">
                <a:solidFill>
                  <a:srgbClr val="102A43"/>
                </a:solidFill>
                <a:latin typeface="PingFang SC"/>
                <a:ea typeface="PingFang SC"/>
              </a:rPr>
              <a:t>不微调 17.6%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5204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F96"/>
                </a:solidFill>
                <a:latin typeface="PingFang SC"/>
                <a:ea typeface="PingFang SC"/>
              </a:rPr>
              <a:t>当作强基线对照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4434840"/>
            <a:ext cx="582930" cy="1463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4434840"/>
            <a:ext cx="1981962" cy="14630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46177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F96"/>
                </a:solidFill>
                <a:latin typeface="PingFang SC"/>
                <a:ea typeface="PingFang SC"/>
              </a:rPr>
              <a:t>深色柱 = 微调后通过率（示意）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02A43"/>
                </a:solidFill>
                <a:latin typeface="PingFang SC"/>
                <a:ea typeface="PingFang SC"/>
              </a:rPr>
              <a:t>结论：思路成立——用 8,000 条自动生成的练习册做微调，确实让多个模型学会了新 API 的用法；提升幅度因基座模型而异，代码底子好的模型收益更大。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APIKG4SYN 方法解读与评价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43"/>
                </a:solidFill>
                <a:latin typeface="PingFang SC"/>
                <a:ea typeface="PingFang SC"/>
              </a:rPr>
              <a:t>数据长什么样：练习册一条 vs 考卷一条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411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F96"/>
                </a:solidFill>
                <a:latin typeface="PingFang SC"/>
                <a:ea typeface="PingFang SC"/>
              </a:rPr>
              <a:t>左侧：训练用（题 + 答案）；右侧：验收用（题 + 测试）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</a:rPr>
              <a:t>练习册（8,000 条训练数据）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486400" cy="3108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67E22"/>
                </a:solidFill>
                <a:latin typeface="PingFang SC"/>
                <a:ea typeface="PingFang SC"/>
              </a:rPr>
              <a:t>题目（instruction）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333333"/>
                </a:solidFill>
                <a:latin typeface="PingFang SC"/>
                <a:ea typeface="PingFang SC"/>
              </a:rPr>
              <a:t>“Write a function that takes an ArrayList, sorts it in ascending order, then removes the first and last elements using the sort and removeByIndex methods.”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67E22"/>
                </a:solidFill>
                <a:latin typeface="PingFang SC"/>
                <a:ea typeface="PingFang SC"/>
              </a:rPr>
              <a:t>答案（output）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0" i="0">
                <a:solidFill>
                  <a:srgbClr val="333333"/>
                </a:solidFill>
                <a:latin typeface="PingFang SC"/>
                <a:ea typeface="PingFang SC"/>
              </a:rPr>
              <a:t>import { ArrayList } from '@kit.ArkTS';
export function sortAndRemoveFirstLast&lt;T&gt;(list: ArrayList&lt;T&gt;) { list.sort(...); if (list.length &gt;= 2) { ... removeByIndex ... } 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F96"/>
                </a:solidFill>
                <a:latin typeface="PingFang SC"/>
                <a:ea typeface="PingFang SC"/>
              </a:rPr>
              <a:t>要点：题目强制点名用到的 API 方法；答案由大模型生成，仅经编译级检查，无行为验证。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</a:rPr>
              <a:t>考卷（108 道人工题）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486400" cy="3108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67E22"/>
                </a:solidFill>
                <a:latin typeface="PingFang SC"/>
                <a:ea typeface="PingFang SC"/>
              </a:rPr>
              <a:t>题目 + 参考代码 + 单元测试（test）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333333"/>
                </a:solidFill>
                <a:latin typeface="PingFang SC"/>
                <a:ea typeface="PingFang SC"/>
              </a:rPr>
              <a:t>题目：写 bfsOrder，用 Deque 实现 BFS 遍历。
测试（节选）：
  it('should return BFS order', ...)
    const order = bfsOrder(graph, 0);
    expect(order[0]).assertEqual(0); 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F96"/>
                </a:solidFill>
                <a:latin typeface="PingFang SC"/>
                <a:ea typeface="PingFang SC"/>
              </a:rPr>
              <a:t>判分方式：把模型作答写入工程 → 真实编译 → 跑 hypium 单元测试 → 日志无报错即通过。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49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3A3A"/>
                </a:solidFill>
                <a:latin typeface="PingFang SC"/>
                <a:ea typeface="PingFang SC"/>
              </a:rPr>
              <a:t>注意：练习册里已确认混有少量空答案样本（6,400 条中 34 条），生成后未过滤，会直接进入训练数据。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APIKG4SYN 方法解读与评价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43"/>
                </a:solidFill>
                <a:latin typeface="PingFang SC"/>
                <a:ea typeface="PingFang SC"/>
              </a:rPr>
              <a:t>代码核查：仓库现状（四个事实）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411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F96"/>
                </a:solidFill>
                <a:latin typeface="PingFang SC"/>
                <a:ea typeface="PingFang SC"/>
              </a:rPr>
              <a:t>以下结论均可追溯至仓库代码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1848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63624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02A43"/>
                </a:solidFill>
                <a:latin typeface="PingFang SC"/>
                <a:ea typeface="PingFang SC"/>
              </a:rPr>
              <a:t>生成流程里没有校验环节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PingFang SC"/>
                <a:ea typeface="PingFang SC"/>
              </a:rPr>
              <a:t>“编译不过就重写”的功能未接通：流程只负责出题、写码、落盘；单 API 生成器还引用了未定义的变量，本身跑不起来。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70632"/>
            <a:ext cx="457200" cy="457200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34056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02A43"/>
                </a:solidFill>
                <a:latin typeface="PingFang SC"/>
                <a:ea typeface="PingFang SC"/>
              </a:rPr>
              <a:t>判对错只看“能否编译”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PingFang SC"/>
                <a:ea typeface="PingFang SC"/>
              </a:rPr>
              <a:t>编译、测试日志中无报错即算对，不检查代码是否真的实现了题目要求（无行为验证、无断言）。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41064"/>
            <a:ext cx="457200" cy="457200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5935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04488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02A43"/>
                </a:solidFill>
                <a:latin typeface="PingFang SC"/>
                <a:ea typeface="PingFang SC"/>
              </a:rPr>
              <a:t>空答案样本不过滤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PingFang SC"/>
                <a:ea typeface="PingFang SC"/>
              </a:rPr>
              <a:t>大模型输出解析失败时被记为空白并照常写入数据集（6,400 条中 34 条为空）。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111496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2978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07492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02A43"/>
                </a:solidFill>
                <a:latin typeface="PingFang SC"/>
                <a:ea typeface="PingFang SC"/>
              </a:rPr>
              <a:t>重量级部分收益无证据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PingFang SC"/>
                <a:ea typeface="PingFang SC"/>
              </a:rPr>
              <a:t>知识图谱 + 搜索选 API 组合（Neo4j + MCTS）环节复杂，但对最终效果的贡献没有直接的对照实验证据。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PingFang SC"/>
                <a:ea typeface="PingFang SC"/>
              </a:rPr>
              <a:t>含义：以仓库代码现状，无法复现论文所述的生成流程；练习册里的“答案正确性”未经验证。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APIKG4SYN 方法解读与评价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43"/>
                </a:solidFill>
                <a:latin typeface="PingFang SC"/>
                <a:ea typeface="PingFang SC"/>
              </a:rPr>
              <a:t>通用评价：哪些环节站得住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411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F96"/>
                </a:solidFill>
                <a:latin typeface="PingFang SC"/>
                <a:ea typeface="PingFang SC"/>
              </a:rPr>
              <a:t>不绑定任何语言，只评这个仓库本身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</a:rPr>
              <a:t>站得住（成立的部分）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5486400" cy="3246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333333"/>
                </a:solidFill>
                <a:latin typeface="PingFang SC"/>
                <a:ea typeface="PingFang SC"/>
              </a:rPr>
              <a:t>✓ 整体思路：文档 → 练习册 → 微调 → 考卷，闭环完整。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333333"/>
                </a:solidFill>
                <a:latin typeface="PingFang SC"/>
                <a:ea typeface="PingFang SC"/>
              </a:rPr>
              <a:t>✓ 实证有效：四个模型的数据显示微调后通过率普遍提升。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333333"/>
                </a:solidFill>
                <a:latin typeface="PingFang SC"/>
                <a:ea typeface="PingFang SC"/>
              </a:rPr>
              <a:t>✓ 设计了“编译报错回喂模型重写”的机制——方向正确（虽未接通）。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333333"/>
                </a:solidFill>
                <a:latin typeface="PingFang SC"/>
                <a:ea typeface="PingFang SC"/>
              </a:rPr>
              <a:t>✓ 评测端做得实：真实工程的编译与测试执行，而非沙箱模拟。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86400" cy="5029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</a:rPr>
              <a:t>有缺陷（未完成的部分）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57400"/>
            <a:ext cx="5486400" cy="3246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333333"/>
                </a:solidFill>
                <a:latin typeface="PingFang SC"/>
                <a:ea typeface="PingFang SC"/>
              </a:rPr>
              <a:t>✗ 生成侧缺校验：没有真正“编译反馈重写”的执行路径。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333333"/>
                </a:solidFill>
                <a:latin typeface="PingFang SC"/>
                <a:ea typeface="PingFang SC"/>
              </a:rPr>
              <a:t>✗ 正确性只到“能编译”，不做行为验证。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333333"/>
                </a:solidFill>
                <a:latin typeface="PingFang SC"/>
                <a:ea typeface="PingFang SC"/>
              </a:rPr>
              <a:t>✗ 空样本不清理，噪声直接进训练集。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333333"/>
                </a:solidFill>
                <a:latin typeface="PingFang SC"/>
                <a:ea typeface="PingFang SC"/>
              </a:rPr>
              <a:t>✗ 关键代码缺失/有 bug，流程不可复现。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77840"/>
            <a:ext cx="11201400" cy="5486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6418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</a:rPr>
              <a:t>一句话：方法论成立，工程未完成——值得吸收方法，不宜照搬代码。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APIKG4SYN 方法解读与评价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43"/>
                </a:solidFill>
                <a:latin typeface="PingFang SC"/>
                <a:ea typeface="PingFang SC"/>
              </a:rPr>
              <a:t>若想借鉴：保留什么、改造什么、砍掉什么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411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F96"/>
                </a:solidFill>
                <a:latin typeface="PingFang SC"/>
                <a:ea typeface="PingFang SC"/>
              </a:rPr>
              <a:t>适用场景：想用同样思路教大模型学会一套新 API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124711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749039"/>
                <a:gridCol w="3749039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值得保留</a:t>
                      </a:r>
                    </a:p>
                  </a:txBody>
                  <a:tcPr anchor="ctr" marL="109728" marR="109728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必须改造</a:t>
                      </a:r>
                    </a:p>
                  </a:txBody>
                  <a:tcPr anchor="ctr" marL="109728" marR="109728">
                    <a:solidFill>
                      <a:srgbClr val="E67E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不建议照搬</a:t>
                      </a:r>
                    </a:p>
                  </a:txBody>
                  <a:tcPr anchor="ctr" marL="109728" marR="109728">
                    <a:solidFill>
                      <a:srgbClr val="B33A3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文档 → 出题 → 写码 → 微调 → 考卷的最小闭环；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补上“编译/测试反馈重写”的校验环，让错误答案真正被拒；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Neo4j 知识图谱 + MCTS 组合出题（复杂且无收益证据）；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评测用真实编译 + 单元测试判分；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过滤空答案与质量不合格样本；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Windows 批处理与硬编码路径的工程方式；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编译报错回喂模型的设计思路。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把流程脚本化、可复现，补回缺失的生成代码。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以当前代码直接复现论文结果的做法。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8F96"/>
                </a:solidFill>
                <a:latin typeface="PingFang SC"/>
                <a:ea typeface="PingFang SC"/>
              </a:rPr>
              <a:t>判断依据：分档标准是“有没有证据支撑”与“要不要额外工程投入”；本页结论均来自可追溯的仓库代码、数据与实验结果。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APIKG4SYN 方法解读与评价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43"/>
                </a:solidFill>
                <a:latin typeface="PingFang SC"/>
                <a:ea typeface="PingFang SC"/>
              </a:rPr>
              <a:t>收尾：你能带走什么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411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46304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如果你想借鉴它“教大模型学新 API”的办法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最小闭环值得做：文档 → 出题 → 写码 →（补上校验）→ 微调 → 考卷。先小规模试跑，用新 API 的数据验证提升幅度。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54680"/>
            <a:ext cx="146304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136392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如果你想复现它的结果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当前代码不可复现：需要补回生成逻辑与校验环、清理空样本、脚本化流程。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572000"/>
            <a:ext cx="146304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553712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02A43"/>
                </a:solidFill>
                <a:latin typeface="PingFang SC"/>
                <a:ea typeface="PingFang SC"/>
              </a:rPr>
              <a:t>它的最大价值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ingFang SC"/>
                <a:ea typeface="PingFang SC"/>
              </a:rPr>
              <a:t>证明了“自动生成练习册 + 微调”能让大模型学会一套它原本不会的新 API——这是可复用的方法论。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8704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</a:rPr>
              <a:t>一句话：一个思路有效、工程缺环的仓库——值得吸收方法，不宜照搬代码。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APIKG4SYN 方法解读与评价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43"/>
                </a:solidFill>
                <a:latin typeface="PingFang SC"/>
                <a:ea typeface="PingFang SC"/>
              </a:rPr>
              <a:t>附录：全部评测结果（19 份）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280160" cy="411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F96"/>
                </a:solidFill>
                <a:latin typeface="PingFang SC"/>
                <a:ea typeface="PingFang SC"/>
              </a:rPr>
              <a:t>数据来源：eval_data/ 下各模型 × 各配置的实验结果 JSON，由 test_passed 字段统计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8595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017520"/>
                <a:gridCol w="1280160"/>
                <a:gridCol w="1463040"/>
              </a:tblGrid>
              <a:tr h="21613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模型</a:t>
                      </a:r>
                    </a:p>
                  </a:txBody>
                  <a:tcPr anchor="ctr" marL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配置</a:t>
                      </a:r>
                    </a:p>
                  </a:txBody>
                  <a:tcPr anchor="ctr" marL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通过 / 108</a:t>
                      </a:r>
                    </a:p>
                  </a:txBody>
                  <a:tcPr anchor="ctr" marL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pass@1</a:t>
                      </a:r>
                    </a:p>
                  </a:txBody>
                  <a:tcPr anchor="ctr" marL="73152">
                    <a:solidFill>
                      <a:srgbClr val="102A43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Qwen2.5-Coder-7B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8,000 条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27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25.0%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GPT-4o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闭源，不微调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19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17.6%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Mistral-7B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8,000 条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16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14.8%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Qwen2.5-Coder-7B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6,000 条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23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21.3%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Qwen2.5-Coder-7B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4,000 条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18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16.7%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Qwen2.5-Coder-7B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开源数据微调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11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10.2%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Qwen2.5-Coder-7B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仅单 API 数据（消融）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11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10.2%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Qwen2.5-Coder-7B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2,000 条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10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9.3%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Qwen3-32B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大模型，不微调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10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9.3%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o4-mini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闭源，不微调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10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9.3%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DeepSeek-r1-7B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8,000 条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10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9.3%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Qwen2.5-Coder-7B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不微调（基线）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9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8.3%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DeepSeek-r1-7B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6,000 条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7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6.5%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Mistral-7B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2,000 条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7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6.5%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DeepSeek-r1-7B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2,000 条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6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5.6%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Mistral-7B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4,000 条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6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5.6%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Mistral-7B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不微调（基线）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5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4.6%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DeepSeek-r1-671B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大模型，不微调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4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3.7%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DeepSeek-r1-7B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微调 4,000 条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1.9%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DeepSeek-r1-7B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开源数据微调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0.9%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1615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DeepSeek-r1-7B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不微调（基线）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0.0%</a:t>
                      </a:r>
                    </a:p>
                  </a:txBody>
                  <a:tcPr anchor="ctr" marL="73152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92640" y="173736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67E22"/>
                </a:solidFill>
                <a:latin typeface="PingFang SC"/>
                <a:ea typeface="PingFang SC"/>
              </a:rPr>
              <a:t>阅读提示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PingFang SC"/>
                <a:ea typeface="PingFang SC"/>
              </a:rPr>
              <a:t>▪ 加深色行 = 各模型“微调 8,000 条”（完整数据）的成绩。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PingFang SC"/>
                <a:ea typeface="PingFang SC"/>
              </a:rPr>
              <a:t>▪ “不微调”即用基座模型直接作答，作为对照。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PingFang SC"/>
                <a:ea typeface="PingFang SC"/>
              </a:rPr>
              <a:t>▪ 闭源模型（GPT-4o / o4-mini / Qwen3-32B）仅作参考基线。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PingFang SC"/>
                <a:ea typeface="PingFang SC"/>
              </a:rPr>
              <a:t>▪ 结论：微调用数据量越大、基座代码能力越强，提升越明显。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APIKG4SYN 方法解读与评价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F96"/>
                </a:solidFill>
                <a:latin typeface="PingFang SC"/>
                <a:ea typeface="PingFang S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