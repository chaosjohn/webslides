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82" r:id="rId2"/>
    <p:sldId id="292" r:id="rId3"/>
    <p:sldId id="293" r:id="rId4"/>
    <p:sldId id="302" r:id="rId5"/>
    <p:sldId id="296" r:id="rId6"/>
    <p:sldId id="298" r:id="rId7"/>
    <p:sldId id="306" r:id="rId8"/>
    <p:sldId id="305" r:id="rId9"/>
    <p:sldId id="311" r:id="rId10"/>
    <p:sldId id="300" r:id="rId11"/>
    <p:sldId id="295" r:id="rId12"/>
    <p:sldId id="309" r:id="rId13"/>
    <p:sldId id="289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FC2DFAE-FB83-48CB-9811-7C4E6F4F3F73}">
          <p14:sldIdLst>
            <p14:sldId id="282"/>
            <p14:sldId id="292"/>
            <p14:sldId id="293"/>
            <p14:sldId id="302"/>
            <p14:sldId id="296"/>
            <p14:sldId id="298"/>
            <p14:sldId id="306"/>
            <p14:sldId id="305"/>
            <p14:sldId id="311"/>
            <p14:sldId id="300"/>
            <p14:sldId id="295"/>
            <p14:sldId id="309"/>
            <p14:sldId id="28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C4F1"/>
    <a:srgbClr val="88B9F7"/>
    <a:srgbClr val="8F97FC"/>
    <a:srgbClr val="C7D6FE"/>
    <a:srgbClr val="CCCCFF"/>
    <a:srgbClr val="FFFFFF"/>
    <a:srgbClr val="C4D5FC"/>
    <a:srgbClr val="70CBE6"/>
    <a:srgbClr val="8F95FC"/>
    <a:srgbClr val="0075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7398" autoAdjust="0"/>
    <p:restoredTop sz="87073" autoAdjust="0"/>
  </p:normalViewPr>
  <p:slideViewPr>
    <p:cSldViewPr snapToGrid="0" snapToObjects="1">
      <p:cViewPr varScale="1">
        <p:scale>
          <a:sx n="99" d="100"/>
          <a:sy n="99" d="100"/>
        </p:scale>
        <p:origin x="208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275235-9A1A-D74C-B5F3-1C693EF9A0DE}" type="datetimeFigureOut">
              <a:rPr kumimoji="1" lang="zh-CN" altLang="en-US" smtClean="0"/>
              <a:t>2026/10/8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幻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59C8D6-C46B-CF46-BEF0-81268CF6F78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7178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大家好，我是虞嘉豪，来自仓颉语言社区安全团队。今天想围绕一个问题展开：从语言设计到真实应用，仓颉如何帮助开发者减少漏洞、保护程序，并持续发现安全风险。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我们会先看语言和工具链提供的能力，再展开跨语言内存检测、控制流保护和代码混淆；最后结合第三方评估与语言库风险，介绍团队如何用大模型开展持续安全看护。能力、适用条件和持续治理，会贯穿今天的分享。</a:t>
            </a:r>
            <a:endParaRPr lang="zh-CN" altLang="en-US" sz="1400" b="0" dirty="0">
              <a:latin typeface="微软雅黑"/>
              <a:ea typeface="微软雅黑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400" b="1"/>
            </a:pPr>
            <a:r>
              <a:rPr lang="zh-CN" sz="1400" b="1" dirty="0">
                <a:latin typeface="微软雅黑"/>
                <a:ea typeface="微软雅黑"/>
              </a:rPr>
              <a:t>串场：先从仓颉的语言定位说起，看看安全为什么是它的基础能力之一。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今天分成八个部分。前两部分介绍仓颉语言安全基础和开发者安全能力；中间三部分展开跨语言内存检测、控制流完整性和代码混淆；随后看第三方安全评估，再分别讨论语言库安全风险和大模型辅助安全看护。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重点不是逐项背工具名称，而是理解每种能力保护什么、在哪个阶段发挥作用，以及语言机制之外为什么还需要持续检查。P13 之后是备用对比资料，不纳入这份主讲目录。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400" b="1"/>
            </a:pPr>
            <a:r>
              <a:rPr lang="zh-CN" sz="1400" b="1" dirty="0">
                <a:latin typeface="微软雅黑"/>
                <a:ea typeface="微软雅黑"/>
              </a:rPr>
              <a:t>串场：把这些基础机制展开，就能看到语言自身安全和应用防护各自承担什么。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仓颉定位为面向全场景智能的新一代应用编程语言。这张图用来说明应用开发语言在效率、性能与使用场景上的不同侧重，坐标只是示意，不是性能排名。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本页列了高性能、全场景、强安全和智能化四个方向。今天重点看强安全：静态强类型让很多类型问题提前在编译期暴露；GC 管理托管对象的生命周期，减少手动释放风险；空安全、运算检查等机制帮助开发者减少常见错误。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这些能力主要作用于语言规则和托管代码边界。外部原生代码、依赖库和业务配置仍需要单独关注。平台支持与具体功能应以所用 SDK 和目标配置为准。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400" b="1"/>
            </a:pPr>
            <a:r>
              <a:rPr lang="zh-CN" sz="1400" b="1" dirty="0">
                <a:latin typeface="微软雅黑"/>
                <a:ea typeface="微软雅黑"/>
              </a:rPr>
              <a:t>串场：从能力地图转到开发者视角：这些保护分别在开发、测试、编译和运行阶段怎样使用？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这一页是一张能力地图，左边是语言自身安全，右边是应用防护。现场不需要把每行都读完，抓住几类典型问题即可。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左侧先看数组边界、变量初始化、Option 和托管对象生命周期；再看运算范围、显式类型转换以及资源清理。并发部分提供原子操作、锁和自动解锁机制，但不能据此保证任何并发程序都没有数据竞争或死锁。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右侧安全库提供随机数、加解密、签名、摘要、证书和 TLS 等接口；代码混淆增加逆向成本；编译与运行时提供地址布局、只读数据和控制流等防护。底部颜色用来区分语言、库和编译运行时能力。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这些机制的作用范围不同：GC 不负责所有外部资源，TLS 也需要正确配置证书验证。后面的内容会选择几个有代表性的能力展开，而不是逐行重复这张表。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参考资料：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在线文档：https://docs.cangjie-lang.cn/docs/1.0.5/libs/std/sync/sync_package_overview.html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https://gitcode.com/Cangjie/cangjie_stdx/blob/main/doc/libs_stdx/net/tls/tls_package_api/tls_package_structs.md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400" b="1"/>
            </a:pPr>
            <a:r>
              <a:rPr lang="zh-CN" sz="1400" b="1" dirty="0">
                <a:latin typeface="微软雅黑"/>
                <a:ea typeface="微软雅黑"/>
              </a:rPr>
              <a:t>串场：语言安全机制可以减少托管代码中的常见错误，但通过 FFI 调用 C 等原生代码时，仍可能出现内存安全问题。下一页介绍跨语言场景中的两种检测技术。</a:t>
            </a:r>
          </a:p>
          <a:p>
            <a:pPr>
              <a:defRPr sz="1400" b="0"/>
            </a:pPr>
            <a:r>
              <a:rPr lang="zh-CN" sz="1400" b="0">
                <a:latin typeface="微软雅黑"/>
                <a:ea typeface="微软雅黑"/>
              </a:rPr>
              <a:t>这一页把开发者安全分成三个方向：编码和测试阶段尽早发现问题，编译阶段提高逆向分析成本，运行阶段增加漏洞利用难度。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编码安全对应开发与测试阶段：语言机制减少常见编码错误，检测器和 Fuzz 帮助发现问题。FFI 是与 C 等原生代码交互的接口，原生侧的内存错误仍可能影响程序，因此需要配合跨语言内存检测。代码保护对应编译阶段：cjc 内置代码混淆，可组合外形、数据与控制流混淆，增加逆向分析成本。运行安全对应程序执行阶段：采样检查跨语言内存问题，栈保护与地址布局增加利用难度，CFI 保护控制流转移。检测器、编译选项及平台的支持范围不同，使用时需结合实际场景选择。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表中的跨语言比较是所选场景与工具链口径，不代表某种语言在所有平台都支持或永远不支持某项能力。实际使用还要确认 SDK、平台、编译选项及 native 侧构建方式。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这里强调的是把问题尽量提前发现，同时为未发现的问题增加运行防护。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参考资料：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【代码保护补充】表格新增“代码保护（逆向分析难）”，阶段为编译、能力为代码混淆。仓颉列标注 cjc 内置。Swift、Kotlin 列的“外部工具”表示这些生态中的混淆通常需要另行选择并接入工具，不能把某个工具的能力直接当作语言内置能力。Kotlin 的 Android 场景可使用 ProGuard/R8，具体能力看后续 Android 分组对比；Swift 的具体混淆工具、版本与支持范围本页不做比较。这一行描述获得混淆能力的方式，不使用“是/否”推断各语言全部工具链的能力。仓颉支持上述混淆选项，默认是否启用及强度须看编译配置。来源：仓颉 cjc 编译选项文档与后续混淆页 notes 中的工具官方资料。Swift 外部商业防护工具示例仅用于说明生态中存在独立工具，不作选型推荐：https://www.guardsquare.com/ixguard 。Kotlin / Android 构建工具来源：https://developer.android.com/topic/performance/app-optimization/enable-app-optimization 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400" b="1"/>
            </a:pPr>
            <a:r>
              <a:rPr lang="zh-CN" sz="1400" b="1">
                <a:latin typeface="微软雅黑"/>
                <a:ea typeface="微软雅黑"/>
              </a:rPr>
              <a:t>串场：内存错误可能进一步被用于劫持执行流。下一步看 CFI 如何保护返回地址和调用目标。</a:t>
            </a:r>
          </a:p>
          <a:p>
            <a:pPr>
              <a:defRPr sz="1400" b="0"/>
            </a:pPr>
            <a:r>
              <a:rPr lang="zh-CN" sz="1400" b="0">
                <a:latin typeface="微软雅黑"/>
                <a:ea typeface="微软雅黑"/>
              </a:rPr>
              <a:t>底部概括的是两种机制的相对取舍。HWASAN 对受插桩的内存访问进行标签检查，覆盖较广，但依赖硬件特性及编译和运行时配合。仓颉这里的 GWP-ASAN 针对 FFI 数组做边界哨兵采样检查，不依赖 TBI 等硬件标签特性。开销较高或较低是基于检查方式的定性比较，不是仓颉的实测结论；具体开销与负载、采样率及配置有关。两者都不能保证检出所有内存错误。</a:t>
            </a:r>
          </a:p>
          <a:p>
            <a:pPr>
              <a:defRPr sz="1400" b="0"/>
            </a:pPr>
            <a:r>
              <a:rPr lang="zh-CN" sz="1400" b="0">
                <a:latin typeface="微软雅黑"/>
                <a:ea typeface="微软雅黑"/>
              </a:rPr>
              <a:t>这一页展示两种技术。左边是 HWASAN：通过插桩识别内存访问，结合指针标签和影子内存中的标签，在访问时比较是否匹配。图中展示的是检测思路，FFI 场景还需要与 C 侧的检测配置配合。</a:t>
            </a:r>
          </a:p>
          <a:p>
            <a:pPr>
              <a:defRPr sz="1400" b="0"/>
            </a:pPr>
            <a:r>
              <a:rPr lang="zh-CN" sz="1400" b="0">
                <a:latin typeface="微软雅黑"/>
                <a:ea typeface="微软雅黑"/>
              </a:rPr>
              <a:t>右边是仓颉的 GWP-ASAN 数组采样检查。它并非对每次访问都插桩，而是在部分 acquire 调用采样命中后设置检查值，并独立记录数据地址对应的预期长度。release 时核对记录、头部长度和尾部填充；不一致时报告异常并终止。</a:t>
            </a:r>
          </a:p>
          <a:p>
            <a:pPr>
              <a:defRPr sz="1400" b="0"/>
            </a:pPr>
            <a:r>
              <a:rPr lang="zh-CN" sz="1400" b="0">
                <a:latin typeface="微软雅黑"/>
                <a:ea typeface="微软雅黑"/>
              </a:rPr>
              <a:t>看两个例子：13 字节数据向 8 字节边界对齐，需要 3 个填充字节，每个填充字节设置为 03；16 字节已经对齐，尾部没有填充区。头部检查与尾部检查不能混为同一个固定为零的值。</a:t>
            </a:r>
          </a:p>
          <a:p>
            <a:pPr>
              <a:defRPr sz="1400" b="0"/>
            </a:pPr>
            <a:r>
              <a:rPr lang="zh-CN" sz="1400" b="0">
                <a:latin typeface="微软雅黑"/>
                <a:ea typeface="微软雅黑"/>
              </a:rPr>
              <a:t>程序退出时还会检查未配对 release 的采样记录。本页给出了平台和启用配置。这是采样检查，覆盖采样命中且破坏检查区的部分越界写，不检查读越界，也不能保证所有写越界都被发现。</a:t>
            </a:r>
          </a:p>
          <a:p>
            <a:pPr>
              <a:defRPr sz="1400" b="0"/>
            </a:pPr>
            <a:r>
              <a:rPr lang="zh-CN" sz="1400" b="0">
                <a:latin typeface="微软雅黑"/>
                <a:ea typeface="微软雅黑"/>
              </a:rPr>
              <a:t>参考资料：</a:t>
            </a:r>
          </a:p>
          <a:p>
            <a:pPr>
              <a:defRPr sz="1400" b="0"/>
            </a:pPr>
            <a:r>
              <a:rPr lang="zh-CN" sz="1400" b="0">
                <a:latin typeface="微软雅黑"/>
                <a:ea typeface="微软雅黑"/>
              </a:rPr>
              <a:t>【边界哨兵值流程】图名为“采样后的数组布局与边界哨兵检查”，示意图按当前实现重绘。Canary 用中文称为边界哨兵值，相关内存区域称为边界哨兵区。流程概括为采样命中、保存或设置哨兵值、release 核对、不一致时报错并终止。实际实现保存的是数组地址与预期长度的映射，以检查头部长度；非8字节对齐数组将尾部 pad 的每个字节设置为 padSize，并在核对时检查是否仍等于 padSize。8字节对齐时没有尾部填充区。采样后尾部每个填充字节均应为 padSize，不能表述为始终应为0。不是随机生成固定8字节秘密值，也不是记录所有周边内存的快照。异常核对失败会输出日志并终止，而不是继续正常执行。来源：cangjie_repos/cangjie_runtime/runtime/src/Sanitizer/GwpAddressSanitizer/GwpAsanInterface.cpp，CheckCanary、ArrayAcquireMemoryRegion、ArrayReleaseMemoryRegion，2026-10-08核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1B9822-7A67-20C1-DD77-472FB97D6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1AF66B-8DFB-FBFD-8166-20D404661A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C25289-E736-7319-5767-9765D9D99D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400" b="1"/>
            </a:pPr>
            <a:r>
              <a:rPr lang="zh-CN" sz="1400" b="1">
                <a:latin typeface="微软雅黑"/>
                <a:ea typeface="微软雅黑"/>
              </a:rPr>
              <a:t>串场：CFI 重点保护执行过程中的指针完整性；对程序被静态分析和逆向的问题，代码混淆提供了另一类保护。</a:t>
            </a:r>
          </a:p>
          <a:p>
            <a:pPr>
              <a:defRPr sz="1400" b="0"/>
            </a:pPr>
            <a:r>
              <a:rPr lang="zh-CN" sz="1400" b="0">
                <a:latin typeface="微软雅黑"/>
                <a:ea typeface="微软雅黑"/>
              </a:rPr>
              <a:t>CFI 是控制流完整性。后向保护关注函数返回到哪里，前向保护关注间接调用跳到哪里。它们降低对应指针被篡改后的控制流劫持风险，不等于免疫所有攻击。</a:t>
            </a:r>
          </a:p>
          <a:p>
            <a:pPr>
              <a:defRPr sz="1400" b="0"/>
            </a:pPr>
            <a:r>
              <a:rPr lang="zh-CN" sz="1400" b="0">
                <a:latin typeface="微软雅黑"/>
                <a:ea typeface="微软雅黑"/>
              </a:rPr>
              <a:t>图中演示 PAC 返回地址保护，使用 A 密钥：进入函数时结合返回地址、上下文和密钥生成认证信息；保存后，在函数返回前取出并认证。传统认证机制失败时可使指针变为无效地址，后续使用时触发异常。pacia 和 autia 分别表示签名与认证，SP 提供上下文。</a:t>
            </a:r>
          </a:p>
          <a:p>
            <a:pPr>
              <a:defRPr sz="1400" b="0"/>
            </a:pPr>
            <a:r>
              <a:rPr lang="zh-CN" sz="1400" b="0">
                <a:latin typeface="微软雅黑"/>
                <a:ea typeface="微软雅黑"/>
              </a:rPr>
              <a:t>仓颉 OHOS ARM64 目标的后向 PAC 编译 pass 启用返回地址签名，未指定 B 时 LLVM 默认使用 A。部分 native C/C++ 构建另有 B 密钥配置，不能把它套到所有仓颉代码上。</a:t>
            </a:r>
          </a:p>
          <a:p>
            <a:pPr>
              <a:defRPr sz="1400" b="0"/>
            </a:pPr>
            <a:r>
              <a:rPr lang="zh-CN" sz="1400" b="0">
                <a:latin typeface="微软雅黑"/>
                <a:ea typeface="微软雅黑"/>
              </a:rPr>
              <a:t>前向 PAC 已确认用于 OpenHarmony ARM64 的跨语言调用桥接：原生代码调用仓颉，以及仓颉调用原生代码。目标指针签名、恢复后认证，再进行间接调用。不能从这个范围推断所有间接调用都已经受保护。</a:t>
            </a:r>
          </a:p>
          <a:p>
            <a:pPr>
              <a:defRPr sz="1400" b="0"/>
            </a:pPr>
            <a:r>
              <a:rPr lang="zh-CN" sz="1400" b="0">
                <a:latin typeface="微软雅黑"/>
                <a:ea typeface="微软雅黑"/>
              </a:rPr>
              <a:t>启用还依赖支持 PAC 的硬件及对应构建配置。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883363-BE15-9354-C7FC-A5911218DB68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2830978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400" b="1"/>
            </a:pPr>
            <a:r>
              <a:rPr lang="zh-CN" sz="1400" b="1" dirty="0">
                <a:latin typeface="微软雅黑"/>
                <a:ea typeface="微软雅黑"/>
              </a:rPr>
              <a:t>串场：这些安全能力已经在金融产品中有了落地实践，接下来看看科蓝 sMFA 的认证案例。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这一页讲代码混淆。左侧四项可以概括为外形、数据、控制流以及配置：替换符号、路径和行号，调整函数排布；将常量运算作等效改写，对字符串编码；加入虚假分支或将控制流平坦化。原理图中的名称和数值是示例，不代表真实算法输出。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右边只比较仓颉原生混淆和官方 ProGuard，不包含 R8、DexGuard、插件或第三方改造。绿色表示列出的功能或配置维度中仓颉有对应能力；红色是自定义名称字典配置的缺项，不是已经证明更容易逆向。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“无对应专用混淆功能”是指 ProGuard 没有相应专用安全混淆接口，常量折叠、方法内联等优化不等同于安全混淆。字符串编码也不应理解为密码学意义上的秘密保护。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名称字典让工具从用户提供的列表选名字；指定映射则明确要求某个名称替换成另一个名称。仓颉支持后者，当前公开选项没有前者。printseeds 是 ProGuard 的保留项报告，不是随机种子。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副标题沿用提供材料的“金融认证”表述；现有资料未提供机构、编号、受评版本与范围，正式汇报前需核实，不应外推为所有版本或全部能力通过认证。更高强度混淆还可能增加体积和执行开销。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参考资料：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cangjie_repos/cangjie_docs/docs/dev-guide/source_zh_cn/Appendix/compile_options.md：代码混淆选项及默认策略。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cangjie_repos/llvm-project/llvm/lib/Transforms/Obfuscator/LayoutObfuscator.cpp：generateUniqueName、reorderFunctions；DataObfuscator.cpp：字符串编码与解码；ControlFlowObfuscator.cpp：控制流变换。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ProGuard 官方功能说明：https://www.guardsquare.com/manual/home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ProGuard 官方配置手册：https://www.guardsquare.com/manual/configuration/usage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5699217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AB3A9-FC83-0657-004D-4F864892FF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FF0716-0A02-623B-C0B3-4AF73FFF0D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EA4FA77-4BC5-BA90-4D6C-FC62CDFB54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zh-CN" sz="1400" b="1" dirty="0">
                <a:latin typeface="微软雅黑"/>
                <a:ea typeface="微软雅黑"/>
              </a:rPr>
              <a:t>串场：看过金融产品中的认证实践，接下来再看第三方对仓颉多项安全能力的对比评测。</a:t>
            </a:r>
          </a:p>
          <a:p>
            <a:r>
              <a:rPr lang="zh-CN" altLang="zh-CN" sz="1400" b="0" dirty="0">
                <a:latin typeface="微软雅黑"/>
                <a:ea typeface="微软雅黑"/>
              </a:rPr>
              <a:t>前面介绍了代码混淆等能力，这一页展示它们在实际金融产品中的应用。科蓝采用仓颉与鸿蒙研发 sMFA，也就是增强型多因素身份认证组件，属于科蓝 SDK 的相关组件。</a:t>
            </a:r>
          </a:p>
          <a:p>
            <a:r>
              <a:rPr lang="zh-CN" altLang="zh-CN" sz="1400" b="0" dirty="0">
                <a:latin typeface="微软雅黑"/>
                <a:ea typeface="微软雅黑"/>
              </a:rPr>
              <a:t>2024 年 6 月，CFCA 公开报道该组件通过其安全评测，并获得北京国家金融科技认证中心的金融科技产品认证。评测机构和证书颁发机构需区分，不能说认证证书由 CFCA 颁发。报道明确称它是首个完成金融科技产品检测认证的鸿蒙原生应用。</a:t>
            </a:r>
          </a:p>
          <a:p>
            <a:r>
              <a:rPr lang="zh-CN" altLang="zh-CN" sz="1400" b="0" dirty="0">
                <a:latin typeface="微软雅黑"/>
                <a:ea typeface="微软雅黑"/>
              </a:rPr>
              <a:t>仓颉的代码混淆提高逆向分析成本，内存安全机制降低托管代码中的内存破坏风险。组件自身还使用 TEE 可信执行环境、设备证书与多因素认证。获证是产品整体安全能力的结果，不能全部归因于语言混淆。</a:t>
            </a:r>
          </a:p>
          <a:p>
            <a:r>
              <a:rPr lang="zh-CN" altLang="zh-CN" sz="1400" b="0" dirty="0">
                <a:latin typeface="微软雅黑"/>
                <a:ea typeface="微软雅黑"/>
              </a:rPr>
              <a:t>组件与接口防护的概括来自团队提供的汇报材料。公开报道未逐项说明组件导出与接口信息泄露防护，未给出获证耗时，也未证实同期 Android 和 iOS 未获证。因此本页未采用“免疫”“短期首次获证”或平台未获证的绝对说法。</a:t>
            </a:r>
          </a:p>
          <a:p>
            <a:r>
              <a:rPr lang="zh-CN" altLang="zh-CN" sz="1400" b="0" dirty="0">
                <a:latin typeface="微软雅黑"/>
                <a:ea typeface="微软雅黑"/>
              </a:rPr>
              <a:t>来源：https://www.cfca.com.cn/20240626/200000534.html</a:t>
            </a:r>
          </a:p>
          <a:p>
            <a:r>
              <a:rPr lang="zh-CN" altLang="zh-CN" sz="1400" b="0" dirty="0">
                <a:latin typeface="微软雅黑"/>
                <a:ea typeface="微软雅黑"/>
              </a:rPr>
              <a:t>图片：https://www.cfca.com.cn/upload/resources/image/2024/06/26/1836_700x20000.jpg</a:t>
            </a:r>
          </a:p>
          <a:p>
            <a:r>
              <a:rPr lang="zh-CN" altLang="zh-CN" sz="1400" b="0" dirty="0">
                <a:latin typeface="微软雅黑"/>
                <a:ea typeface="微软雅黑"/>
              </a:rPr>
              <a:t>新增图片：CFCA 金融科技产品认证检测报告与检测总体情况报告。https://www.cfca.com.cn/upload/resources/image/2024/06/26/1835_700x20000.jpg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7A7CC1-FDA5-3031-7E62-5941E8F6C57C}"/>
              </a:ext>
            </a:extLst>
          </p:cNvPr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579442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400" b="1"/>
            </a:pPr>
            <a:r>
              <a:rPr lang="zh-CN" sz="1400" b="1" dirty="0">
                <a:latin typeface="微软雅黑"/>
                <a:ea typeface="微软雅黑"/>
              </a:rPr>
              <a:t>串场：测试中的不少问题涉及库接口和依赖行为，因此安全看护还需要深入语言库这一层。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这一页沿用历史 SERMA 第三方评测，测试对象包括仓颉、Kotlin、Swift 和 Rust。上半部分是原用例的结果，下半部分是失败或部分通过用例的分析。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在原测试范围内，字符串编码、数值计算和部分混淆能力表现较好；同时原材料记录了 6 个用例失败、7 个部分通过。这里不能把历史结果当成各语言当前版本的整体排名，也不能把每个测试失败都直接称为可利用漏洞。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需要关注原测试版本、输入渠道、编译配置和用例预期。例如 MIN/MAX 的属性语义可能与用例期待不同，浮点窄化与整数溢出也不能按同一种规则判断。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下方部分建议属于历史状态：当前导出符号混淆已可配置，FFI 和 native 栈保护也有现行机制。不能只凭旧表声称这些能力现在仍然没有。具体是否解决原失败用例，需要在明确版本和配置下重新测试。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这一页用于说明评测发现如何成为改进输入，不宣布历史用例已全部复测通过。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400" b="1"/>
            </a:pPr>
            <a:r>
              <a:rPr lang="zh-CN" sz="1400" b="1" dirty="0">
                <a:latin typeface="微软雅黑"/>
                <a:ea typeface="微软雅黑"/>
              </a:rPr>
              <a:t>串场：这些风险需要持续发现和治理。仓颉团队把大模型用于存量扫描，并把经验带到每个新增 PR 的审查中。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这一页强调语言库是程序运行中的高风险关注环节。左图保留编码、编译、测试与运行的关系；库和运行时直接参与执行，库中的问题可能沿调用和依赖链影响业务。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左下的“语言库&gt;运行时&gt;编译器&gt;工具链&gt;Spec”是本次汇报的风险关注排序，不是经过统一量化评估的通用风险排名。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右上解释原因：语言库调用频繁、输入复杂，还可能连接多层依赖。右下五类风险是标准库、扩展库和第三方依赖中需要关注的典型场景，不是在宣布仓颉已发现这些漏洞。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第一，解析与反序列化需要约束不可信数据与对象构造；普通 JSON 解析不直接等同于任意对象反序列化。第二，限制输入规模、嵌套深度与解压膨胀，避免资源耗尽。第三，托管语言的内存安全不能自动修复 C/C++ 依赖中的越界或释放后使用。第四，TLS 和密码接口还需要正确验证证书、使用安全随机源和管理密钥。第五，文件路径、解压目标目录和网络请求目的地址需要限制在预期范围。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参考资料：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OWASP Software Supply Chain Failures：https://top10.owasp.org/2025/A03_2025-Software_Supply_Chain_Failures/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OWASP Denial of Service：https://cheatsheetseries.owasp.org/cheatsheets/Denial_of_Service_Cheat_Sheet.html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OWASP Deserialization：https://cheatsheetseries.owasp.org/cheatsheets/Deserialization_Cheat_Sheet.html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OWASP Input Validation：https://cheatsheetseries.owasp.org/cheatsheets/Input_Validation_Cheat_Sheet.html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OWASP Cryptographic Failures：https://top10.owasp.org/2021/A02_2021-Cryptographic_Failures/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OWASP Secure Code Review：https://cheatsheetseries.owasp.org/cheatsheets/Secure_Code_Review_Cheat_Sheet.html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OWASP SSRF Prevention：https://cheatsheetseries.owasp.org/cheatsheets/Server_Side_Request_Forgery_Prevention_Cheat_Sheet.html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仓颉 FFI 边界参考：cangjie_repos/cangjie_docs/docs/dev-guide/source_zh_cn/FFI/cangjie-c.md。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400" b="1"/>
            </a:pPr>
            <a:r>
              <a:rPr lang="zh-CN" sz="1400" b="1" dirty="0">
                <a:latin typeface="微软雅黑"/>
                <a:ea typeface="微软雅黑"/>
              </a:rPr>
              <a:t>串场：语言机制、工具防护和持续看护需要一起发挥作用。我的分享先到这里，接下来欢迎大家交流。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这一页介绍仓颉团队的大模型辅助安全看护。SOTA 指当前领先水平的模型；白盒扫描是结合源代码和上下文寻找安全问题。今天不展开具体厂商和模型版本。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从左到右看三步。第一，对存量代码仓使用国外 SOTA 模型进行扫描，重点关注语言库，发现问题后修复并加固。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第二，复盘历史白盒扫描结果，归纳仓颉漏洞模式库，再形成专属挖洞 Skills。这里的 Skills 是指导模型进行安全分析的任务说明、检查要点和经验方法，让历史发现能复用。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第三，团队研发 PR 门禁级白盒扫描机器人 secbot，每个新增 PR 都触发扫描任务，调用专属 Skills 识别风险。PR 是代码合入前的变更请求。</a:t>
            </a:r>
          </a:p>
          <a:p>
            <a:pPr>
              <a:defRPr sz="1400" b="0"/>
            </a:pPr>
            <a:r>
              <a:rPr lang="zh-CN" sz="1400" b="0" dirty="0">
                <a:latin typeface="微软雅黑"/>
                <a:ea typeface="微软雅黑"/>
              </a:rPr>
              <a:t>这里说明安全扫描已进入 PR 审查流程，不额外承诺所有问题都会被发现、所有告警都会自动阻断，或机器人能够自动修复和批准合入。三栏的核心关系是把存量发现转化为后续扫描经验。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400" b="0"/>
            </a:pPr>
            <a:endParaRPr lang="zh-CN" sz="1400" b="1" dirty="0">
              <a:latin typeface="微软雅黑"/>
              <a:ea typeface="微软雅黑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4230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62444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53222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99299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DB396C5-89CD-9B42-B4EE-53A9D47B098F}" type="datetimeFigureOut">
              <a:rPr kumimoji="1" lang="zh-CN" altLang="en-US" smtClean="0"/>
              <a:t>2026/10/8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1412462-3951-534C-B2EB-31A3E742C10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641979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DB396C5-89CD-9B42-B4EE-53A9D47B098F}" type="datetimeFigureOut">
              <a:rPr kumimoji="1" lang="zh-CN" altLang="en-US" smtClean="0"/>
              <a:t>2026/10/8</a:t>
            </a:fld>
            <a:endParaRPr kumimoji="1"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kumimoji="1" lang="zh-CN" altLang="en-US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1412462-3951-534C-B2EB-31A3E742C104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898517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4171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6" r:id="rId2"/>
    <p:sldLayoutId id="2147483659" r:id="rId3"/>
    <p:sldLayoutId id="2147483658" r:id="rId4"/>
    <p:sldLayoutId id="2147483657" r:id="rId5"/>
    <p:sldLayoutId id="2147483650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fca.com.cn/20240626/200000534.html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4_s1_id2">
            <a:extLst>
              <a:ext uri="{FF2B5EF4-FFF2-40B4-BE49-F238E27FC236}">
                <a16:creationId xmlns:a16="http://schemas.microsoft.com/office/drawing/2014/main" id="{5BFBB337-4DA7-4097-9230-BA1003605E51}"/>
              </a:ext>
            </a:extLst>
          </p:cNvPr>
          <p:cNvSpPr txBox="1"/>
          <p:nvPr/>
        </p:nvSpPr>
        <p:spPr>
          <a:xfrm>
            <a:off x="838200" y="2809875"/>
            <a:ext cx="6905625" cy="1428750"/>
          </a:xfrm>
          <a:prstGeom prst="rect">
            <a:avLst/>
          </a:prstGeom>
          <a:noFill/>
        </p:spPr>
        <p:txBody>
          <a:bodyPr lIns="0" tIns="0" rIns="0" bIns="0" anchor="t">
            <a:noAutofit/>
          </a:bodyPr>
          <a:lstStyle/>
          <a:p>
            <a:pPr algn="l">
              <a:defRPr sz="33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3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以仓颉原生安全能力为基，</a:t>
            </a:r>
            <a:endParaRPr sz="4800" b="1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algn="l">
              <a:defRPr sz="33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3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筑牢关基行业应用安全防线</a:t>
            </a:r>
            <a:endParaRPr sz="4800" b="1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" name="v4_s1_id3">
            <a:extLst>
              <a:ext uri="{FF2B5EF4-FFF2-40B4-BE49-F238E27FC236}">
                <a16:creationId xmlns:a16="http://schemas.microsoft.com/office/drawing/2014/main" id="{CEFC9F5C-A5D4-4D13-B164-8CD1D088364A}"/>
              </a:ext>
            </a:extLst>
          </p:cNvPr>
          <p:cNvSpPr txBox="1"/>
          <p:nvPr/>
        </p:nvSpPr>
        <p:spPr>
          <a:xfrm>
            <a:off x="847725" y="4219575"/>
            <a:ext cx="6477000" cy="304800"/>
          </a:xfrm>
          <a:prstGeom prst="rect">
            <a:avLst/>
          </a:prstGeom>
          <a:noFill/>
        </p:spPr>
        <p:txBody>
          <a:bodyPr lIns="0" tIns="0" rIns="0" bIns="0" anchor="t">
            <a:noAutofit/>
          </a:bodyPr>
          <a:lstStyle/>
          <a:p>
            <a:pPr algn="l"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主讲人：虞嘉豪  仓颉语言社区安全团队</a:t>
            </a:r>
            <a:endParaRPr sz="3200" b="1">
              <a:latin typeface="微软雅黑 Light"/>
              <a:ea typeface="微软雅黑 Light"/>
              <a:cs typeface="微软雅黑 Light"/>
            </a:endParaRPr>
          </a:p>
        </p:txBody>
      </p:sp>
      <p:sp>
        <p:nvSpPr>
          <p:cNvPr id="4" name="v4_s1_id4">
            <a:extLst>
              <a:ext uri="{FF2B5EF4-FFF2-40B4-BE49-F238E27FC236}">
                <a16:creationId xmlns:a16="http://schemas.microsoft.com/office/drawing/2014/main" id="{6A54F8BF-753F-4421-AB3E-AE22A11120FB}"/>
              </a:ext>
            </a:extLst>
          </p:cNvPr>
          <p:cNvSpPr txBox="1"/>
          <p:nvPr/>
        </p:nvSpPr>
        <p:spPr>
          <a:xfrm>
            <a:off x="678226" y="5068147"/>
            <a:ext cx="2800101" cy="430887"/>
          </a:xfrm>
          <a:prstGeom prst="rect">
            <a:avLst/>
          </a:prstGeom>
          <a:noFill/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01 </a:t>
            </a:r>
            <a:r>
              <a:rPr sz="1650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语言与开发安全</a:t>
            </a:r>
            <a:endParaRPr sz="1650" b="0" dirty="0">
              <a:solidFill>
                <a:srgbClr val="11111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" name="v4_s1_id5">
            <a:extLst>
              <a:ext uri="{FF2B5EF4-FFF2-40B4-BE49-F238E27FC236}">
                <a16:creationId xmlns:a16="http://schemas.microsoft.com/office/drawing/2014/main" id="{791DBA46-611A-4973-8AF1-A6CDDEA1F945}"/>
              </a:ext>
            </a:extLst>
          </p:cNvPr>
          <p:cNvSpPr txBox="1"/>
          <p:nvPr/>
        </p:nvSpPr>
        <p:spPr>
          <a:xfrm>
            <a:off x="3573934" y="5068147"/>
            <a:ext cx="2800101" cy="430887"/>
          </a:xfrm>
          <a:prstGeom prst="rect">
            <a:avLst/>
          </a:prstGeom>
          <a:noFill/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02 内存、CFI 与混淆</a:t>
            </a:r>
          </a:p>
        </p:txBody>
      </p:sp>
      <p:sp>
        <p:nvSpPr>
          <p:cNvPr id="6" name="v4_s1_id6">
            <a:extLst>
              <a:ext uri="{FF2B5EF4-FFF2-40B4-BE49-F238E27FC236}">
                <a16:creationId xmlns:a16="http://schemas.microsoft.com/office/drawing/2014/main" id="{0557F3A3-FF39-4DAD-9A6D-DAEE42716B77}"/>
              </a:ext>
            </a:extLst>
          </p:cNvPr>
          <p:cNvSpPr txBox="1"/>
          <p:nvPr/>
        </p:nvSpPr>
        <p:spPr>
          <a:xfrm>
            <a:off x="685733" y="5728917"/>
            <a:ext cx="2800101" cy="430887"/>
          </a:xfrm>
          <a:prstGeom prst="rect">
            <a:avLst/>
          </a:prstGeom>
          <a:noFill/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03 </a:t>
            </a:r>
            <a:r>
              <a:rPr lang="zh-CN" altLang="en-US" sz="1650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安全风险</a:t>
            </a:r>
            <a:r>
              <a:rPr sz="1650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评估</a:t>
            </a:r>
            <a:endParaRPr sz="1650" b="0" dirty="0">
              <a:solidFill>
                <a:srgbClr val="11111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v4_s1_id7">
            <a:extLst>
              <a:ext uri="{FF2B5EF4-FFF2-40B4-BE49-F238E27FC236}">
                <a16:creationId xmlns:a16="http://schemas.microsoft.com/office/drawing/2014/main" id="{A6DE14A0-6868-4EEF-B43D-62B5673F4DDA}"/>
              </a:ext>
            </a:extLst>
          </p:cNvPr>
          <p:cNvSpPr txBox="1"/>
          <p:nvPr/>
        </p:nvSpPr>
        <p:spPr>
          <a:xfrm>
            <a:off x="3573934" y="5735331"/>
            <a:ext cx="2800101" cy="430887"/>
          </a:xfrm>
          <a:prstGeom prst="rect">
            <a:avLst/>
          </a:prstGeom>
          <a:noFill/>
        </p:spPr>
        <p:txBody>
          <a:bodyPr lIns="0" tIns="0" rIns="0" bIns="0" anchor="t">
            <a:noAutofit/>
          </a:bodyPr>
          <a:lstStyle/>
          <a:p>
            <a:pPr algn="l">
              <a:defRPr sz="16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04 </a:t>
            </a:r>
            <a:r>
              <a:rPr lang="en-US" sz="1650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AI</a:t>
            </a:r>
            <a:r>
              <a:rPr sz="1650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大模型持续看护</a:t>
            </a:r>
            <a:endParaRPr sz="1650" b="0" dirty="0">
              <a:solidFill>
                <a:srgbClr val="111111"/>
              </a:solidFill>
              <a:latin typeface="微软雅黑"/>
              <a:ea typeface="微软雅黑"/>
              <a:cs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3172943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v4_s2_id18">
            <a:extLst>
              <a:ext uri="{FF2B5EF4-FFF2-40B4-BE49-F238E27FC236}">
                <a16:creationId xmlns:a16="http://schemas.microsoft.com/office/drawing/2014/main" id="{376123D8-3012-4574-B997-68841EB15CFF}"/>
              </a:ext>
            </a:extLst>
          </p:cNvPr>
          <p:cNvSpPr txBox="1"/>
          <p:nvPr/>
        </p:nvSpPr>
        <p:spPr>
          <a:xfrm>
            <a:off x="710832" y="2766148"/>
            <a:ext cx="227874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>
                <a:solidFill>
                  <a:srgbClr val="000000"/>
                </a:solidFill>
              </a:defRPr>
            </a:pPr>
            <a:r>
              <a:rPr kumimoji="1" lang="zh-CN" altLang="en-US" sz="66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43" name="v4_s2_id43">
            <a:extLst>
              <a:ext uri="{FF2B5EF4-FFF2-40B4-BE49-F238E27FC236}">
                <a16:creationId xmlns:a16="http://schemas.microsoft.com/office/drawing/2014/main" id="{8ED917C8-48E6-4140-B29F-8FA3DAEF34B8}"/>
              </a:ext>
            </a:extLst>
          </p:cNvPr>
          <p:cNvSpPr/>
          <p:nvPr/>
        </p:nvSpPr>
        <p:spPr>
          <a:xfrm>
            <a:off x="3515614" y="3543734"/>
            <a:ext cx="3279822" cy="84548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3、跨语言内存检测</a:t>
            </a:r>
          </a:p>
        </p:txBody>
      </p:sp>
      <p:sp>
        <p:nvSpPr>
          <p:cNvPr id="44" name="v4_s2_id44">
            <a:extLst>
              <a:ext uri="{FF2B5EF4-FFF2-40B4-BE49-F238E27FC236}">
                <a16:creationId xmlns:a16="http://schemas.microsoft.com/office/drawing/2014/main" id="{5DF319F4-5526-44FE-B7F6-2DF1B885F9AA}"/>
              </a:ext>
            </a:extLst>
          </p:cNvPr>
          <p:cNvSpPr/>
          <p:nvPr/>
        </p:nvSpPr>
        <p:spPr>
          <a:xfrm>
            <a:off x="3515143" y="4695270"/>
            <a:ext cx="3279822" cy="84548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4、控制流完整性（CFI）</a:t>
            </a:r>
          </a:p>
        </p:txBody>
      </p:sp>
      <p:sp>
        <p:nvSpPr>
          <p:cNvPr id="47" name="v4_s2_id47">
            <a:extLst>
              <a:ext uri="{FF2B5EF4-FFF2-40B4-BE49-F238E27FC236}">
                <a16:creationId xmlns:a16="http://schemas.microsoft.com/office/drawing/2014/main" id="{17EE9EE2-7D25-40B7-AF88-0B0A96D1C6A8}"/>
              </a:ext>
            </a:extLst>
          </p:cNvPr>
          <p:cNvSpPr/>
          <p:nvPr/>
        </p:nvSpPr>
        <p:spPr>
          <a:xfrm>
            <a:off x="7327219" y="2382937"/>
            <a:ext cx="3279822" cy="84548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6、第三方安全评估</a:t>
            </a:r>
          </a:p>
        </p:txBody>
      </p:sp>
      <p:sp>
        <p:nvSpPr>
          <p:cNvPr id="48" name="v4_s2_id48">
            <a:extLst>
              <a:ext uri="{FF2B5EF4-FFF2-40B4-BE49-F238E27FC236}">
                <a16:creationId xmlns:a16="http://schemas.microsoft.com/office/drawing/2014/main" id="{AE198301-E221-4D21-92DC-185EDF5FCA94}"/>
              </a:ext>
            </a:extLst>
          </p:cNvPr>
          <p:cNvSpPr/>
          <p:nvPr/>
        </p:nvSpPr>
        <p:spPr>
          <a:xfrm>
            <a:off x="7327219" y="3543733"/>
            <a:ext cx="3279822" cy="84548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7、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仓颉</a:t>
            </a:r>
            <a:r>
              <a:rPr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安全风险</a:t>
            </a:r>
          </a:p>
        </p:txBody>
      </p:sp>
      <p:sp>
        <p:nvSpPr>
          <p:cNvPr id="49" name="v4_s2_id49">
            <a:extLst>
              <a:ext uri="{FF2B5EF4-FFF2-40B4-BE49-F238E27FC236}">
                <a16:creationId xmlns:a16="http://schemas.microsoft.com/office/drawing/2014/main" id="{1A073ED7-4E7A-483A-9734-9A6DF5C66AFE}"/>
              </a:ext>
            </a:extLst>
          </p:cNvPr>
          <p:cNvSpPr/>
          <p:nvPr/>
        </p:nvSpPr>
        <p:spPr>
          <a:xfrm>
            <a:off x="7326748" y="4695269"/>
            <a:ext cx="3279822" cy="84548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8、</a:t>
            </a:r>
            <a:r>
              <a:rPr 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大模型辅助安全看护</a:t>
            </a:r>
          </a:p>
        </p:txBody>
      </p:sp>
      <p:sp>
        <p:nvSpPr>
          <p:cNvPr id="50" name="v4_s2_id50">
            <a:extLst>
              <a:ext uri="{FF2B5EF4-FFF2-40B4-BE49-F238E27FC236}">
                <a16:creationId xmlns:a16="http://schemas.microsoft.com/office/drawing/2014/main" id="{0B2BE583-A301-4FC4-BF84-8C54E13A928F}"/>
              </a:ext>
            </a:extLst>
          </p:cNvPr>
          <p:cNvSpPr/>
          <p:nvPr/>
        </p:nvSpPr>
        <p:spPr>
          <a:xfrm>
            <a:off x="7327219" y="1210760"/>
            <a:ext cx="3279822" cy="84548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b="1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5、代码混淆与逆向防护</a:t>
            </a:r>
          </a:p>
        </p:txBody>
      </p:sp>
      <p:sp>
        <p:nvSpPr>
          <p:cNvPr id="11" name="v4_s2_id11">
            <a:extLst>
              <a:ext uri="{FF2B5EF4-FFF2-40B4-BE49-F238E27FC236}">
                <a16:creationId xmlns:a16="http://schemas.microsoft.com/office/drawing/2014/main" id="{23A41832-B4C4-4CB5-B5B7-8B0B54ED23CA}"/>
              </a:ext>
            </a:extLst>
          </p:cNvPr>
          <p:cNvSpPr/>
          <p:nvPr/>
        </p:nvSpPr>
        <p:spPr>
          <a:xfrm>
            <a:off x="3515614" y="2382937"/>
            <a:ext cx="3279822" cy="84548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2、开发者安全能力</a:t>
            </a:r>
          </a:p>
        </p:txBody>
      </p:sp>
      <p:sp>
        <p:nvSpPr>
          <p:cNvPr id="12" name="v4_s2_id12">
            <a:extLst>
              <a:ext uri="{FF2B5EF4-FFF2-40B4-BE49-F238E27FC236}">
                <a16:creationId xmlns:a16="http://schemas.microsoft.com/office/drawing/2014/main" id="{9A32AD2E-E0C4-466C-AD10-A6EBC327068A}"/>
              </a:ext>
            </a:extLst>
          </p:cNvPr>
          <p:cNvSpPr/>
          <p:nvPr/>
        </p:nvSpPr>
        <p:spPr>
          <a:xfrm>
            <a:off x="3515614" y="1210760"/>
            <a:ext cx="3279822" cy="845487"/>
          </a:xfrm>
          <a:prstGeom prst="roundRect">
            <a:avLst/>
          </a:prstGeom>
          <a:gradFill>
            <a:gsLst>
              <a:gs pos="0">
                <a:srgbClr val="8F95FC"/>
              </a:gs>
              <a:gs pos="100000">
                <a:srgbClr val="70CBE6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1、仓颉语言安全基础</a:t>
            </a:r>
          </a:p>
        </p:txBody>
      </p:sp>
    </p:spTree>
    <p:extLst>
      <p:ext uri="{BB962C8B-B14F-4D97-AF65-F5344CB8AC3E}">
        <p14:creationId xmlns:p14="http://schemas.microsoft.com/office/powerpoint/2010/main" val="6577755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4_s3_id2">
            <a:extLst>
              <a:ext uri="{FF2B5EF4-FFF2-40B4-BE49-F238E27FC236}">
                <a16:creationId xmlns:a16="http://schemas.microsoft.com/office/drawing/2014/main" id="{9378F163-11E3-4CE5-BF1B-745030EFC73A}"/>
              </a:ext>
            </a:extLst>
          </p:cNvPr>
          <p:cNvSpPr txBox="1">
            <a:spLocks/>
          </p:cNvSpPr>
          <p:nvPr/>
        </p:nvSpPr>
        <p:spPr bwMode="auto">
          <a:xfrm>
            <a:off x="361950" y="228600"/>
            <a:ext cx="11430000" cy="5715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0" tIns="0" rIns="0" bIns="0" anchor="t">
            <a:noAutofit/>
          </a:bodyPr>
          <a:lstStyle>
            <a:lvl1pPr marL="0" indent="0" algn="l" defTabSz="1067805">
              <a:spcBef>
                <a:spcPct val="0"/>
              </a:spcBef>
              <a:spcAft>
                <a:spcPct val="0"/>
              </a:spcAft>
              <a:buFont typeface="Arial"/>
              <a:buNone/>
              <a:defRPr sz="2798" b="1" baseline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spcBef>
                <a:spcPct val="0"/>
              </a:spcBef>
              <a:spcAft>
                <a:spcPct val="0"/>
              </a:spcAft>
              <a:buNone/>
              <a:defRPr sz="3047" b="1">
                <a:solidFill>
                  <a:srgbClr val="000000"/>
                </a:solidFill>
                <a:latin typeface="黑体"/>
                <a:ea typeface="黑体"/>
                <a:cs typeface="黑体"/>
              </a:defRPr>
            </a:lvl2pPr>
            <a:lvl3pPr algn="l">
              <a:spcBef>
                <a:spcPct val="0"/>
              </a:spcBef>
              <a:spcAft>
                <a:spcPct val="0"/>
              </a:spcAft>
              <a:buNone/>
              <a:defRPr sz="3047" b="1">
                <a:solidFill>
                  <a:srgbClr val="000000"/>
                </a:solidFill>
                <a:latin typeface="黑体"/>
                <a:ea typeface="黑体"/>
                <a:cs typeface="黑体"/>
              </a:defRPr>
            </a:lvl3pPr>
            <a:lvl4pPr algn="l">
              <a:spcBef>
                <a:spcPct val="0"/>
              </a:spcBef>
              <a:spcAft>
                <a:spcPct val="0"/>
              </a:spcAft>
              <a:buNone/>
              <a:defRPr sz="3047" b="1">
                <a:solidFill>
                  <a:srgbClr val="000000"/>
                </a:solidFill>
                <a:latin typeface="黑体"/>
                <a:ea typeface="黑体"/>
                <a:cs typeface="黑体"/>
              </a:defRPr>
            </a:lvl4pPr>
            <a:lvl5pPr algn="l">
              <a:spcBef>
                <a:spcPct val="0"/>
              </a:spcBef>
              <a:spcAft>
                <a:spcPct val="0"/>
              </a:spcAft>
              <a:buNone/>
              <a:defRPr sz="3047" b="1">
                <a:solidFill>
                  <a:srgbClr val="000000"/>
                </a:solidFill>
                <a:latin typeface="黑体"/>
                <a:ea typeface="黑体"/>
                <a:cs typeface="黑体"/>
              </a:defRPr>
            </a:lvl5pPr>
            <a:lvl6pPr marL="435354" algn="l">
              <a:spcBef>
                <a:spcPct val="0"/>
              </a:spcBef>
              <a:spcAft>
                <a:spcPct val="0"/>
              </a:spcAft>
              <a:buNone/>
              <a:defRPr sz="3047" b="1">
                <a:solidFill>
                  <a:srgbClr val="000000"/>
                </a:solidFill>
                <a:latin typeface="FrutigerNext LT Medium"/>
                <a:ea typeface="FrutigerNext LT Medium"/>
                <a:cs typeface="FrutigerNext LT Medium"/>
              </a:defRPr>
            </a:lvl6pPr>
            <a:lvl7pPr marL="870709" algn="l">
              <a:spcBef>
                <a:spcPct val="0"/>
              </a:spcBef>
              <a:spcAft>
                <a:spcPct val="0"/>
              </a:spcAft>
              <a:buNone/>
              <a:defRPr sz="3047" b="1">
                <a:solidFill>
                  <a:srgbClr val="000000"/>
                </a:solidFill>
                <a:latin typeface="FrutigerNext LT Medium"/>
                <a:ea typeface="FrutigerNext LT Medium"/>
                <a:cs typeface="FrutigerNext LT Medium"/>
              </a:defRPr>
            </a:lvl7pPr>
            <a:lvl8pPr marL="1306063" algn="l">
              <a:spcBef>
                <a:spcPct val="0"/>
              </a:spcBef>
              <a:spcAft>
                <a:spcPct val="0"/>
              </a:spcAft>
              <a:buNone/>
              <a:defRPr sz="3047" b="1">
                <a:solidFill>
                  <a:srgbClr val="000000"/>
                </a:solidFill>
                <a:latin typeface="FrutigerNext LT Medium"/>
                <a:ea typeface="FrutigerNext LT Medium"/>
                <a:cs typeface="FrutigerNext LT Medium"/>
              </a:defRPr>
            </a:lvl8pPr>
            <a:lvl9pPr marL="1741418" algn="l">
              <a:spcBef>
                <a:spcPct val="0"/>
              </a:spcBef>
              <a:spcAft>
                <a:spcPct val="0"/>
              </a:spcAft>
              <a:buNone/>
              <a:defRPr sz="3047" b="1">
                <a:solidFill>
                  <a:srgbClr val="000000"/>
                </a:solidFill>
                <a:latin typeface="FrutigerNext LT Medium"/>
                <a:ea typeface="FrutigerNext LT Medium"/>
                <a:cs typeface="FrutigerNext LT Medium"/>
              </a:defRPr>
            </a:lvl9pPr>
          </a:lstStyle>
          <a:p>
            <a:pPr marL="0" marR="0" lvl="0" indent="0" algn="l" defTabSz="1218468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None/>
              <a:defRPr sz="255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仓颉：面向全场景智能的新一代应用编程语言</a:t>
            </a:r>
            <a:endParaRPr sz="2400" b="1" i="0" u="none" kern="1200" cap="none" spc="0" baseline="0">
              <a:ln>
                <a:noFill/>
              </a:ln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grpSp>
        <p:nvGrpSpPr>
          <p:cNvPr id="3" name="Group 132">
            <a:extLst>
              <a:ext uri="{FF2B5EF4-FFF2-40B4-BE49-F238E27FC236}">
                <a16:creationId xmlns:a16="http://schemas.microsoft.com/office/drawing/2014/main" id="{7C406093-F696-41D9-B6F4-7D4FE7CEF854}"/>
              </a:ext>
            </a:extLst>
          </p:cNvPr>
          <p:cNvGrpSpPr/>
          <p:nvPr/>
        </p:nvGrpSpPr>
        <p:grpSpPr>
          <a:xfrm>
            <a:off x="375308" y="1594723"/>
            <a:ext cx="5836425" cy="4165355"/>
            <a:chOff x="5943600" y="1561853"/>
            <a:chExt cx="12020550" cy="7362678"/>
          </a:xfrm>
        </p:grpSpPr>
        <p:grpSp>
          <p:nvGrpSpPr>
            <p:cNvPr id="4" name="组合 10">
              <a:extLst>
                <a:ext uri="{FF2B5EF4-FFF2-40B4-BE49-F238E27FC236}">
                  <a16:creationId xmlns:a16="http://schemas.microsoft.com/office/drawing/2014/main" id="{70FF358B-4CAA-4580-9668-192E3BDCE140}"/>
                </a:ext>
              </a:extLst>
            </p:cNvPr>
            <p:cNvGrpSpPr/>
            <p:nvPr/>
          </p:nvGrpSpPr>
          <p:grpSpPr>
            <a:xfrm>
              <a:off x="5943600" y="1561853"/>
              <a:ext cx="11210291" cy="7362678"/>
              <a:chOff x="279633" y="1513587"/>
              <a:chExt cx="7777145" cy="5206235"/>
            </a:xfrm>
          </p:grpSpPr>
          <p:grpSp>
            <p:nvGrpSpPr>
              <p:cNvPr id="20" name="组合 14">
                <a:extLst>
                  <a:ext uri="{FF2B5EF4-FFF2-40B4-BE49-F238E27FC236}">
                    <a16:creationId xmlns:a16="http://schemas.microsoft.com/office/drawing/2014/main" id="{AFC39933-AD50-4BF9-A638-F143C117CD31}"/>
                  </a:ext>
                </a:extLst>
              </p:cNvPr>
              <p:cNvGrpSpPr/>
              <p:nvPr/>
            </p:nvGrpSpPr>
            <p:grpSpPr>
              <a:xfrm>
                <a:off x="927705" y="2214164"/>
                <a:ext cx="3528389" cy="3312369"/>
                <a:chOff x="7680176" y="2132856"/>
                <a:chExt cx="3528392" cy="3312368"/>
              </a:xfrm>
            </p:grpSpPr>
            <p:cxnSp>
              <p:nvCxnSpPr>
                <p:cNvPr id="58" name="直接箭头连接符 52">
                  <a:extLst>
                    <a:ext uri="{FF2B5EF4-FFF2-40B4-BE49-F238E27FC236}">
                      <a16:creationId xmlns:a16="http://schemas.microsoft.com/office/drawing/2014/main" id="{3F6DCEC8-4908-4CFE-A209-0192D6CA3898}"/>
                    </a:ext>
                  </a:extLst>
                </p:cNvPr>
                <p:cNvCxnSpPr/>
                <p:nvPr/>
              </p:nvCxnSpPr>
              <p:spPr bwMode="auto">
                <a:xfrm>
                  <a:off x="7680176" y="5445224"/>
                  <a:ext cx="3528392" cy="0"/>
                </a:xfrm>
                <a:prstGeom prst="straightConnector1">
                  <a:avLst/>
                </a:prstGeom>
                <a:noFill/>
                <a:ln w="25400" cap="flat" cmpd="sng" algn="ctr">
                  <a:solidFill>
                    <a:srgbClr val="1D1D1A"/>
                  </a:solidFill>
                  <a:prstDash val="solid"/>
                  <a:round/>
                  <a:headEnd type="none" w="med" len="med"/>
                  <a:tailEnd type="triangle"/>
                </a:ln>
                <a:effectLst/>
              </p:spPr>
            </p:cxnSp>
            <p:cxnSp>
              <p:nvCxnSpPr>
                <p:cNvPr id="59" name="直接箭头连接符 53">
                  <a:extLst>
                    <a:ext uri="{FF2B5EF4-FFF2-40B4-BE49-F238E27FC236}">
                      <a16:creationId xmlns:a16="http://schemas.microsoft.com/office/drawing/2014/main" id="{1605F82C-BF79-4565-A0D3-DA7570522A40}"/>
                    </a:ext>
                  </a:extLst>
                </p:cNvPr>
                <p:cNvCxnSpPr/>
                <p:nvPr/>
              </p:nvCxnSpPr>
              <p:spPr bwMode="auto">
                <a:xfrm flipV="1">
                  <a:off x="7680176" y="2132856"/>
                  <a:ext cx="0" cy="3312368"/>
                </a:xfrm>
                <a:prstGeom prst="straightConnector1">
                  <a:avLst/>
                </a:prstGeom>
                <a:noFill/>
                <a:ln w="25400" cap="flat" cmpd="sng" algn="ctr">
                  <a:solidFill>
                    <a:srgbClr val="1D1D1A"/>
                  </a:solidFill>
                  <a:prstDash val="solid"/>
                  <a:round/>
                  <a:headEnd type="none" w="med" len="med"/>
                  <a:tailEnd type="triangle"/>
                </a:ln>
                <a:effectLst/>
              </p:spPr>
            </p:cxnSp>
          </p:grpSp>
          <p:sp>
            <p:nvSpPr>
              <p:cNvPr id="21" name="v4_s3_id21">
                <a:extLst>
                  <a:ext uri="{FF2B5EF4-FFF2-40B4-BE49-F238E27FC236}">
                    <a16:creationId xmlns:a16="http://schemas.microsoft.com/office/drawing/2014/main" id="{32697C6C-4D86-418E-A284-5ED7D05A58CD}"/>
                  </a:ext>
                </a:extLst>
              </p:cNvPr>
              <p:cNvSpPr txBox="1"/>
              <p:nvPr/>
            </p:nvSpPr>
            <p:spPr>
              <a:xfrm>
                <a:off x="279633" y="2270180"/>
                <a:ext cx="648073" cy="5385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14400">
                  <a:defRPr/>
                </a:pPr>
                <a:r>
                  <a:rPr lang="zh-CN" altLang="en-US" sz="1100" b="1" dirty="0">
                    <a:solidFill>
                      <a:srgbClr val="1D1D1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开发效率</a:t>
                </a:r>
                <a:endParaRPr lang="zh-CN" altLang="en-US" sz="1100" b="1" dirty="0">
                  <a:solidFill>
                    <a:srgbClr val="C0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2" name="v4_s3_id22">
                <a:extLst>
                  <a:ext uri="{FF2B5EF4-FFF2-40B4-BE49-F238E27FC236}">
                    <a16:creationId xmlns:a16="http://schemas.microsoft.com/office/drawing/2014/main" id="{E8A087F8-9F6B-46B2-B720-3B33A4501A25}"/>
                  </a:ext>
                </a:extLst>
              </p:cNvPr>
              <p:cNvSpPr/>
              <p:nvPr/>
            </p:nvSpPr>
            <p:spPr bwMode="auto">
              <a:xfrm>
                <a:off x="3880030" y="4886427"/>
                <a:ext cx="144016" cy="144016"/>
              </a:xfrm>
              <a:prstGeom prst="ellipse">
                <a:avLst/>
              </a:prstGeom>
              <a:solidFill>
                <a:srgbClr val="FF0000"/>
              </a:solidFill>
              <a:ln w="12700" cap="flat" cmpd="sng" algn="ctr">
                <a:solidFill>
                  <a:srgbClr val="1D1D1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389" tIns="45694" rIns="91389" bIns="45694" numCol="1" spcCol="0" rtlCol="0" fromWordArt="0" anchor="ctr" anchorCtr="0" forceAA="0" compatLnSpc="1">
                <a:noAutofit/>
              </a:bodyPr>
              <a:lstStyle/>
              <a:p>
                <a:pPr algn="ctr" defTabSz="877570" eaLnBrk="0" hangingPunct="0">
                  <a:defRPr/>
                </a:pPr>
                <a:endParaRPr lang="zh-CN" altLang="en-US" sz="1100" kern="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3" name="v4_s3_id23">
                <a:extLst>
                  <a:ext uri="{FF2B5EF4-FFF2-40B4-BE49-F238E27FC236}">
                    <a16:creationId xmlns:a16="http://schemas.microsoft.com/office/drawing/2014/main" id="{71606AE7-12EE-4694-B6C0-52721D8EFB4E}"/>
                  </a:ext>
                </a:extLst>
              </p:cNvPr>
              <p:cNvSpPr/>
              <p:nvPr/>
            </p:nvSpPr>
            <p:spPr bwMode="auto">
              <a:xfrm>
                <a:off x="3651564" y="4070669"/>
                <a:ext cx="154684" cy="154684"/>
              </a:xfrm>
              <a:prstGeom prst="ellipse">
                <a:avLst/>
              </a:prstGeom>
              <a:solidFill>
                <a:srgbClr val="FCC800"/>
              </a:solidFill>
              <a:ln w="12700" cap="flat" cmpd="sng" algn="ctr">
                <a:solidFill>
                  <a:srgbClr val="1D1D1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389" tIns="45694" rIns="91389" bIns="45694" numCol="1" spcCol="0" rtlCol="0" fromWordArt="0" anchor="ctr" anchorCtr="0" forceAA="0" compatLnSpc="1">
                <a:noAutofit/>
              </a:bodyPr>
              <a:lstStyle/>
              <a:p>
                <a:pPr algn="ctr" defTabSz="877570" eaLnBrk="0" hangingPunct="0">
                  <a:defRPr/>
                </a:pPr>
                <a:endParaRPr lang="zh-CN" altLang="en-US" sz="1100" kern="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4" name="v4_s3_id24">
                <a:extLst>
                  <a:ext uri="{FF2B5EF4-FFF2-40B4-BE49-F238E27FC236}">
                    <a16:creationId xmlns:a16="http://schemas.microsoft.com/office/drawing/2014/main" id="{9647A83A-D06D-4342-83CD-6D41BCCBCEE7}"/>
                  </a:ext>
                </a:extLst>
              </p:cNvPr>
              <p:cNvSpPr/>
              <p:nvPr/>
            </p:nvSpPr>
            <p:spPr bwMode="auto">
              <a:xfrm>
                <a:off x="3689353" y="4428813"/>
                <a:ext cx="144016" cy="144016"/>
              </a:xfrm>
              <a:prstGeom prst="ellipse">
                <a:avLst/>
              </a:prstGeom>
              <a:solidFill>
                <a:srgbClr val="0000FF"/>
              </a:solidFill>
              <a:ln w="12700" cap="flat" cmpd="sng" algn="ctr">
                <a:solidFill>
                  <a:srgbClr val="1D1D1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389" tIns="45694" rIns="91389" bIns="45694" numCol="1" spcCol="0" rtlCol="0" fromWordArt="0" anchor="ctr" anchorCtr="0" forceAA="0" compatLnSpc="1">
                <a:noAutofit/>
              </a:bodyPr>
              <a:lstStyle/>
              <a:p>
                <a:pPr algn="ctr" defTabSz="877570" eaLnBrk="0" hangingPunct="0">
                  <a:defRPr/>
                </a:pPr>
                <a:endParaRPr lang="zh-CN" altLang="en-US" sz="1100" kern="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5" name="v4_s3_id25">
                <a:extLst>
                  <a:ext uri="{FF2B5EF4-FFF2-40B4-BE49-F238E27FC236}">
                    <a16:creationId xmlns:a16="http://schemas.microsoft.com/office/drawing/2014/main" id="{25DB3783-A2F9-4CDA-AB55-B7C5546541FC}"/>
                  </a:ext>
                </a:extLst>
              </p:cNvPr>
              <p:cNvSpPr txBox="1"/>
              <p:nvPr/>
            </p:nvSpPr>
            <p:spPr>
              <a:xfrm>
                <a:off x="3880068" y="4018557"/>
                <a:ext cx="864096" cy="326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400">
                  <a:defRPr/>
                </a:pPr>
                <a:r>
                  <a:rPr lang="en-US" altLang="zh-CN" sz="1100" dirty="0">
                    <a:solidFill>
                      <a:srgbClr val="1D1D1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C++</a:t>
                </a:r>
              </a:p>
            </p:txBody>
          </p:sp>
          <p:sp>
            <p:nvSpPr>
              <p:cNvPr id="26" name="v4_s3_id26">
                <a:extLst>
                  <a:ext uri="{FF2B5EF4-FFF2-40B4-BE49-F238E27FC236}">
                    <a16:creationId xmlns:a16="http://schemas.microsoft.com/office/drawing/2014/main" id="{1A9F0F32-748D-4499-B95C-F4487830732C}"/>
                  </a:ext>
                </a:extLst>
              </p:cNvPr>
              <p:cNvSpPr txBox="1"/>
              <p:nvPr/>
            </p:nvSpPr>
            <p:spPr>
              <a:xfrm>
                <a:off x="4059288" y="4839061"/>
                <a:ext cx="446989" cy="326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400">
                  <a:defRPr/>
                </a:pPr>
                <a:r>
                  <a:rPr lang="en-US" altLang="zh-CN" sz="1100" dirty="0">
                    <a:solidFill>
                      <a:srgbClr val="1D1D1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C</a:t>
                </a:r>
              </a:p>
            </p:txBody>
          </p:sp>
          <p:sp>
            <p:nvSpPr>
              <p:cNvPr id="27" name="v4_s3_id27">
                <a:extLst>
                  <a:ext uri="{FF2B5EF4-FFF2-40B4-BE49-F238E27FC236}">
                    <a16:creationId xmlns:a16="http://schemas.microsoft.com/office/drawing/2014/main" id="{2DAD963A-EC77-46EF-A218-B8E53DDF38D3}"/>
                  </a:ext>
                </a:extLst>
              </p:cNvPr>
              <p:cNvSpPr txBox="1"/>
              <p:nvPr/>
            </p:nvSpPr>
            <p:spPr>
              <a:xfrm>
                <a:off x="3951936" y="4379477"/>
                <a:ext cx="720079" cy="326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400">
                  <a:defRPr/>
                </a:pPr>
                <a:r>
                  <a:rPr lang="en-US" altLang="zh-CN" sz="1100" b="1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Rust</a:t>
                </a:r>
              </a:p>
            </p:txBody>
          </p:sp>
          <p:sp>
            <p:nvSpPr>
              <p:cNvPr id="28" name="v4_s3_id28">
                <a:extLst>
                  <a:ext uri="{FF2B5EF4-FFF2-40B4-BE49-F238E27FC236}">
                    <a16:creationId xmlns:a16="http://schemas.microsoft.com/office/drawing/2014/main" id="{31F4F5FB-C062-4C51-A585-8D335F6D2F3E}"/>
                  </a:ext>
                </a:extLst>
              </p:cNvPr>
              <p:cNvSpPr/>
              <p:nvPr/>
            </p:nvSpPr>
            <p:spPr bwMode="auto">
              <a:xfrm>
                <a:off x="2108875" y="2450552"/>
                <a:ext cx="144016" cy="144016"/>
              </a:xfrm>
              <a:prstGeom prst="ellipse">
                <a:avLst/>
              </a:prstGeom>
              <a:solidFill>
                <a:srgbClr val="FFC000"/>
              </a:solidFill>
              <a:ln w="12700" cap="flat" cmpd="sng" algn="ctr">
                <a:solidFill>
                  <a:srgbClr val="1D1D1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389" tIns="45694" rIns="91389" bIns="45694" numCol="1" spcCol="0" rtlCol="0" fromWordArt="0" anchor="ctr" anchorCtr="0" forceAA="0" compatLnSpc="1">
                <a:noAutofit/>
              </a:bodyPr>
              <a:lstStyle/>
              <a:p>
                <a:pPr algn="ctr" defTabSz="877570" eaLnBrk="0" hangingPunct="0">
                  <a:defRPr/>
                </a:pPr>
                <a:endParaRPr lang="zh-CN" altLang="en-US" sz="1100" kern="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9" name="v4_s3_id29">
                <a:extLst>
                  <a:ext uri="{FF2B5EF4-FFF2-40B4-BE49-F238E27FC236}">
                    <a16:creationId xmlns:a16="http://schemas.microsoft.com/office/drawing/2014/main" id="{5C3BC906-002C-46A7-A25D-B49D145BC9CE}"/>
                  </a:ext>
                </a:extLst>
              </p:cNvPr>
              <p:cNvSpPr/>
              <p:nvPr/>
            </p:nvSpPr>
            <p:spPr bwMode="auto">
              <a:xfrm>
                <a:off x="1685606" y="2573947"/>
                <a:ext cx="144016" cy="144016"/>
              </a:xfrm>
              <a:prstGeom prst="ellipse">
                <a:avLst/>
              </a:prstGeom>
              <a:solidFill>
                <a:srgbClr val="FCC800"/>
              </a:solidFill>
              <a:ln w="12700" cap="flat" cmpd="sng" algn="ctr">
                <a:solidFill>
                  <a:srgbClr val="1D1D1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389" tIns="45694" rIns="91389" bIns="45694" numCol="1" spcCol="0" rtlCol="0" fromWordArt="0" anchor="ctr" anchorCtr="0" forceAA="0" compatLnSpc="1">
                <a:noAutofit/>
              </a:bodyPr>
              <a:lstStyle/>
              <a:p>
                <a:pPr algn="ctr" defTabSz="877570" eaLnBrk="0" hangingPunct="0">
                  <a:defRPr/>
                </a:pPr>
                <a:endParaRPr lang="zh-CN" altLang="en-US" sz="1100" kern="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0" name="v4_s3_id30">
                <a:extLst>
                  <a:ext uri="{FF2B5EF4-FFF2-40B4-BE49-F238E27FC236}">
                    <a16:creationId xmlns:a16="http://schemas.microsoft.com/office/drawing/2014/main" id="{5569EA8C-35BE-4029-AFD6-ADB83B92A057}"/>
                  </a:ext>
                </a:extLst>
              </p:cNvPr>
              <p:cNvSpPr/>
              <p:nvPr/>
            </p:nvSpPr>
            <p:spPr bwMode="auto">
              <a:xfrm>
                <a:off x="1501781" y="2555972"/>
                <a:ext cx="144016" cy="144016"/>
              </a:xfrm>
              <a:prstGeom prst="ellipse">
                <a:avLst/>
              </a:prstGeom>
              <a:solidFill>
                <a:srgbClr val="FFC000"/>
              </a:solidFill>
              <a:ln w="12700" cap="flat" cmpd="sng" algn="ctr">
                <a:solidFill>
                  <a:srgbClr val="1D1D1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389" tIns="45694" rIns="91389" bIns="45694" numCol="1" spcCol="0" rtlCol="0" fromWordArt="0" anchor="ctr" anchorCtr="0" forceAA="0" compatLnSpc="1">
                <a:noAutofit/>
              </a:bodyPr>
              <a:lstStyle/>
              <a:p>
                <a:pPr algn="ctr" defTabSz="877570" eaLnBrk="0" hangingPunct="0">
                  <a:defRPr/>
                </a:pPr>
                <a:endParaRPr lang="zh-CN" altLang="en-US" sz="1100" kern="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1" name="v4_s3_id31">
                <a:extLst>
                  <a:ext uri="{FF2B5EF4-FFF2-40B4-BE49-F238E27FC236}">
                    <a16:creationId xmlns:a16="http://schemas.microsoft.com/office/drawing/2014/main" id="{1C2CEBB3-62B1-43AD-A2C4-1B46B290F52A}"/>
                  </a:ext>
                </a:extLst>
              </p:cNvPr>
              <p:cNvSpPr txBox="1"/>
              <p:nvPr/>
            </p:nvSpPr>
            <p:spPr>
              <a:xfrm>
                <a:off x="2001913" y="2133899"/>
                <a:ext cx="665357" cy="326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400">
                  <a:defRPr/>
                </a:pPr>
                <a:r>
                  <a:rPr lang="en-US" altLang="zh-CN" sz="1100" dirty="0">
                    <a:solidFill>
                      <a:srgbClr val="1D1D1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JS</a:t>
                </a:r>
              </a:p>
            </p:txBody>
          </p:sp>
          <p:sp>
            <p:nvSpPr>
              <p:cNvPr id="32" name="v4_s3_id32">
                <a:extLst>
                  <a:ext uri="{FF2B5EF4-FFF2-40B4-BE49-F238E27FC236}">
                    <a16:creationId xmlns:a16="http://schemas.microsoft.com/office/drawing/2014/main" id="{69751960-C746-4E9A-BC95-D5A035A1C564}"/>
                  </a:ext>
                </a:extLst>
              </p:cNvPr>
              <p:cNvSpPr txBox="1"/>
              <p:nvPr/>
            </p:nvSpPr>
            <p:spPr>
              <a:xfrm>
                <a:off x="1062097" y="2264072"/>
                <a:ext cx="1035469" cy="326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400">
                  <a:defRPr/>
                </a:pPr>
                <a:r>
                  <a:rPr lang="en-US" altLang="zh-CN" sz="1100" dirty="0">
                    <a:solidFill>
                      <a:srgbClr val="1D1D1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Python</a:t>
                </a:r>
              </a:p>
            </p:txBody>
          </p:sp>
          <p:sp>
            <p:nvSpPr>
              <p:cNvPr id="33" name="v4_s3_id33">
                <a:extLst>
                  <a:ext uri="{FF2B5EF4-FFF2-40B4-BE49-F238E27FC236}">
                    <a16:creationId xmlns:a16="http://schemas.microsoft.com/office/drawing/2014/main" id="{AB4C890A-DB00-45EC-BDE2-A38214504657}"/>
                  </a:ext>
                </a:extLst>
              </p:cNvPr>
              <p:cNvSpPr txBox="1"/>
              <p:nvPr/>
            </p:nvSpPr>
            <p:spPr>
              <a:xfrm>
                <a:off x="1615079" y="2717803"/>
                <a:ext cx="620862" cy="326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400">
                  <a:defRPr/>
                </a:pPr>
                <a:r>
                  <a:rPr lang="en-US" altLang="zh-CN" sz="1100" dirty="0" err="1">
                    <a:solidFill>
                      <a:srgbClr val="1D1D1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Lua</a:t>
                </a:r>
              </a:p>
            </p:txBody>
          </p:sp>
          <p:sp>
            <p:nvSpPr>
              <p:cNvPr id="34" name="v4_s3_id34">
                <a:extLst>
                  <a:ext uri="{FF2B5EF4-FFF2-40B4-BE49-F238E27FC236}">
                    <a16:creationId xmlns:a16="http://schemas.microsoft.com/office/drawing/2014/main" id="{206C4439-C2F2-4C78-8458-30336FAE76E2}"/>
                  </a:ext>
                </a:extLst>
              </p:cNvPr>
              <p:cNvSpPr/>
              <p:nvPr/>
            </p:nvSpPr>
            <p:spPr bwMode="auto">
              <a:xfrm>
                <a:off x="2667270" y="3148585"/>
                <a:ext cx="144016" cy="144016"/>
              </a:xfrm>
              <a:prstGeom prst="ellipse">
                <a:avLst/>
              </a:prstGeom>
              <a:solidFill>
                <a:srgbClr val="0000FF"/>
              </a:solidFill>
              <a:ln w="12700" cap="flat" cmpd="sng" algn="ctr">
                <a:solidFill>
                  <a:srgbClr val="1D1D1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389" tIns="45694" rIns="91389" bIns="45694" numCol="1" spcCol="0" rtlCol="0" fromWordArt="0" anchor="ctr" anchorCtr="0" forceAA="0" compatLnSpc="1">
                <a:noAutofit/>
              </a:bodyPr>
              <a:lstStyle/>
              <a:p>
                <a:pPr algn="ctr" defTabSz="877570" eaLnBrk="0" hangingPunct="0">
                  <a:defRPr/>
                </a:pPr>
                <a:endParaRPr lang="zh-CN" altLang="en-US" sz="1100" kern="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5" name="v4_s3_id35">
                <a:extLst>
                  <a:ext uri="{FF2B5EF4-FFF2-40B4-BE49-F238E27FC236}">
                    <a16:creationId xmlns:a16="http://schemas.microsoft.com/office/drawing/2014/main" id="{A9670EB4-A428-4045-B56F-D52156F9DB90}"/>
                  </a:ext>
                </a:extLst>
              </p:cNvPr>
              <p:cNvSpPr txBox="1"/>
              <p:nvPr/>
            </p:nvSpPr>
            <p:spPr>
              <a:xfrm>
                <a:off x="2680111" y="2784736"/>
                <a:ext cx="683447" cy="3077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400">
                  <a:defRPr/>
                </a:pPr>
                <a:r>
                  <a:rPr lang="en-US" altLang="zh-CN" sz="1000" dirty="0">
                    <a:solidFill>
                      <a:srgbClr val="1D1D1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Java</a:t>
                </a:r>
              </a:p>
            </p:txBody>
          </p:sp>
          <p:sp>
            <p:nvSpPr>
              <p:cNvPr id="36" name="v4_s3_id36">
                <a:extLst>
                  <a:ext uri="{FF2B5EF4-FFF2-40B4-BE49-F238E27FC236}">
                    <a16:creationId xmlns:a16="http://schemas.microsoft.com/office/drawing/2014/main" id="{F20156E2-59ED-4A60-9EF8-74EB524BD6D6}"/>
                  </a:ext>
                </a:extLst>
              </p:cNvPr>
              <p:cNvSpPr/>
              <p:nvPr/>
            </p:nvSpPr>
            <p:spPr bwMode="auto">
              <a:xfrm>
                <a:off x="3052311" y="3400514"/>
                <a:ext cx="144016" cy="144016"/>
              </a:xfrm>
              <a:prstGeom prst="ellipse">
                <a:avLst/>
              </a:prstGeom>
              <a:solidFill>
                <a:srgbClr val="0000FF"/>
              </a:solidFill>
              <a:ln w="12700" cap="flat" cmpd="sng" algn="ctr">
                <a:solidFill>
                  <a:srgbClr val="1D1D1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389" tIns="45694" rIns="91389" bIns="45694" numCol="1" spcCol="0" rtlCol="0" fromWordArt="0" anchor="ctr" anchorCtr="0" forceAA="0" compatLnSpc="1">
                <a:noAutofit/>
              </a:bodyPr>
              <a:lstStyle/>
              <a:p>
                <a:pPr algn="ctr" defTabSz="877570" eaLnBrk="0" hangingPunct="0">
                  <a:defRPr/>
                </a:pPr>
                <a:endParaRPr lang="zh-CN" altLang="en-US" sz="1100" kern="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7" name="v4_s3_id37">
                <a:extLst>
                  <a:ext uri="{FF2B5EF4-FFF2-40B4-BE49-F238E27FC236}">
                    <a16:creationId xmlns:a16="http://schemas.microsoft.com/office/drawing/2014/main" id="{D4B10D0E-CAFA-4D3A-946F-09100FCA7AA9}"/>
                  </a:ext>
                </a:extLst>
              </p:cNvPr>
              <p:cNvSpPr txBox="1"/>
              <p:nvPr/>
            </p:nvSpPr>
            <p:spPr>
              <a:xfrm>
                <a:off x="2880948" y="3567873"/>
                <a:ext cx="683447" cy="3077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400">
                  <a:defRPr/>
                </a:pPr>
                <a:r>
                  <a:rPr lang="en-US" altLang="zh-CN" sz="1000" dirty="0">
                    <a:solidFill>
                      <a:srgbClr val="1D1D1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Go</a:t>
                </a:r>
              </a:p>
            </p:txBody>
          </p:sp>
          <p:sp>
            <p:nvSpPr>
              <p:cNvPr id="38" name="v4_s3_id38">
                <a:extLst>
                  <a:ext uri="{FF2B5EF4-FFF2-40B4-BE49-F238E27FC236}">
                    <a16:creationId xmlns:a16="http://schemas.microsoft.com/office/drawing/2014/main" id="{A4FA861B-2849-4B86-BDEE-7D42A0EDCC0C}"/>
                  </a:ext>
                </a:extLst>
              </p:cNvPr>
              <p:cNvSpPr/>
              <p:nvPr/>
            </p:nvSpPr>
            <p:spPr bwMode="auto">
              <a:xfrm>
                <a:off x="3647346" y="2925733"/>
                <a:ext cx="144016" cy="144016"/>
              </a:xfrm>
              <a:prstGeom prst="ellipse">
                <a:avLst/>
              </a:prstGeom>
              <a:solidFill>
                <a:srgbClr val="0000FF"/>
              </a:solidFill>
              <a:ln w="12700" cap="flat" cmpd="sng" algn="ctr">
                <a:solidFill>
                  <a:srgbClr val="1D1D1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389" tIns="45694" rIns="91389" bIns="45694" numCol="1" spcCol="0" rtlCol="0" fromWordArt="0" anchor="ctr" anchorCtr="0" forceAA="0" compatLnSpc="1">
                <a:noAutofit/>
              </a:bodyPr>
              <a:lstStyle/>
              <a:p>
                <a:pPr algn="ctr" defTabSz="877570" eaLnBrk="0" hangingPunct="0">
                  <a:defRPr/>
                </a:pPr>
                <a:endParaRPr lang="zh-CN" altLang="en-US" sz="1100" kern="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9" name="v4_s3_id39">
                <a:extLst>
                  <a:ext uri="{FF2B5EF4-FFF2-40B4-BE49-F238E27FC236}">
                    <a16:creationId xmlns:a16="http://schemas.microsoft.com/office/drawing/2014/main" id="{1C83006B-B6B6-4EA7-B746-42C29927C4C7}"/>
                  </a:ext>
                </a:extLst>
              </p:cNvPr>
              <p:cNvSpPr txBox="1"/>
              <p:nvPr/>
            </p:nvSpPr>
            <p:spPr>
              <a:xfrm>
                <a:off x="3759750" y="2838591"/>
                <a:ext cx="761272" cy="3077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400">
                  <a:defRPr/>
                </a:pPr>
                <a:r>
                  <a:rPr lang="en-US" altLang="zh-CN" sz="1000" dirty="0">
                    <a:solidFill>
                      <a:srgbClr val="1D1D1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Swift</a:t>
                </a:r>
              </a:p>
            </p:txBody>
          </p:sp>
          <p:sp>
            <p:nvSpPr>
              <p:cNvPr id="40" name="v4_s3_id40">
                <a:extLst>
                  <a:ext uri="{FF2B5EF4-FFF2-40B4-BE49-F238E27FC236}">
                    <a16:creationId xmlns:a16="http://schemas.microsoft.com/office/drawing/2014/main" id="{C5B654C6-9504-4B6E-B508-38F52923E3C7}"/>
                  </a:ext>
                </a:extLst>
              </p:cNvPr>
              <p:cNvSpPr/>
              <p:nvPr/>
            </p:nvSpPr>
            <p:spPr bwMode="auto">
              <a:xfrm>
                <a:off x="2962803" y="3076577"/>
                <a:ext cx="144016" cy="144016"/>
              </a:xfrm>
              <a:prstGeom prst="ellipse">
                <a:avLst/>
              </a:prstGeom>
              <a:solidFill>
                <a:srgbClr val="0000FF"/>
              </a:solidFill>
              <a:ln w="12700" cap="flat" cmpd="sng" algn="ctr">
                <a:solidFill>
                  <a:srgbClr val="1D1D1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389" tIns="45694" rIns="91389" bIns="45694" numCol="1" spcCol="0" rtlCol="0" fromWordArt="0" anchor="ctr" anchorCtr="0" forceAA="0" compatLnSpc="1">
                <a:noAutofit/>
              </a:bodyPr>
              <a:lstStyle/>
              <a:p>
                <a:pPr algn="ctr" defTabSz="877570" eaLnBrk="0" hangingPunct="0">
                  <a:defRPr/>
                </a:pPr>
                <a:endParaRPr lang="zh-CN" altLang="en-US" sz="1100" kern="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41" name="v4_s3_id41">
                <a:extLst>
                  <a:ext uri="{FF2B5EF4-FFF2-40B4-BE49-F238E27FC236}">
                    <a16:creationId xmlns:a16="http://schemas.microsoft.com/office/drawing/2014/main" id="{F684DE9B-6ABD-4F1A-BD7F-C45390484644}"/>
                  </a:ext>
                </a:extLst>
              </p:cNvPr>
              <p:cNvSpPr txBox="1"/>
              <p:nvPr/>
            </p:nvSpPr>
            <p:spPr>
              <a:xfrm>
                <a:off x="3106883" y="2645223"/>
                <a:ext cx="917162" cy="3077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400">
                  <a:defRPr/>
                </a:pPr>
                <a:r>
                  <a:rPr lang="en-US" altLang="zh-CN" sz="1000" dirty="0" err="1">
                    <a:solidFill>
                      <a:srgbClr val="1D1D1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Kotlin</a:t>
                </a:r>
              </a:p>
            </p:txBody>
          </p:sp>
          <p:cxnSp>
            <p:nvCxnSpPr>
              <p:cNvPr id="42" name="直接箭头连接符 36">
                <a:extLst>
                  <a:ext uri="{FF2B5EF4-FFF2-40B4-BE49-F238E27FC236}">
                    <a16:creationId xmlns:a16="http://schemas.microsoft.com/office/drawing/2014/main" id="{79929010-8E74-434E-979F-2B499700B340}"/>
                  </a:ext>
                </a:extLst>
              </p:cNvPr>
              <p:cNvCxnSpPr/>
              <p:nvPr/>
            </p:nvCxnSpPr>
            <p:spPr bwMode="auto">
              <a:xfrm flipV="1">
                <a:off x="927705" y="1853138"/>
                <a:ext cx="2167415" cy="3673399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1D1D1A"/>
                </a:solidFill>
                <a:prstDash val="dash"/>
                <a:round/>
                <a:headEnd type="none" w="med" len="med"/>
                <a:tailEnd type="none"/>
              </a:ln>
              <a:effectLst/>
            </p:spPr>
          </p:cxnSp>
          <p:cxnSp>
            <p:nvCxnSpPr>
              <p:cNvPr id="43" name="直接箭头连接符 37">
                <a:extLst>
                  <a:ext uri="{FF2B5EF4-FFF2-40B4-BE49-F238E27FC236}">
                    <a16:creationId xmlns:a16="http://schemas.microsoft.com/office/drawing/2014/main" id="{1CD17078-A74C-4F59-841F-E3B0CB21994A}"/>
                  </a:ext>
                </a:extLst>
              </p:cNvPr>
              <p:cNvCxnSpPr/>
              <p:nvPr/>
            </p:nvCxnSpPr>
            <p:spPr bwMode="auto">
              <a:xfrm flipV="1">
                <a:off x="927704" y="3312264"/>
                <a:ext cx="3772506" cy="2214272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1D1D1A"/>
                </a:solidFill>
                <a:prstDash val="dash"/>
                <a:round/>
                <a:headEnd type="none" w="med" len="med"/>
                <a:tailEnd type="none"/>
              </a:ln>
              <a:effectLst/>
            </p:spPr>
          </p:cxnSp>
          <p:sp>
            <p:nvSpPr>
              <p:cNvPr id="44" name="v4_s3_id44">
                <a:extLst>
                  <a:ext uri="{FF2B5EF4-FFF2-40B4-BE49-F238E27FC236}">
                    <a16:creationId xmlns:a16="http://schemas.microsoft.com/office/drawing/2014/main" id="{88E94425-9E89-43A0-9F25-1FD33E9C9112}"/>
                  </a:ext>
                </a:extLst>
              </p:cNvPr>
              <p:cNvSpPr/>
              <p:nvPr/>
            </p:nvSpPr>
            <p:spPr bwMode="auto">
              <a:xfrm>
                <a:off x="3291545" y="2931253"/>
                <a:ext cx="144016" cy="144016"/>
              </a:xfrm>
              <a:prstGeom prst="ellipse">
                <a:avLst/>
              </a:prstGeom>
              <a:solidFill>
                <a:srgbClr val="0000FF"/>
              </a:solidFill>
              <a:ln w="12700" cap="flat" cmpd="sng" algn="ctr">
                <a:solidFill>
                  <a:srgbClr val="1D1D1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389" tIns="45694" rIns="91389" bIns="45694" numCol="1" spcCol="0" rtlCol="0" fromWordArt="0" anchor="ctr" anchorCtr="0" forceAA="0" compatLnSpc="1">
                <a:noAutofit/>
              </a:bodyPr>
              <a:lstStyle/>
              <a:p>
                <a:pPr algn="ctr" defTabSz="877570" eaLnBrk="0" hangingPunct="0">
                  <a:defRPr/>
                </a:pPr>
                <a:endParaRPr lang="zh-CN" altLang="en-US" sz="1100" kern="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45" name="v4_s3_id45">
                <a:extLst>
                  <a:ext uri="{FF2B5EF4-FFF2-40B4-BE49-F238E27FC236}">
                    <a16:creationId xmlns:a16="http://schemas.microsoft.com/office/drawing/2014/main" id="{881A7DC2-AA71-4742-AF2A-CE47259280DA}"/>
                  </a:ext>
                </a:extLst>
              </p:cNvPr>
              <p:cNvSpPr txBox="1"/>
              <p:nvPr/>
            </p:nvSpPr>
            <p:spPr>
              <a:xfrm>
                <a:off x="1099042" y="1513587"/>
                <a:ext cx="1740235" cy="5385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14400">
                  <a:defRPr/>
                </a:pPr>
                <a:r>
                  <a:rPr lang="zh-CN" altLang="en-US" sz="1100" b="1" dirty="0">
                    <a:solidFill>
                      <a:srgbClr val="1D1D1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轻量业务开发</a:t>
                </a:r>
                <a:endParaRPr lang="en-US" altLang="zh-CN" sz="1100" b="1" dirty="0">
                  <a:solidFill>
                    <a:srgbClr val="1D1D1A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algn="ctr" defTabSz="914400">
                  <a:defRPr/>
                </a:pPr>
                <a:r>
                  <a:rPr lang="zh-CN" altLang="en-US" sz="1100" dirty="0">
                    <a:solidFill>
                      <a:srgbClr val="1D1D1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动态脚本语言</a:t>
                </a:r>
                <a:endParaRPr lang="en-US" altLang="zh-CN" sz="1100" dirty="0">
                  <a:solidFill>
                    <a:srgbClr val="1D1D1A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46" name="v4_s3_id46">
                <a:extLst>
                  <a:ext uri="{FF2B5EF4-FFF2-40B4-BE49-F238E27FC236}">
                    <a16:creationId xmlns:a16="http://schemas.microsoft.com/office/drawing/2014/main" id="{35B7E588-6F54-4956-8C85-2CAE6816A9BE}"/>
                  </a:ext>
                </a:extLst>
              </p:cNvPr>
              <p:cNvSpPr txBox="1"/>
              <p:nvPr/>
            </p:nvSpPr>
            <p:spPr>
              <a:xfrm>
                <a:off x="3360270" y="2094613"/>
                <a:ext cx="2320721" cy="5385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14400">
                  <a:defRPr/>
                </a:pPr>
                <a:r>
                  <a:rPr lang="zh-CN" altLang="en-US" sz="1100" b="1" dirty="0">
                    <a:solidFill>
                      <a:srgbClr val="1D1D1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重业务开发</a:t>
                </a:r>
                <a:endParaRPr lang="en-US" altLang="zh-CN" sz="1100" b="1" dirty="0">
                  <a:solidFill>
                    <a:srgbClr val="1D1D1A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  <a:p>
                <a:pPr algn="ctr" defTabSz="914400">
                  <a:defRPr/>
                </a:pPr>
                <a:r>
                  <a:rPr lang="zh-CN" altLang="en-US" sz="1100" dirty="0">
                    <a:solidFill>
                      <a:srgbClr val="1D1D1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静态类型</a:t>
                </a:r>
                <a:r>
                  <a:rPr lang="en-US" altLang="zh-CN" sz="1100" dirty="0">
                    <a:solidFill>
                      <a:srgbClr val="1D1D1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App</a:t>
                </a:r>
                <a:r>
                  <a:rPr lang="zh-CN" altLang="en-US" sz="1100" dirty="0">
                    <a:solidFill>
                      <a:srgbClr val="1D1D1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开发语言</a:t>
                </a:r>
              </a:p>
            </p:txBody>
          </p:sp>
          <p:sp>
            <p:nvSpPr>
              <p:cNvPr id="47" name="v4_s3_id47">
                <a:extLst>
                  <a:ext uri="{FF2B5EF4-FFF2-40B4-BE49-F238E27FC236}">
                    <a16:creationId xmlns:a16="http://schemas.microsoft.com/office/drawing/2014/main" id="{CE14D4FD-5A7F-4273-86CA-88EB25D83AA1}"/>
                  </a:ext>
                </a:extLst>
              </p:cNvPr>
              <p:cNvSpPr txBox="1"/>
              <p:nvPr/>
            </p:nvSpPr>
            <p:spPr>
              <a:xfrm>
                <a:off x="4205678" y="5537849"/>
                <a:ext cx="864096" cy="326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400">
                  <a:defRPr/>
                </a:pPr>
                <a:r>
                  <a:rPr lang="zh-CN" altLang="en-US" sz="1100" b="1" dirty="0">
                    <a:solidFill>
                      <a:srgbClr val="1D1D1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性能</a:t>
                </a:r>
              </a:p>
            </p:txBody>
          </p:sp>
          <p:sp>
            <p:nvSpPr>
              <p:cNvPr id="48" name="v4_s3_id48">
                <a:extLst>
                  <a:ext uri="{FF2B5EF4-FFF2-40B4-BE49-F238E27FC236}">
                    <a16:creationId xmlns:a16="http://schemas.microsoft.com/office/drawing/2014/main" id="{403DB668-8EE9-4EC7-8B6A-7D556EE11924}"/>
                  </a:ext>
                </a:extLst>
              </p:cNvPr>
              <p:cNvSpPr txBox="1"/>
              <p:nvPr/>
            </p:nvSpPr>
            <p:spPr>
              <a:xfrm>
                <a:off x="4429659" y="4376457"/>
                <a:ext cx="1419107" cy="326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14400">
                  <a:defRPr/>
                </a:pPr>
                <a:r>
                  <a:rPr lang="zh-CN" altLang="en-US" sz="1100" b="1" dirty="0">
                    <a:solidFill>
                      <a:srgbClr val="1D1D1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系统编程</a:t>
                </a:r>
              </a:p>
            </p:txBody>
          </p:sp>
          <p:sp>
            <p:nvSpPr>
              <p:cNvPr id="49" name="v4_s3_id49">
                <a:extLst>
                  <a:ext uri="{FF2B5EF4-FFF2-40B4-BE49-F238E27FC236}">
                    <a16:creationId xmlns:a16="http://schemas.microsoft.com/office/drawing/2014/main" id="{EAA6D6A6-5E35-4037-A35C-9957A48709CF}"/>
                  </a:ext>
                </a:extLst>
              </p:cNvPr>
              <p:cNvSpPr txBox="1"/>
              <p:nvPr/>
            </p:nvSpPr>
            <p:spPr>
              <a:xfrm>
                <a:off x="603669" y="6392838"/>
                <a:ext cx="7453109" cy="326984"/>
              </a:xfrm>
              <a:prstGeom prst="rect">
                <a:avLst/>
              </a:prstGeom>
              <a:solidFill>
                <a:srgbClr val="FFFFFF"/>
              </a:solidFill>
            </p:spPr>
            <p:txBody>
              <a:bodyPr wrap="square" rtlCol="0">
                <a:spAutoFit/>
              </a:bodyPr>
              <a:lstStyle/>
              <a:p>
                <a:pPr defTabSz="913765">
                  <a:defRPr/>
                </a:pPr>
                <a:r>
                  <a:rPr lang="zh-CN" altLang="en-US" sz="1100" dirty="0">
                    <a:solidFill>
                      <a:srgbClr val="1D1D1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注：此图仅为示意三类语言的划分，不追求各种语言在坐标中位置的准确性</a:t>
                </a:r>
                <a:endParaRPr lang="zh-CN" altLang="en-US" sz="1100" b="1" dirty="0">
                  <a:solidFill>
                    <a:srgbClr val="1D1D1A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50" name="v4_s3_id50">
                <a:extLst>
                  <a:ext uri="{FF2B5EF4-FFF2-40B4-BE49-F238E27FC236}">
                    <a16:creationId xmlns:a16="http://schemas.microsoft.com/office/drawing/2014/main" id="{E4FBF655-71BC-458B-97CE-23F464E26407}"/>
                  </a:ext>
                </a:extLst>
              </p:cNvPr>
              <p:cNvSpPr txBox="1"/>
              <p:nvPr/>
            </p:nvSpPr>
            <p:spPr>
              <a:xfrm>
                <a:off x="2391492" y="3330419"/>
                <a:ext cx="798168" cy="30774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400">
                  <a:defRPr/>
                </a:pPr>
                <a:r>
                  <a:rPr lang="en-US" altLang="zh-CN" sz="1000" dirty="0">
                    <a:solidFill>
                      <a:srgbClr val="1D1D1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Dart</a:t>
                </a:r>
              </a:p>
            </p:txBody>
          </p:sp>
          <p:cxnSp>
            <p:nvCxnSpPr>
              <p:cNvPr id="51" name="直接箭头连接符 45">
                <a:extLst>
                  <a:ext uri="{FF2B5EF4-FFF2-40B4-BE49-F238E27FC236}">
                    <a16:creationId xmlns:a16="http://schemas.microsoft.com/office/drawing/2014/main" id="{030BC416-A393-46A3-80C6-932A87E27D17}"/>
                  </a:ext>
                </a:extLst>
              </p:cNvPr>
              <p:cNvCxnSpPr/>
              <p:nvPr/>
            </p:nvCxnSpPr>
            <p:spPr>
              <a:xfrm>
                <a:off x="881340" y="6029326"/>
                <a:ext cx="3587254" cy="0"/>
              </a:xfrm>
              <a:prstGeom prst="straightConnector1">
                <a:avLst/>
              </a:prstGeom>
              <a:noFill/>
              <a:ln w="6350" cap="flat" cmpd="sng" algn="ctr">
                <a:solidFill>
                  <a:srgbClr val="1D1D1A"/>
                </a:solidFill>
                <a:prstDash val="solid"/>
                <a:miter lim="800000"/>
                <a:tailEnd type="triangle"/>
              </a:ln>
              <a:effectLst/>
            </p:spPr>
          </p:cxnSp>
          <p:sp>
            <p:nvSpPr>
              <p:cNvPr id="52" name="v4_s3_id52">
                <a:extLst>
                  <a:ext uri="{FF2B5EF4-FFF2-40B4-BE49-F238E27FC236}">
                    <a16:creationId xmlns:a16="http://schemas.microsoft.com/office/drawing/2014/main" id="{BF461A25-F807-4816-B03B-978C522D7BF4}"/>
                  </a:ext>
                </a:extLst>
              </p:cNvPr>
              <p:cNvSpPr txBox="1"/>
              <p:nvPr/>
            </p:nvSpPr>
            <p:spPr>
              <a:xfrm>
                <a:off x="2314934" y="6147589"/>
                <a:ext cx="864096" cy="326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14400">
                  <a:defRPr/>
                </a:pPr>
                <a:r>
                  <a:rPr lang="zh-CN" altLang="en-US" sz="1100" b="1" dirty="0">
                    <a:solidFill>
                      <a:srgbClr val="1D1D1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安全</a:t>
                </a:r>
              </a:p>
            </p:txBody>
          </p:sp>
          <p:sp>
            <p:nvSpPr>
              <p:cNvPr id="53" name="v4_s3_id53">
                <a:extLst>
                  <a:ext uri="{FF2B5EF4-FFF2-40B4-BE49-F238E27FC236}">
                    <a16:creationId xmlns:a16="http://schemas.microsoft.com/office/drawing/2014/main" id="{637B674E-D9B6-4392-A784-33BE5B217BBD}"/>
                  </a:ext>
                </a:extLst>
              </p:cNvPr>
              <p:cNvSpPr/>
              <p:nvPr/>
            </p:nvSpPr>
            <p:spPr bwMode="auto">
              <a:xfrm>
                <a:off x="3952037" y="5962935"/>
                <a:ext cx="144016" cy="144016"/>
              </a:xfrm>
              <a:prstGeom prst="ellipse">
                <a:avLst/>
              </a:prstGeom>
              <a:solidFill>
                <a:srgbClr val="0000FF"/>
              </a:solidFill>
              <a:ln w="12700" cap="flat" cmpd="sng" algn="ctr">
                <a:solidFill>
                  <a:srgbClr val="1D1D1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389" tIns="45694" rIns="91389" bIns="45694" numCol="1" spcCol="0" rtlCol="0" fromWordArt="0" anchor="ctr" anchorCtr="0" forceAA="0" compatLnSpc="1">
                <a:noAutofit/>
              </a:bodyPr>
              <a:lstStyle/>
              <a:p>
                <a:pPr algn="ctr" defTabSz="877570" eaLnBrk="0" hangingPunct="0">
                  <a:defRPr/>
                </a:pPr>
                <a:endParaRPr lang="zh-CN" altLang="en-US" sz="1100" kern="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54" name="v4_s3_id54">
                <a:extLst>
                  <a:ext uri="{FF2B5EF4-FFF2-40B4-BE49-F238E27FC236}">
                    <a16:creationId xmlns:a16="http://schemas.microsoft.com/office/drawing/2014/main" id="{C9C9465C-B971-4A96-95AF-0CAF793E142B}"/>
                  </a:ext>
                </a:extLst>
              </p:cNvPr>
              <p:cNvSpPr/>
              <p:nvPr/>
            </p:nvSpPr>
            <p:spPr bwMode="auto">
              <a:xfrm>
                <a:off x="2680111" y="5957601"/>
                <a:ext cx="154684" cy="154684"/>
              </a:xfrm>
              <a:prstGeom prst="ellipse">
                <a:avLst/>
              </a:prstGeom>
              <a:solidFill>
                <a:srgbClr val="FCC800"/>
              </a:solidFill>
              <a:ln w="12700" cap="flat" cmpd="sng" algn="ctr">
                <a:solidFill>
                  <a:srgbClr val="1D1D1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389" tIns="45694" rIns="91389" bIns="45694" numCol="1" spcCol="0" rtlCol="0" fromWordArt="0" anchor="ctr" anchorCtr="0" forceAA="0" compatLnSpc="1">
                <a:noAutofit/>
              </a:bodyPr>
              <a:lstStyle/>
              <a:p>
                <a:pPr algn="ctr" defTabSz="877570" eaLnBrk="0" hangingPunct="0">
                  <a:defRPr/>
                </a:pPr>
                <a:endParaRPr lang="zh-CN" altLang="en-US" sz="1100" kern="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55" name="v4_s3_id55">
                <a:extLst>
                  <a:ext uri="{FF2B5EF4-FFF2-40B4-BE49-F238E27FC236}">
                    <a16:creationId xmlns:a16="http://schemas.microsoft.com/office/drawing/2014/main" id="{BB5B08D2-93EC-44F6-A3EA-854E623136D9}"/>
                  </a:ext>
                </a:extLst>
              </p:cNvPr>
              <p:cNvSpPr/>
              <p:nvPr/>
            </p:nvSpPr>
            <p:spPr bwMode="auto">
              <a:xfrm>
                <a:off x="1324998" y="5966013"/>
                <a:ext cx="144016" cy="144016"/>
              </a:xfrm>
              <a:prstGeom prst="ellipse">
                <a:avLst/>
              </a:prstGeom>
              <a:solidFill>
                <a:srgbClr val="FF0000"/>
              </a:solidFill>
              <a:ln w="12700" cap="flat" cmpd="sng" algn="ctr">
                <a:solidFill>
                  <a:srgbClr val="1D1D1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389" tIns="45694" rIns="91389" bIns="45694" numCol="1" spcCol="0" rtlCol="0" fromWordArt="0" anchor="ctr" anchorCtr="0" forceAA="0" compatLnSpc="1">
                <a:noAutofit/>
              </a:bodyPr>
              <a:lstStyle/>
              <a:p>
                <a:pPr algn="ctr" defTabSz="877570" eaLnBrk="0" hangingPunct="0">
                  <a:defRPr/>
                </a:pPr>
                <a:endParaRPr lang="zh-CN" altLang="en-US" sz="1100" kern="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56" name="v4_s3_id56">
                <a:extLst>
                  <a:ext uri="{FF2B5EF4-FFF2-40B4-BE49-F238E27FC236}">
                    <a16:creationId xmlns:a16="http://schemas.microsoft.com/office/drawing/2014/main" id="{BA47A01D-B84E-4BE4-B0CA-E3AD4F583A0D}"/>
                  </a:ext>
                </a:extLst>
              </p:cNvPr>
              <p:cNvSpPr/>
              <p:nvPr/>
            </p:nvSpPr>
            <p:spPr bwMode="auto">
              <a:xfrm>
                <a:off x="1283396" y="2717961"/>
                <a:ext cx="144016" cy="144016"/>
              </a:xfrm>
              <a:prstGeom prst="ellipse">
                <a:avLst/>
              </a:prstGeom>
              <a:solidFill>
                <a:srgbClr val="FFC000"/>
              </a:solidFill>
              <a:ln w="12700" cap="flat" cmpd="sng" algn="ctr">
                <a:solidFill>
                  <a:srgbClr val="1D1D1A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389" tIns="45694" rIns="91389" bIns="45694" numCol="1" spcCol="0" rtlCol="0" fromWordArt="0" anchor="ctr" anchorCtr="0" forceAA="0" compatLnSpc="1">
                <a:noAutofit/>
              </a:bodyPr>
              <a:lstStyle/>
              <a:p>
                <a:pPr algn="ctr" defTabSz="877570" eaLnBrk="0" hangingPunct="0">
                  <a:defRPr/>
                </a:pPr>
                <a:endParaRPr lang="zh-CN" altLang="en-US" sz="1100" kern="0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57" name="v4_s3_id57">
                <a:extLst>
                  <a:ext uri="{FF2B5EF4-FFF2-40B4-BE49-F238E27FC236}">
                    <a16:creationId xmlns:a16="http://schemas.microsoft.com/office/drawing/2014/main" id="{94DB7373-73E9-4626-8282-74FFBD51BBD2}"/>
                  </a:ext>
                </a:extLst>
              </p:cNvPr>
              <p:cNvSpPr txBox="1"/>
              <p:nvPr/>
            </p:nvSpPr>
            <p:spPr>
              <a:xfrm>
                <a:off x="1187397" y="2901983"/>
                <a:ext cx="910308" cy="3269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4400">
                  <a:defRPr/>
                </a:pPr>
                <a:r>
                  <a:rPr lang="en-US" altLang="zh-CN" sz="1100" dirty="0">
                    <a:solidFill>
                      <a:srgbClr val="1D1D1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Ruby</a:t>
                </a:r>
              </a:p>
            </p:txBody>
          </p:sp>
        </p:grpSp>
        <p:sp>
          <p:nvSpPr>
            <p:cNvPr id="5" name="v4_s3_id5">
              <a:extLst>
                <a:ext uri="{FF2B5EF4-FFF2-40B4-BE49-F238E27FC236}">
                  <a16:creationId xmlns:a16="http://schemas.microsoft.com/office/drawing/2014/main" id="{2FB800C8-8BF9-4B03-AB18-5C09A313670E}"/>
                </a:ext>
              </a:extLst>
            </p:cNvPr>
            <p:cNvSpPr/>
            <p:nvPr/>
          </p:nvSpPr>
          <p:spPr>
            <a:xfrm rot="10800000">
              <a:off x="13202285" y="3086100"/>
              <a:ext cx="1191260" cy="993775"/>
            </a:xfrm>
            <a:prstGeom prst="notchedRightArrow">
              <a:avLst/>
            </a:prstGeom>
            <a:solidFill>
              <a:srgbClr val="2D77EE"/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endParaRPr>
            </a:p>
          </p:txBody>
        </p:sp>
        <p:grpSp>
          <p:nvGrpSpPr>
            <p:cNvPr id="6" name="组合 61">
              <a:extLst>
                <a:ext uri="{FF2B5EF4-FFF2-40B4-BE49-F238E27FC236}">
                  <a16:creationId xmlns:a16="http://schemas.microsoft.com/office/drawing/2014/main" id="{5AE898A8-D0BB-406A-9E9C-A58410648AB6}"/>
                </a:ext>
              </a:extLst>
            </p:cNvPr>
            <p:cNvGrpSpPr/>
            <p:nvPr/>
          </p:nvGrpSpPr>
          <p:grpSpPr>
            <a:xfrm>
              <a:off x="15107285" y="3181985"/>
              <a:ext cx="2046605" cy="726440"/>
              <a:chOff x="23400" y="6530"/>
              <a:chExt cx="3223" cy="1144"/>
            </a:xfrm>
          </p:grpSpPr>
          <p:sp>
            <p:nvSpPr>
              <p:cNvPr id="18" name="v4_s3_id18">
                <a:extLst>
                  <a:ext uri="{FF2B5EF4-FFF2-40B4-BE49-F238E27FC236}">
                    <a16:creationId xmlns:a16="http://schemas.microsoft.com/office/drawing/2014/main" id="{B7A6EAED-6A1B-448D-82BE-CA7A333E76F8}"/>
                  </a:ext>
                </a:extLst>
              </p:cNvPr>
              <p:cNvSpPr txBox="1"/>
              <p:nvPr/>
            </p:nvSpPr>
            <p:spPr>
              <a:xfrm>
                <a:off x="24452" y="6530"/>
                <a:ext cx="2171" cy="72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14400">
                  <a:defRPr/>
                </a:pPr>
                <a:r>
                  <a:rPr lang="zh-CN" altLang="en-US" sz="1100" b="1" dirty="0">
                    <a:solidFill>
                      <a:prstClr val="black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仓颉</a:t>
                </a:r>
              </a:p>
            </p:txBody>
          </p:sp>
          <p:pic>
            <p:nvPicPr>
              <p:cNvPr id="19" name="v4_s3_id19">
                <a:extLst>
                  <a:ext uri="{FF2B5EF4-FFF2-40B4-BE49-F238E27FC236}">
                    <a16:creationId xmlns:a16="http://schemas.microsoft.com/office/drawing/2014/main" id="{86CABE53-DB85-4B0C-917E-1C018160BA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3400" y="6540"/>
                <a:ext cx="1053" cy="1134"/>
              </a:xfrm>
              <a:prstGeom prst="rect">
                <a:avLst/>
              </a:prstGeom>
            </p:spPr>
          </p:pic>
        </p:grpSp>
        <p:grpSp>
          <p:nvGrpSpPr>
            <p:cNvPr id="7" name="组合 63">
              <a:extLst>
                <a:ext uri="{FF2B5EF4-FFF2-40B4-BE49-F238E27FC236}">
                  <a16:creationId xmlns:a16="http://schemas.microsoft.com/office/drawing/2014/main" id="{9D3D03EB-318A-493B-BF24-C4DCF4E9099B}"/>
                </a:ext>
              </a:extLst>
            </p:cNvPr>
            <p:cNvGrpSpPr/>
            <p:nvPr/>
          </p:nvGrpSpPr>
          <p:grpSpPr>
            <a:xfrm>
              <a:off x="14958378" y="4446905"/>
              <a:ext cx="2992755" cy="906780"/>
              <a:chOff x="22566" y="7469"/>
              <a:chExt cx="4713" cy="1428"/>
            </a:xfrm>
          </p:grpSpPr>
          <p:sp>
            <p:nvSpPr>
              <p:cNvPr id="16" name="v4_s3_id16">
                <a:extLst>
                  <a:ext uri="{FF2B5EF4-FFF2-40B4-BE49-F238E27FC236}">
                    <a16:creationId xmlns:a16="http://schemas.microsoft.com/office/drawing/2014/main" id="{CE99D45B-CF22-4CDA-AABB-0D0CB1ED335C}"/>
                  </a:ext>
                </a:extLst>
              </p:cNvPr>
              <p:cNvSpPr txBox="1"/>
              <p:nvPr/>
            </p:nvSpPr>
            <p:spPr>
              <a:xfrm>
                <a:off x="23804" y="7469"/>
                <a:ext cx="3475" cy="1261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/>
              <a:p>
                <a:pPr defTabSz="914400">
                  <a:lnSpc>
                    <a:spcPts val="3440"/>
                  </a:lnSpc>
                </a:pPr>
                <a:r>
                  <a:rPr lang="zh-CN" altLang="en-US" sz="1100" b="1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自动</a:t>
                </a:r>
                <a:r>
                  <a:rPr lang="zh-CN" altLang="en-US" sz="1100" b="1" dirty="0">
                    <a:solidFill>
                      <a:srgbClr val="1D1D1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内存管理</a:t>
                </a:r>
              </a:p>
            </p:txBody>
          </p:sp>
          <p:pic>
            <p:nvPicPr>
              <p:cNvPr id="17" name="v4_s3_id17">
                <a:extLst>
                  <a:ext uri="{FF2B5EF4-FFF2-40B4-BE49-F238E27FC236}">
                    <a16:creationId xmlns:a16="http://schemas.microsoft.com/office/drawing/2014/main" id="{63C66F26-B423-4F89-865A-38EFAC8997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2566" y="7763"/>
                <a:ext cx="1134" cy="1134"/>
              </a:xfrm>
              <a:prstGeom prst="rect">
                <a:avLst/>
              </a:prstGeom>
            </p:spPr>
          </p:pic>
        </p:grpSp>
        <p:grpSp>
          <p:nvGrpSpPr>
            <p:cNvPr id="8" name="组合 65">
              <a:extLst>
                <a:ext uri="{FF2B5EF4-FFF2-40B4-BE49-F238E27FC236}">
                  <a16:creationId xmlns:a16="http://schemas.microsoft.com/office/drawing/2014/main" id="{EBA4620B-757F-43A2-AD5F-893FB966E020}"/>
                </a:ext>
              </a:extLst>
            </p:cNvPr>
            <p:cNvGrpSpPr/>
            <p:nvPr/>
          </p:nvGrpSpPr>
          <p:grpSpPr>
            <a:xfrm>
              <a:off x="14958060" y="5441315"/>
              <a:ext cx="2874645" cy="870585"/>
              <a:chOff x="23406" y="8926"/>
              <a:chExt cx="4527" cy="1371"/>
            </a:xfrm>
          </p:grpSpPr>
          <p:sp>
            <p:nvSpPr>
              <p:cNvPr id="14" name="v4_s3_id14">
                <a:extLst>
                  <a:ext uri="{FF2B5EF4-FFF2-40B4-BE49-F238E27FC236}">
                    <a16:creationId xmlns:a16="http://schemas.microsoft.com/office/drawing/2014/main" id="{5D48B9E1-0FB6-417D-83B7-694836DE8EE0}"/>
                  </a:ext>
                </a:extLst>
              </p:cNvPr>
              <p:cNvSpPr txBox="1"/>
              <p:nvPr/>
            </p:nvSpPr>
            <p:spPr>
              <a:xfrm>
                <a:off x="24693" y="8926"/>
                <a:ext cx="3240" cy="1261"/>
              </a:xfrm>
              <a:prstGeom prst="rect">
                <a:avLst/>
              </a:prstGeom>
              <a:noFill/>
            </p:spPr>
            <p:txBody>
              <a:bodyPr vert="horz" wrap="square" rtlCol="0">
                <a:spAutoFit/>
              </a:bodyPr>
              <a:lstStyle/>
              <a:p>
                <a:pPr defTabSz="914400">
                  <a:lnSpc>
                    <a:spcPts val="3440"/>
                  </a:lnSpc>
                </a:pPr>
                <a:r>
                  <a:rPr lang="zh-CN" altLang="en-US" sz="1100" b="1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静态</a:t>
                </a:r>
                <a:r>
                  <a:rPr lang="zh-CN" altLang="en-US" sz="1100" b="1" dirty="0">
                    <a:solidFill>
                      <a:srgbClr val="1D1D1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类型</a:t>
                </a:r>
              </a:p>
            </p:txBody>
          </p:sp>
          <p:pic>
            <p:nvPicPr>
              <p:cNvPr id="15" name="v4_s3_id15">
                <a:extLst>
                  <a:ext uri="{FF2B5EF4-FFF2-40B4-BE49-F238E27FC236}">
                    <a16:creationId xmlns:a16="http://schemas.microsoft.com/office/drawing/2014/main" id="{4A677DD0-3069-4F29-8E31-84F4F4FC8B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406" y="9163"/>
                <a:ext cx="1134" cy="1134"/>
              </a:xfrm>
              <a:prstGeom prst="rect">
                <a:avLst/>
              </a:prstGeom>
            </p:spPr>
          </p:pic>
        </p:grpSp>
        <p:grpSp>
          <p:nvGrpSpPr>
            <p:cNvPr id="9" name="组合 67">
              <a:extLst>
                <a:ext uri="{FF2B5EF4-FFF2-40B4-BE49-F238E27FC236}">
                  <a16:creationId xmlns:a16="http://schemas.microsoft.com/office/drawing/2014/main" id="{862F7A3A-1640-4EE8-91D3-68CBF0C6482A}"/>
                </a:ext>
              </a:extLst>
            </p:cNvPr>
            <p:cNvGrpSpPr/>
            <p:nvPr/>
          </p:nvGrpSpPr>
          <p:grpSpPr>
            <a:xfrm>
              <a:off x="14958060" y="6445271"/>
              <a:ext cx="3006090" cy="824762"/>
              <a:chOff x="23406" y="10560"/>
              <a:chExt cx="4734" cy="1299"/>
            </a:xfrm>
          </p:grpSpPr>
          <p:sp>
            <p:nvSpPr>
              <p:cNvPr id="12" name="v4_s3_id12">
                <a:extLst>
                  <a:ext uri="{FF2B5EF4-FFF2-40B4-BE49-F238E27FC236}">
                    <a16:creationId xmlns:a16="http://schemas.microsoft.com/office/drawing/2014/main" id="{D01444E9-B6BB-41BA-96D0-8D792A33828D}"/>
                  </a:ext>
                </a:extLst>
              </p:cNvPr>
              <p:cNvSpPr txBox="1"/>
              <p:nvPr/>
            </p:nvSpPr>
            <p:spPr>
              <a:xfrm>
                <a:off x="24540" y="10560"/>
                <a:ext cx="3600" cy="887"/>
              </a:xfrm>
              <a:prstGeom prst="rect">
                <a:avLst/>
              </a:prstGeom>
              <a:noFill/>
            </p:spPr>
            <p:txBody>
              <a:bodyPr vert="horz" wrap="square" rtlCol="0">
                <a:noAutofit/>
              </a:bodyPr>
              <a:lstStyle/>
              <a:p>
                <a:pPr defTabSz="914400">
                  <a:lnSpc>
                    <a:spcPts val="3440"/>
                  </a:lnSpc>
                </a:pPr>
                <a:r>
                  <a:rPr lang="zh-CN" altLang="en-US" sz="1100" b="1" dirty="0">
                    <a:solidFill>
                      <a:srgbClr val="1D1D1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面向</a:t>
                </a:r>
                <a:r>
                  <a:rPr lang="zh-CN" altLang="en-US" sz="1100" b="1" dirty="0">
                    <a:solidFill>
                      <a:srgbClr val="C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应用</a:t>
                </a:r>
                <a:r>
                  <a:rPr lang="zh-CN" altLang="en-US" sz="1100" b="1" dirty="0">
                    <a:solidFill>
                      <a:srgbClr val="1D1D1A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开发</a:t>
                </a:r>
              </a:p>
            </p:txBody>
          </p:sp>
          <p:pic>
            <p:nvPicPr>
              <p:cNvPr id="13" name="v4_s3_id13">
                <a:extLst>
                  <a:ext uri="{FF2B5EF4-FFF2-40B4-BE49-F238E27FC236}">
                    <a16:creationId xmlns:a16="http://schemas.microsoft.com/office/drawing/2014/main" id="{C2D342BF-E178-4DB8-AFBE-046E19EC151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23406" y="10725"/>
                <a:ext cx="1134" cy="1134"/>
              </a:xfrm>
              <a:prstGeom prst="rect">
                <a:avLst/>
              </a:prstGeom>
            </p:spPr>
          </p:pic>
        </p:grpSp>
        <p:sp>
          <p:nvSpPr>
            <p:cNvPr id="10" name="v4_s3_id10">
              <a:extLst>
                <a:ext uri="{FF2B5EF4-FFF2-40B4-BE49-F238E27FC236}">
                  <a16:creationId xmlns:a16="http://schemas.microsoft.com/office/drawing/2014/main" id="{D470DEFF-4AAB-4848-8712-A141B1D05212}"/>
                </a:ext>
              </a:extLst>
            </p:cNvPr>
            <p:cNvSpPr/>
            <p:nvPr/>
          </p:nvSpPr>
          <p:spPr>
            <a:xfrm>
              <a:off x="9582785" y="1611630"/>
              <a:ext cx="3175565" cy="611504"/>
            </a:xfrm>
            <a:prstGeom prst="flowChartAlternateProcess">
              <a:avLst/>
            </a:prstGeom>
            <a:solidFill>
              <a:srgbClr val="E5EBE2"/>
            </a:solidFill>
            <a:ln w="25400" cap="flat" cmpd="sng" algn="ctr">
              <a:solidFill>
                <a:srgbClr val="23503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类型：动态 </a:t>
              </a:r>
              <a:r>
                <a:rPr kumimoji="0" lang="en-US" altLang="zh-CN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Wingdings" panose="05000000000000000000" pitchFamily="2" charset="2"/>
                </a:rPr>
                <a:t> </a:t>
              </a:r>
              <a:r>
                <a:rPr kumimoji="0" lang="zh-CN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Wingdings" panose="05000000000000000000" pitchFamily="2" charset="2"/>
                </a:rPr>
                <a:t>静态</a:t>
              </a:r>
            </a:p>
          </p:txBody>
        </p:sp>
        <p:sp>
          <p:nvSpPr>
            <p:cNvPr id="11" name="v4_s3_id11">
              <a:extLst>
                <a:ext uri="{FF2B5EF4-FFF2-40B4-BE49-F238E27FC236}">
                  <a16:creationId xmlns:a16="http://schemas.microsoft.com/office/drawing/2014/main" id="{12911A63-A344-4F4A-B336-1D238275E9F1}"/>
                </a:ext>
              </a:extLst>
            </p:cNvPr>
            <p:cNvSpPr/>
            <p:nvPr/>
          </p:nvSpPr>
          <p:spPr>
            <a:xfrm>
              <a:off x="11218546" y="4107180"/>
              <a:ext cx="3634466" cy="611504"/>
            </a:xfrm>
            <a:prstGeom prst="flowChartAlternateProcess">
              <a:avLst/>
            </a:prstGeom>
            <a:solidFill>
              <a:srgbClr val="E5EBE2"/>
            </a:solidFill>
            <a:ln w="25400" cap="flat" cmpd="sng" algn="ctr">
              <a:solidFill>
                <a:srgbClr val="235031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+mn-ea"/>
                </a:rPr>
                <a:t>内存管理：动态 </a:t>
              </a:r>
              <a:r>
                <a:rPr kumimoji="0" lang="en-US" altLang="zh-CN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Wingdings" panose="05000000000000000000" pitchFamily="2" charset="2"/>
                </a:rPr>
                <a:t> </a:t>
              </a:r>
              <a:r>
                <a:rPr kumimoji="0" lang="zh-CN" altLang="en-US" sz="1100" b="1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charset="-122"/>
                  <a:ea typeface="微软雅黑" panose="020B0503020204020204" charset="-122"/>
                  <a:cs typeface="+mn-cs"/>
                  <a:sym typeface="Wingdings" panose="05000000000000000000" pitchFamily="2" charset="2"/>
                </a:rPr>
                <a:t>静态</a:t>
              </a:r>
            </a:p>
          </p:txBody>
        </p:sp>
      </p:grpSp>
      <p:sp>
        <p:nvSpPr>
          <p:cNvPr id="60" name="v4_s3_id60">
            <a:extLst>
              <a:ext uri="{FF2B5EF4-FFF2-40B4-BE49-F238E27FC236}">
                <a16:creationId xmlns:a16="http://schemas.microsoft.com/office/drawing/2014/main" id="{8FD6C6C2-B4D7-429C-8404-719076AE7866}"/>
              </a:ext>
            </a:extLst>
          </p:cNvPr>
          <p:cNvSpPr/>
          <p:nvPr/>
        </p:nvSpPr>
        <p:spPr>
          <a:xfrm>
            <a:off x="6923166" y="1738114"/>
            <a:ext cx="4906884" cy="4122359"/>
          </a:xfrm>
          <a:prstGeom prst="rect">
            <a:avLst/>
          </a:prstGeom>
          <a:gradFill>
            <a:gsLst>
              <a:gs pos="100000">
                <a:srgbClr val="FFFFFF">
                  <a:lumMod val="95000"/>
                  <a:alpha val="0"/>
                </a:srgbClr>
              </a:gs>
              <a:gs pos="33000">
                <a:srgbClr val="FFFFFF">
                  <a:lumMod val="95000"/>
                </a:srgbClr>
              </a:gs>
            </a:gsLst>
            <a:lin ang="5400000" scaled="0"/>
          </a:gradFill>
          <a:ln w="6350" cap="flat" cmpd="sng" algn="ctr">
            <a:gradFill>
              <a:gsLst>
                <a:gs pos="0">
                  <a:srgbClr val="666666">
                    <a:lumMod val="40000"/>
                    <a:lumOff val="60000"/>
                  </a:srgbClr>
                </a:gs>
                <a:gs pos="100000">
                  <a:srgbClr val="666666">
                    <a:lumMod val="40000"/>
                    <a:lumOff val="60000"/>
                    <a:alpha val="0"/>
                  </a:srgbClr>
                </a:gs>
              </a:gsLst>
              <a:lin ang="5400000" scaled="0"/>
            </a:gradFill>
            <a:prstDash val="solid"/>
            <a:miter lim="800000"/>
          </a:ln>
          <a:effectLst/>
        </p:spPr>
        <p:txBody>
          <a:bodyPr rot="0" spcFirstLastPara="0" vert="horz" wrap="square" lIns="91440" tIns="45720" rIns="91440" bIns="45720" anchor="ctr">
            <a:noAutofit/>
          </a:bodyPr>
          <a:lstStyle/>
          <a:p>
            <a:pPr defTabSz="9144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200" b="1" dirty="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1、高性能：</a:t>
            </a:r>
            <a:endParaRPr sz="1200" b="1" kern="0" dirty="0">
              <a:solidFill>
                <a:srgbClr val="1D1D1A"/>
              </a:solidFill>
              <a:latin typeface="微软雅黑"/>
              <a:ea typeface="微软雅黑"/>
              <a:cs typeface="微软雅黑"/>
            </a:endParaRPr>
          </a:p>
          <a:p>
            <a:pPr defTabSz="9144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200" dirty="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    </a:t>
            </a:r>
            <a:r>
              <a:rPr sz="1200" dirty="0" err="1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全栈编译优化</a:t>
            </a:r>
            <a:r>
              <a:rPr sz="1200" dirty="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 ： CHIR + LLVM IR + Runtime </a:t>
            </a:r>
            <a:r>
              <a:rPr sz="1200" dirty="0" err="1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垂直整合优化</a:t>
            </a:r>
            <a:r>
              <a:rPr sz="1200" dirty="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；   </a:t>
            </a:r>
            <a:endParaRPr sz="1200" kern="0" dirty="0">
              <a:solidFill>
                <a:srgbClr val="1D1D1A"/>
              </a:solidFill>
              <a:latin typeface="微软雅黑"/>
              <a:ea typeface="微软雅黑"/>
              <a:cs typeface="微软雅黑"/>
            </a:endParaRPr>
          </a:p>
          <a:p>
            <a:pPr defTabSz="9144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200" dirty="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    </a:t>
            </a:r>
            <a:r>
              <a:rPr sz="1200" dirty="0" err="1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全并发GC：无STW的全并发GC</a:t>
            </a:r>
            <a:r>
              <a:rPr sz="1200" dirty="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；</a:t>
            </a:r>
            <a:endParaRPr sz="1200" kern="0" dirty="0">
              <a:solidFill>
                <a:srgbClr val="1D1D1A"/>
              </a:solidFill>
              <a:latin typeface="微软雅黑"/>
              <a:ea typeface="微软雅黑"/>
              <a:cs typeface="微软雅黑"/>
            </a:endParaRPr>
          </a:p>
          <a:p>
            <a:pPr defTabSz="9144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200" dirty="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    </a:t>
            </a:r>
            <a:r>
              <a:rPr sz="1200" dirty="0" err="1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用户态线程：用户态高性能并发</a:t>
            </a:r>
            <a:endParaRPr sz="1200" kern="0" dirty="0">
              <a:solidFill>
                <a:srgbClr val="1D1D1A"/>
              </a:solidFill>
              <a:latin typeface="微软雅黑"/>
              <a:ea typeface="微软雅黑"/>
              <a:cs typeface="微软雅黑"/>
            </a:endParaRPr>
          </a:p>
          <a:p>
            <a:pPr defTabSz="9144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200" b="1" dirty="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2、</a:t>
            </a:r>
            <a:r>
              <a:rPr lang="en-US" sz="1200" b="1" dirty="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全场景</a:t>
            </a:r>
            <a:r>
              <a:rPr sz="1200" b="1" dirty="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：</a:t>
            </a:r>
            <a:endParaRPr sz="1200" b="1" kern="0" dirty="0">
              <a:solidFill>
                <a:srgbClr val="1D1D1A"/>
              </a:solidFill>
              <a:latin typeface="微软雅黑"/>
              <a:ea typeface="微软雅黑"/>
              <a:cs typeface="微软雅黑"/>
            </a:endParaRPr>
          </a:p>
          <a:p>
            <a:pPr defTabSz="9144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200" dirty="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    </a:t>
            </a:r>
            <a:r>
              <a:rPr sz="1200" dirty="0" err="1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支持Windows</a:t>
            </a:r>
            <a:r>
              <a:rPr lang="zh-CN" altLang="en-US" sz="1200" dirty="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1200" dirty="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Linux</a:t>
            </a:r>
            <a:r>
              <a:rPr lang="zh-CN" altLang="en-US" sz="1200" dirty="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1200" dirty="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macOS</a:t>
            </a:r>
            <a:r>
              <a:rPr lang="zh-CN" altLang="en-US" sz="1200" dirty="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、鸿蒙、</a:t>
            </a:r>
            <a:r>
              <a:rPr lang="en-US" altLang="zh-CN" sz="1200" dirty="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Android</a:t>
            </a:r>
            <a:r>
              <a:rPr lang="zh-CN" altLang="en-US" sz="1200" dirty="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lang="en-US" altLang="zh-CN" sz="1200" dirty="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iOS</a:t>
            </a:r>
            <a:endParaRPr sz="1200" kern="0" dirty="0">
              <a:solidFill>
                <a:srgbClr val="1D1D1A"/>
              </a:solidFill>
              <a:latin typeface="微软雅黑"/>
              <a:ea typeface="微软雅黑"/>
              <a:cs typeface="微软雅黑"/>
            </a:endParaRPr>
          </a:p>
          <a:p>
            <a:pPr defTabSz="9144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200" b="1" dirty="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3、强安全：</a:t>
            </a:r>
            <a:endParaRPr sz="1200" b="1" kern="0" dirty="0">
              <a:solidFill>
                <a:srgbClr val="1D1D1A"/>
              </a:solidFill>
              <a:latin typeface="微软雅黑"/>
              <a:ea typeface="微软雅黑"/>
              <a:cs typeface="微软雅黑"/>
            </a:endParaRPr>
          </a:p>
          <a:p>
            <a:pPr defTabSz="9144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200" dirty="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    </a:t>
            </a:r>
            <a:r>
              <a:rPr sz="1200" dirty="0" err="1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静态强类型：编译期静态类型检查</a:t>
            </a:r>
            <a:endParaRPr sz="1200" kern="0" dirty="0">
              <a:solidFill>
                <a:srgbClr val="1D1D1A"/>
              </a:solidFill>
              <a:latin typeface="微软雅黑"/>
              <a:ea typeface="微软雅黑"/>
              <a:cs typeface="微软雅黑"/>
            </a:endParaRPr>
          </a:p>
          <a:p>
            <a:pPr defTabSz="9144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200" dirty="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    </a:t>
            </a:r>
            <a:r>
              <a:rPr sz="1200" dirty="0" err="1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自动内存管理：GC</a:t>
            </a:r>
            <a:r>
              <a:rPr sz="1200" dirty="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dirty="0" err="1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管理托管对象生命周期，减少手动释放风险</a:t>
            </a:r>
            <a:endParaRPr sz="1200" dirty="0">
              <a:solidFill>
                <a:srgbClr val="1D1D1A"/>
              </a:solidFill>
              <a:latin typeface="微软雅黑"/>
              <a:ea typeface="微软雅黑"/>
              <a:cs typeface="微软雅黑"/>
            </a:endParaRPr>
          </a:p>
          <a:p>
            <a:pPr defTabSz="9144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200" dirty="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    </a:t>
            </a:r>
            <a:r>
              <a:rPr sz="1200" dirty="0" err="1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语言安全：空安全，运算安全，默认不可变等</a:t>
            </a:r>
            <a:endParaRPr sz="1200" dirty="0">
              <a:solidFill>
                <a:srgbClr val="1D1D1A"/>
              </a:solidFill>
              <a:latin typeface="微软雅黑"/>
              <a:ea typeface="微软雅黑"/>
              <a:cs typeface="微软雅黑"/>
            </a:endParaRPr>
          </a:p>
          <a:p>
            <a:pPr defTabSz="9144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sz="1200" dirty="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4、智能化：Agent </a:t>
            </a:r>
            <a:r>
              <a:rPr sz="1200" dirty="0" err="1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编程范式（Magic</a:t>
            </a:r>
            <a:r>
              <a:rPr sz="1200" dirty="0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200" dirty="0" err="1">
                <a:solidFill>
                  <a:srgbClr val="1D1D1A"/>
                </a:solidFill>
                <a:latin typeface="微软雅黑"/>
                <a:ea typeface="微软雅黑"/>
                <a:cs typeface="微软雅黑"/>
              </a:rPr>
              <a:t>DSL）等</a:t>
            </a:r>
            <a:endParaRPr sz="1200" kern="0" dirty="0">
              <a:solidFill>
                <a:srgbClr val="1D1D1A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61" name="图片 60">
            <a:extLst>
              <a:ext uri="{FF2B5EF4-FFF2-40B4-BE49-F238E27FC236}">
                <a16:creationId xmlns:a16="http://schemas.microsoft.com/office/drawing/2014/main" id="{647AE800-6F7F-D824-E128-36D9EC40B859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366" t="13922"/>
          <a:stretch>
            <a:fillRect/>
          </a:stretch>
        </p:blipFill>
        <p:spPr>
          <a:xfrm>
            <a:off x="6923166" y="261619"/>
            <a:ext cx="4906884" cy="1332725"/>
          </a:xfrm>
          <a:prstGeom prst="rect">
            <a:avLst/>
          </a:prstGeom>
        </p:spPr>
      </p:pic>
      <p:sp>
        <p:nvSpPr>
          <p:cNvPr id="62" name="left_heading">
            <a:extLst>
              <a:ext uri="{FF2B5EF4-FFF2-40B4-BE49-F238E27FC236}">
                <a16:creationId xmlns:a16="http://schemas.microsoft.com/office/drawing/2014/main" id="{882331CA-F44B-7BD4-B9E7-A514956785D8}"/>
              </a:ext>
            </a:extLst>
          </p:cNvPr>
          <p:cNvSpPr>
            <a:spLocks noGrp="1"/>
          </p:cNvSpPr>
          <p:nvPr/>
        </p:nvSpPr>
        <p:spPr>
          <a:xfrm>
            <a:off x="323850" y="847725"/>
            <a:ext cx="5524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r>
              <a:rPr lang="en-US" sz="1875" b="1">
                <a:solidFill>
                  <a:srgbClr val="285EA8"/>
                </a:solidFill>
                <a:latin typeface="微软雅黑"/>
                <a:ea typeface="微软雅黑"/>
              </a:rPr>
              <a:t>以静态强类型与自动内存管理构筑安全基础</a:t>
            </a:r>
            <a:endParaRPr sz="1875" b="1" dirty="0">
              <a:solidFill>
                <a:srgbClr val="285EA8"/>
              </a:solidFill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92686925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in" filter="fade">
                                      <p:cBhvr>
                                        <p:cTn id="6" dur="350" fill="hold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v4_s3_id2">
            <a:extLst>
              <a:ext uri="{FF2B5EF4-FFF2-40B4-BE49-F238E27FC236}">
                <a16:creationId xmlns:a16="http://schemas.microsoft.com/office/drawing/2014/main" id="{9378F163-11E3-4CE5-BF1B-745030EFC73A}"/>
              </a:ext>
            </a:extLst>
          </p:cNvPr>
          <p:cNvSpPr>
            <a:spLocks noGrp="1"/>
          </p:cNvSpPr>
          <p:nvPr/>
        </p:nvSpPr>
        <p:spPr>
          <a:xfrm>
            <a:off x="361950" y="228600"/>
            <a:ext cx="11430000" cy="571500"/>
          </a:xfrm>
          <a:prstGeom prst="rect">
            <a:avLst/>
          </a:prstGeom>
          <a:noFill/>
          <a:ln w="9525">
            <a:noFill/>
          </a:ln>
        </p:spPr>
        <p:txBody>
          <a:bodyPr vert="horz" lIns="0" tIns="0" rIns="0" bIns="0" anchor="t">
            <a:noAutofit/>
          </a:bodyPr>
          <a:lstStyle>
            <a:lvl1pPr marL="0" indent="0" algn="l" defTabSz="1067805">
              <a:spcBef>
                <a:spcPct val="0"/>
              </a:spcBef>
              <a:spcAft>
                <a:spcPct val="0"/>
              </a:spcAft>
              <a:buFont typeface="Arial"/>
              <a:buNone/>
              <a:defRPr sz="2798" b="1" baseline="0">
                <a:solidFill>
                  <a:srgbClr val="99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spcBef>
                <a:spcPct val="0"/>
              </a:spcBef>
              <a:spcAft>
                <a:spcPct val="0"/>
              </a:spcAft>
              <a:buNone/>
              <a:defRPr sz="3047" b="1">
                <a:solidFill>
                  <a:srgbClr val="990000"/>
                </a:solidFill>
                <a:latin typeface="黑体"/>
                <a:ea typeface="黑体"/>
                <a:cs typeface="黑体"/>
              </a:defRPr>
            </a:lvl2pPr>
            <a:lvl3pPr algn="l">
              <a:spcBef>
                <a:spcPct val="0"/>
              </a:spcBef>
              <a:spcAft>
                <a:spcPct val="0"/>
              </a:spcAft>
              <a:buNone/>
              <a:defRPr sz="3047" b="1">
                <a:solidFill>
                  <a:srgbClr val="990000"/>
                </a:solidFill>
                <a:latin typeface="黑体"/>
                <a:ea typeface="黑体"/>
                <a:cs typeface="黑体"/>
              </a:defRPr>
            </a:lvl3pPr>
            <a:lvl4pPr algn="l">
              <a:spcBef>
                <a:spcPct val="0"/>
              </a:spcBef>
              <a:spcAft>
                <a:spcPct val="0"/>
              </a:spcAft>
              <a:buNone/>
              <a:defRPr sz="3047" b="1">
                <a:solidFill>
                  <a:srgbClr val="990000"/>
                </a:solidFill>
                <a:latin typeface="黑体"/>
                <a:ea typeface="黑体"/>
                <a:cs typeface="黑体"/>
              </a:defRPr>
            </a:lvl4pPr>
            <a:lvl5pPr algn="l">
              <a:spcBef>
                <a:spcPct val="0"/>
              </a:spcBef>
              <a:spcAft>
                <a:spcPct val="0"/>
              </a:spcAft>
              <a:buNone/>
              <a:defRPr sz="3047" b="1">
                <a:solidFill>
                  <a:srgbClr val="990000"/>
                </a:solidFill>
                <a:latin typeface="黑体"/>
                <a:ea typeface="黑体"/>
                <a:cs typeface="黑体"/>
              </a:defRPr>
            </a:lvl5pPr>
            <a:lvl6pPr marL="435354" algn="l">
              <a:spcBef>
                <a:spcPct val="0"/>
              </a:spcBef>
              <a:spcAft>
                <a:spcPct val="0"/>
              </a:spcAft>
              <a:buNone/>
              <a:defRPr sz="3047" b="1">
                <a:solidFill>
                  <a:srgbClr val="990000"/>
                </a:solidFill>
                <a:latin typeface="FrutigerNext LT Medium"/>
                <a:ea typeface="FrutigerNext LT Medium"/>
                <a:cs typeface="FrutigerNext LT Medium"/>
              </a:defRPr>
            </a:lvl6pPr>
            <a:lvl7pPr marL="870709" algn="l">
              <a:spcBef>
                <a:spcPct val="0"/>
              </a:spcBef>
              <a:spcAft>
                <a:spcPct val="0"/>
              </a:spcAft>
              <a:buNone/>
              <a:defRPr sz="3047" b="1">
                <a:solidFill>
                  <a:srgbClr val="990000"/>
                </a:solidFill>
                <a:latin typeface="FrutigerNext LT Medium"/>
                <a:ea typeface="FrutigerNext LT Medium"/>
                <a:cs typeface="FrutigerNext LT Medium"/>
              </a:defRPr>
            </a:lvl7pPr>
            <a:lvl8pPr marL="1306063" algn="l">
              <a:spcBef>
                <a:spcPct val="0"/>
              </a:spcBef>
              <a:spcAft>
                <a:spcPct val="0"/>
              </a:spcAft>
              <a:buNone/>
              <a:defRPr sz="3047" b="1">
                <a:solidFill>
                  <a:srgbClr val="990000"/>
                </a:solidFill>
                <a:latin typeface="FrutigerNext LT Medium"/>
                <a:ea typeface="FrutigerNext LT Medium"/>
                <a:cs typeface="FrutigerNext LT Medium"/>
              </a:defRPr>
            </a:lvl8pPr>
            <a:lvl9pPr marL="1741418" algn="l">
              <a:spcBef>
                <a:spcPct val="0"/>
              </a:spcBef>
              <a:spcAft>
                <a:spcPct val="0"/>
              </a:spcAft>
              <a:buNone/>
              <a:defRPr sz="3047" b="1">
                <a:solidFill>
                  <a:srgbClr val="990000"/>
                </a:solidFill>
                <a:latin typeface="FrutigerNext LT Medium"/>
                <a:ea typeface="FrutigerNext LT Medium"/>
                <a:cs typeface="FrutigerNext LT Medium"/>
              </a:defRPr>
            </a:lvl9pPr>
          </a:lstStyle>
          <a:p>
            <a:pPr marL="0" marR="0" lvl="0" indent="0" algn="l" defTabSz="1218468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None/>
              <a:defRPr sz="2550" b="1">
                <a:solidFill>
                  <a:srgbClr val="285EA8"/>
                </a:solidFill>
                <a:latin typeface="微软雅黑"/>
                <a:ea typeface="微软雅黑"/>
                <a:cs typeface="微软雅黑"/>
              </a:defRPr>
            </a:pPr>
            <a:endParaRPr sz="2400" b="1" i="0" u="none" kern="1200" cap="none" spc="0" baseline="0">
              <a:ln>
                <a:noFill/>
              </a:ln>
              <a:solidFill>
                <a:srgbClr val="C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11" name="new_title">
            <a:extLst>
              <a:ext uri="{FF2B5EF4-FFF2-40B4-BE49-F238E27FC236}">
                <a16:creationId xmlns:a16="http://schemas.microsoft.com/office/drawing/2014/main" id="{2EDF6D64-8196-47DA-AD88-7CA4CF101331}"/>
              </a:ext>
            </a:extLst>
          </p:cNvPr>
          <p:cNvSpPr>
            <a:spLocks noGrp="1"/>
          </p:cNvSpPr>
          <p:nvPr/>
        </p:nvSpPr>
        <p:spPr>
          <a:xfrm>
            <a:off x="361950" y="228600"/>
            <a:ext cx="114300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255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zh-CN" sz="2550" b="1" dirty="0">
                <a:solidFill>
                  <a:srgbClr val="000000"/>
                </a:solidFill>
                <a:latin typeface="微软雅黑"/>
              </a:rPr>
              <a:t>仓颉安全能力：从语言机制到应用防护</a:t>
            </a:r>
            <a:endParaRPr sz="2550" b="1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12" name="left_heading">
            <a:extLst>
              <a:ext uri="{FF2B5EF4-FFF2-40B4-BE49-F238E27FC236}">
                <a16:creationId xmlns:a16="http://schemas.microsoft.com/office/drawing/2014/main" id="{752C5532-336F-4D95-8CDC-B4E01ABCE737}"/>
              </a:ext>
            </a:extLst>
          </p:cNvPr>
          <p:cNvSpPr>
            <a:spLocks noGrp="1"/>
          </p:cNvSpPr>
          <p:nvPr/>
        </p:nvSpPr>
        <p:spPr>
          <a:xfrm>
            <a:off x="323850" y="847725"/>
            <a:ext cx="55245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r>
              <a:rPr sz="1875" b="1" dirty="0" err="1">
                <a:solidFill>
                  <a:srgbClr val="285EA8"/>
                </a:solidFill>
                <a:latin typeface="微软雅黑"/>
                <a:ea typeface="微软雅黑"/>
              </a:rPr>
              <a:t>语言自身安全</a:t>
            </a:r>
            <a:endParaRPr sz="1875" b="1" dirty="0">
              <a:solidFill>
                <a:srgbClr val="285EA8"/>
              </a:solidFill>
              <a:latin typeface="微软雅黑"/>
              <a:ea typeface="微软雅黑"/>
            </a:endParaRPr>
          </a:p>
        </p:txBody>
      </p:sp>
      <p:sp>
        <p:nvSpPr>
          <p:cNvPr id="513" name="right_heading">
            <a:extLst>
              <a:ext uri="{FF2B5EF4-FFF2-40B4-BE49-F238E27FC236}">
                <a16:creationId xmlns:a16="http://schemas.microsoft.com/office/drawing/2014/main" id="{97839110-EC52-45B5-993B-5CED4EFFA02F}"/>
              </a:ext>
            </a:extLst>
          </p:cNvPr>
          <p:cNvSpPr>
            <a:spLocks noGrp="1"/>
          </p:cNvSpPr>
          <p:nvPr/>
        </p:nvSpPr>
        <p:spPr>
          <a:xfrm>
            <a:off x="6162675" y="847725"/>
            <a:ext cx="561975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r>
              <a:rPr sz="1875" b="1" dirty="0" err="1">
                <a:solidFill>
                  <a:srgbClr val="285EA8"/>
                </a:solidFill>
                <a:latin typeface="微软雅黑"/>
                <a:ea typeface="微软雅黑"/>
              </a:rPr>
              <a:t>语言应用安全</a:t>
            </a:r>
            <a:endParaRPr sz="1875" b="1" dirty="0">
              <a:solidFill>
                <a:srgbClr val="285EA8"/>
              </a:solidFill>
              <a:latin typeface="微软雅黑"/>
              <a:ea typeface="微软雅黑"/>
            </a:endParaRPr>
          </a:p>
        </p:txBody>
      </p:sp>
      <p:graphicFrame>
        <p:nvGraphicFramePr>
          <p:cNvPr id="500" name="语言自身安全机制表"/>
          <p:cNvGraphicFramePr/>
          <p:nvPr/>
        </p:nvGraphicFramePr>
        <p:xfrm>
          <a:off x="323850" y="1200150"/>
          <a:ext cx="5695950" cy="5073580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471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类别</a:t>
                      </a:r>
                    </a:p>
                  </a:txBody>
                  <a:tcPr marL="47625" marR="47625" marT="19050" marB="19050" anchor="ctr">
                    <a:solidFill>
                      <a:srgbClr val="285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子项</a:t>
                      </a:r>
                    </a:p>
                  </a:txBody>
                  <a:tcPr marL="47625" marR="47625" marT="19050" marB="19050" anchor="ctr">
                    <a:solidFill>
                      <a:srgbClr val="285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实现机制与适用范围</a:t>
                      </a:r>
                    </a:p>
                  </a:txBody>
                  <a:tcPr marL="47625" marR="47625" marT="19050" marB="19050" anchor="ctr">
                    <a:solidFill>
                      <a:srgbClr val="285E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4715">
                <a:tc rowSpan="4"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内存安全</a:t>
                      </a:r>
                    </a:p>
                  </a:txBody>
                  <a:tcPr marL="47625" marR="47625" marT="19050" marB="1905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数组越界</a:t>
                      </a:r>
                    </a:p>
                  </a:txBody>
                  <a:tcPr marL="47625" marR="47625" marT="19050" marB="19050" anchor="ctr">
                    <a:solidFill>
                      <a:srgbClr val="E0F1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Array / 切片访问检查下标，越界抛异常</a:t>
                      </a:r>
                    </a:p>
                  </a:txBody>
                  <a:tcPr marL="47625" marR="47625" marT="19050" marB="19050" anchor="ctr">
                    <a:solidFill>
                      <a:srgbClr val="E0F1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4715">
                <a:tc vMerge="1"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内存安全</a:t>
                      </a:r>
                    </a:p>
                  </a:txBody>
                  <a:tcPr marL="47625" marR="4762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缓冲区溢出</a:t>
                      </a:r>
                    </a:p>
                  </a:txBody>
                  <a:tcPr marL="47625" marR="47625" marT="19050" marB="19050" anchor="ctr">
                    <a:solidFill>
                      <a:srgbClr val="E0F1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托管数组边界检查，阻止缓冲区越界写入</a:t>
                      </a:r>
                    </a:p>
                  </a:txBody>
                  <a:tcPr marL="47625" marR="47625" marT="19050" marB="19050" anchor="ctr">
                    <a:solidFill>
                      <a:srgbClr val="E0F1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4715">
                <a:tc vMerge="1"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内存安全</a:t>
                      </a:r>
                    </a:p>
                  </a:txBody>
                  <a:tcPr marL="47625" marR="47625" marT="19050" marB="1905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变量初始化</a:t>
                      </a:r>
                    </a:p>
                  </a:txBody>
                  <a:tcPr marL="47625" marR="47625" marT="19050" marB="19050" anchor="ctr">
                    <a:solidFill>
                      <a:srgbClr val="E0F1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编译器检查先初始化后使用及构造初始化</a:t>
                      </a:r>
                    </a:p>
                  </a:txBody>
                  <a:tcPr marL="47625" marR="47625" marT="19050" marB="19050" anchor="ctr">
                    <a:solidFill>
                      <a:srgbClr val="E0F1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4715">
                <a:tc vMerge="1"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内存安全</a:t>
                      </a:r>
                    </a:p>
                  </a:txBody>
                  <a:tcPr marL="47625" marR="4762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空指针、野指针</a:t>
                      </a:r>
                    </a:p>
                  </a:txBody>
                  <a:tcPr marL="47625" marR="47625" marT="19050" marB="19050" anchor="ctr">
                    <a:solidFill>
                      <a:srgbClr val="E0F1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Option 表示空值，GC 管理托管对象生命周期</a:t>
                      </a:r>
                    </a:p>
                  </a:txBody>
                  <a:tcPr marL="47625" marR="47625" marT="19050" marB="19050" anchor="ctr">
                    <a:solidFill>
                      <a:srgbClr val="E0F1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4715">
                <a:tc rowSpan="3"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并发安全</a:t>
                      </a:r>
                    </a:p>
                  </a:txBody>
                  <a:tcPr marL="47625" marR="47625" marT="19050" marB="1905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数据竞争安全</a:t>
                      </a:r>
                    </a:p>
                  </a:txBody>
                  <a:tcPr marL="47625" marR="47625" marT="19050" marB="19050" anchor="ctr">
                    <a:solidFill>
                      <a:srgbClr val="DDE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Atomic、Mutex、</a:t>
                      </a:r>
                      <a:r>
                        <a:rPr sz="1050" b="1">
                          <a:solidFill>
                            <a:srgbClr val="1166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synchronized</a:t>
                      </a:r>
                      <a:r>
                        <a:rPr sz="1050" b="1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保护共享数据</a:t>
                      </a:r>
                    </a:p>
                  </a:txBody>
                  <a:tcPr marL="47625" marR="47625" marT="19050" marB="19050" anchor="ctr">
                    <a:solidFill>
                      <a:srgbClr val="DDE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4715">
                <a:tc vMerge="1"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并发安全</a:t>
                      </a:r>
                    </a:p>
                  </a:txBody>
                  <a:tcPr marL="47625" marR="4762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死锁</a:t>
                      </a:r>
                    </a:p>
                  </a:txBody>
                  <a:tcPr marL="47625" marR="47625" marT="19050" marB="19050" anchor="ctr">
                    <a:solidFill>
                      <a:srgbClr val="DDE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6633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synchronized</a:t>
                      </a:r>
                      <a:r>
                        <a:rPr sz="1050" b="1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自动解锁，可重入 Mutex 支持同线程重入</a:t>
                      </a:r>
                    </a:p>
                  </a:txBody>
                  <a:tcPr marL="47625" marR="47625" marT="19050" marB="19050" anchor="ctr">
                    <a:solidFill>
                      <a:srgbClr val="DDE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4715">
                <a:tc vMerge="1"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并发安全</a:t>
                      </a:r>
                    </a:p>
                  </a:txBody>
                  <a:tcPr marL="47625" marR="47625" marT="19050" marB="1905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轻量级线程调度</a:t>
                      </a:r>
                    </a:p>
                  </a:txBody>
                  <a:tcPr marL="47625" marR="47625" marT="19050" marB="19050" anchor="ctr">
                    <a:solidFill>
                      <a:srgbClr val="E0F1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M:N 映射仓颉线程与 OS 线程，spawn / </a:t>
                      </a:r>
                      <a:r>
                        <a:rPr sz="1050" b="1">
                          <a:solidFill>
                            <a:srgbClr val="185B92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Future</a:t>
                      </a:r>
                      <a:r>
                        <a:rPr sz="1050" b="1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管理任务</a:t>
                      </a:r>
                    </a:p>
                  </a:txBody>
                  <a:tcPr marL="47625" marR="47625" marT="19050" marB="19050" anchor="ctr">
                    <a:solidFill>
                      <a:srgbClr val="E0F1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4715">
                <a:tc rowSpan="4"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运算安全</a:t>
                      </a:r>
                    </a:p>
                  </a:txBody>
                  <a:tcPr marL="47625" marR="4762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除 0</a:t>
                      </a:r>
                    </a:p>
                  </a:txBody>
                  <a:tcPr marL="47625" marR="47625" marT="19050" marB="19050" anchor="ctr">
                    <a:solidFill>
                      <a:srgbClr val="E0F1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整数除零检查并抛异常，浮点遵循 IEEE 754</a:t>
                      </a:r>
                    </a:p>
                  </a:txBody>
                  <a:tcPr marL="47625" marR="47625" marT="19050" marB="19050" anchor="ctr">
                    <a:solidFill>
                      <a:srgbClr val="E0F1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4715">
                <a:tc vMerge="1"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运算安全</a:t>
                      </a:r>
                    </a:p>
                  </a:txBody>
                  <a:tcPr marL="47625" marR="47625" marT="19050" marB="1905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数据溢出</a:t>
                      </a:r>
                    </a:p>
                  </a:txBody>
                  <a:tcPr marL="47625" marR="47625" marT="19050" marB="19050" anchor="ctr">
                    <a:solidFill>
                      <a:srgbClr val="E0F1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整数默认溢出抛异常，可配置回绕或饱和</a:t>
                      </a:r>
                    </a:p>
                  </a:txBody>
                  <a:tcPr marL="47625" marR="47625" marT="19050" marB="19050" anchor="ctr">
                    <a:solidFill>
                      <a:srgbClr val="E0F1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4715">
                <a:tc vMerge="1"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运算安全</a:t>
                      </a:r>
                    </a:p>
                  </a:txBody>
                  <a:tcPr marL="47625" marR="4762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移位检查</a:t>
                      </a:r>
                    </a:p>
                  </a:txBody>
                  <a:tcPr marL="47625" marR="47625" marT="19050" marB="19050" anchor="ctr">
                    <a:solidFill>
                      <a:srgbClr val="E0F1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移位位数为负或超位宽时，报错或抛异常</a:t>
                      </a:r>
                    </a:p>
                  </a:txBody>
                  <a:tcPr marL="47625" marR="47625" marT="19050" marB="19050" anchor="ctr">
                    <a:solidFill>
                      <a:srgbClr val="E0F1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4715">
                <a:tc vMerge="1"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运算安全</a:t>
                      </a:r>
                    </a:p>
                  </a:txBody>
                  <a:tcPr marL="47625" marR="47625" marT="19050" marB="1905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类型转换溢出</a:t>
                      </a:r>
                    </a:p>
                  </a:txBody>
                  <a:tcPr marL="47625" marR="47625" marT="19050" marB="19050" anchor="ctr">
                    <a:solidFill>
                      <a:srgbClr val="E0F1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整数类型转换检查范围，浮点转换遵循 IEEE 754</a:t>
                      </a:r>
                    </a:p>
                  </a:txBody>
                  <a:tcPr marL="47625" marR="47625" marT="19050" marB="19050" anchor="ctr">
                    <a:solidFill>
                      <a:srgbClr val="E0F1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4715">
                <a:tc rowSpan="3"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类型安全</a:t>
                      </a:r>
                    </a:p>
                  </a:txBody>
                  <a:tcPr marL="47625" marR="4762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隐式类型转换</a:t>
                      </a:r>
                    </a:p>
                  </a:txBody>
                  <a:tcPr marL="47625" marR="47625" marT="19050" marB="19050" anchor="ctr">
                    <a:solidFill>
                      <a:srgbClr val="E0F1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静态强类型检查，数值类型转换显式表达</a:t>
                      </a:r>
                    </a:p>
                  </a:txBody>
                  <a:tcPr marL="47625" marR="47625" marT="19050" marB="19050" anchor="ctr">
                    <a:solidFill>
                      <a:srgbClr val="E0F1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4715">
                <a:tc vMerge="1"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类型安全</a:t>
                      </a:r>
                    </a:p>
                  </a:txBody>
                  <a:tcPr marL="47625" marR="47625" marT="19050" marB="1905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数组型变</a:t>
                      </a:r>
                    </a:p>
                  </a:txBody>
                  <a:tcPr marL="47625" marR="47625" marT="19050" marB="19050" anchor="ctr">
                    <a:solidFill>
                      <a:srgbClr val="E0F1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Array&lt;T&gt; 不型变，阻止不兼容元素类型替换</a:t>
                      </a:r>
                    </a:p>
                  </a:txBody>
                  <a:tcPr marL="47625" marR="47625" marT="19050" marB="19050" anchor="ctr">
                    <a:solidFill>
                      <a:srgbClr val="E0F1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4715">
                <a:tc vMerge="1"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类型安全</a:t>
                      </a:r>
                    </a:p>
                  </a:txBody>
                  <a:tcPr marL="47625" marR="4762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类接口访问权限控制</a:t>
                      </a:r>
                    </a:p>
                  </a:txBody>
                  <a:tcPr marL="47625" marR="47625" marT="19050" marB="19050" anchor="ctr">
                    <a:solidFill>
                      <a:srgbClr val="E0F1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编译器检查 private / protected / public 等权限</a:t>
                      </a:r>
                    </a:p>
                  </a:txBody>
                  <a:tcPr marL="47625" marR="47625" marT="19050" marB="19050" anchor="ctr">
                    <a:solidFill>
                      <a:srgbClr val="E0F1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9471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资源安全</a:t>
                      </a:r>
                    </a:p>
                  </a:txBody>
                  <a:tcPr marL="47625" marR="47625" marT="19050" marB="1905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避免资源泄露</a:t>
                      </a:r>
                    </a:p>
                  </a:txBody>
                  <a:tcPr marL="47625" marR="47625" marT="19050" marB="19050" anchor="ctr">
                    <a:solidFill>
                      <a:srgbClr val="E0F1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GC 回收托管内存，try-with-resources 关闭资源</a:t>
                      </a:r>
                    </a:p>
                  </a:txBody>
                  <a:tcPr marL="47625" marR="47625" marT="19050" marB="19050" anchor="ctr">
                    <a:solidFill>
                      <a:srgbClr val="E0F1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94715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异常处理</a:t>
                      </a:r>
                    </a:p>
                  </a:txBody>
                  <a:tcPr marL="47625" marR="4762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dirty="0" err="1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异常处理</a:t>
                      </a:r>
                      <a:endParaRPr sz="1050" dirty="0">
                        <a:solidFill>
                          <a:srgbClr val="172334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47625" marR="47625" marT="19050" marB="19050" anchor="ctr">
                    <a:solidFill>
                      <a:srgbClr val="E0F1E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dirty="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try / catch / finally </a:t>
                      </a:r>
                      <a:r>
                        <a:rPr sz="1050" dirty="0" err="1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捕获异常并执行清理</a:t>
                      </a:r>
                      <a:endParaRPr sz="1050" dirty="0">
                        <a:solidFill>
                          <a:srgbClr val="172334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47625" marR="47625" marT="19050" marB="19050" anchor="ctr">
                    <a:solidFill>
                      <a:srgbClr val="E0F1E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  <p:graphicFrame>
        <p:nvGraphicFramePr>
          <p:cNvPr id="501" name="语言应用安全机制表"/>
          <p:cNvGraphicFramePr/>
          <p:nvPr/>
        </p:nvGraphicFramePr>
        <p:xfrm>
          <a:off x="6162675" y="1200150"/>
          <a:ext cx="5695950" cy="5010156"/>
        </p:xfrm>
        <a:graphic>
          <a:graphicData uri="http://schemas.openxmlformats.org/drawingml/2006/table">
            <a:tbl>
              <a:tblPr/>
              <a:tblGrid>
                <a:gridCol w="666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7513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类别</a:t>
                      </a:r>
                    </a:p>
                  </a:txBody>
                  <a:tcPr marL="47625" marR="47625" marT="19050" marB="19050" anchor="ctr">
                    <a:solidFill>
                      <a:srgbClr val="285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子项</a:t>
                      </a:r>
                    </a:p>
                  </a:txBody>
                  <a:tcPr marL="47625" marR="47625" marT="19050" marB="19050" anchor="ctr">
                    <a:solidFill>
                      <a:srgbClr val="285EA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实现机制与适用范围</a:t>
                      </a:r>
                    </a:p>
                  </a:txBody>
                  <a:tcPr marL="47625" marR="47625" marT="19050" marB="19050" anchor="ctr">
                    <a:solidFill>
                      <a:srgbClr val="285E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513">
                <a:tc rowSpan="5"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安全库</a:t>
                      </a:r>
                    </a:p>
                  </a:txBody>
                  <a:tcPr marL="47625" marR="47625" marT="19050" marB="1905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安全随机数</a:t>
                      </a:r>
                    </a:p>
                  </a:txBody>
                  <a:tcPr marL="47625" marR="47625" marT="19050" marB="19050" anchor="ctr">
                    <a:solidFill>
                      <a:srgbClr val="DDE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crypto 提供 SecureRandom，基于 OpenSSL 安全随机源</a:t>
                      </a:r>
                    </a:p>
                  </a:txBody>
                  <a:tcPr marL="47625" marR="47625" marT="19050" marB="19050" anchor="ctr">
                    <a:solidFill>
                      <a:srgbClr val="DDE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513">
                <a:tc vMerge="1"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安全库</a:t>
                      </a:r>
                    </a:p>
                  </a:txBody>
                  <a:tcPr marL="47625" marR="4762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加解密与数字签名</a:t>
                      </a:r>
                    </a:p>
                  </a:txBody>
                  <a:tcPr marL="47625" marR="47625" marT="19050" marB="19050" anchor="ctr">
                    <a:solidFill>
                      <a:srgbClr val="DDE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crypto / keys 提供 SM4、RSA、SM2 加解密</a:t>
                      </a:r>
                    </a:p>
                    <a:p>
                      <a:r>
                        <a:rPr sz="1125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及 RSA、SM2、ECDSA 签名与验签</a:t>
                      </a:r>
                    </a:p>
                  </a:txBody>
                  <a:tcPr marL="47625" marR="47625" marT="19050" marB="19050" anchor="ctr">
                    <a:solidFill>
                      <a:srgbClr val="DDE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513">
                <a:tc vMerge="1"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安全库</a:t>
                      </a:r>
                    </a:p>
                  </a:txBody>
                  <a:tcPr marL="47625" marR="47625" marT="19050" marB="1905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消息摘要与认证码</a:t>
                      </a:r>
                    </a:p>
                  </a:txBody>
                  <a:tcPr marL="47625" marR="47625" marT="19050" marB="19050" anchor="ctr">
                    <a:solidFill>
                      <a:srgbClr val="DDE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digest 提供 SHA-2、SM3 摘要与 HMAC</a:t>
                      </a:r>
                    </a:p>
                    <a:p>
                      <a:r>
                        <a:rPr sz="1125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支持摘要计算及带密钥的消息完整性验证</a:t>
                      </a:r>
                    </a:p>
                  </a:txBody>
                  <a:tcPr marL="47625" marR="47625" marT="19050" marB="19050" anchor="ctr">
                    <a:solidFill>
                      <a:srgbClr val="DDE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513">
                <a:tc vMerge="1"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安全库</a:t>
                      </a:r>
                    </a:p>
                  </a:txBody>
                  <a:tcPr marL="47625" marR="4762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密钥与数字证书</a:t>
                      </a:r>
                    </a:p>
                  </a:txBody>
                  <a:tcPr marL="47625" marR="47625" marT="19050" marB="19050" anchor="ctr">
                    <a:solidFill>
                      <a:srgbClr val="DDE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keys / x509 支持密钥读写、PKCS8 私钥加密</a:t>
                      </a:r>
                    </a:p>
                    <a:p>
                      <a:r>
                        <a:rPr sz="1125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及 X.509 证书、证书链解析与验证</a:t>
                      </a:r>
                    </a:p>
                  </a:txBody>
                  <a:tcPr marL="47625" marR="47625" marT="19050" marB="19050" anchor="ctr">
                    <a:solidFill>
                      <a:srgbClr val="DDE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7513">
                <a:tc vMerge="1"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安全库</a:t>
                      </a:r>
                    </a:p>
                  </a:txBody>
                  <a:tcPr marL="47625" marR="47625" marT="19050" marB="1905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安全通信与身份认证</a:t>
                      </a:r>
                    </a:p>
                  </a:txBody>
                  <a:tcPr marL="47625" marR="47625" marT="19050" marB="19050" anchor="ctr">
                    <a:solidFill>
                      <a:srgbClr val="DDE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net.tls 提供 TLS 1.2 / 1.3 加密通信</a:t>
                      </a:r>
                    </a:p>
                    <a:p>
                      <a:r>
                        <a:rPr sz="1125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支持证书校验、单向 / 双向认证与会话恢复</a:t>
                      </a:r>
                    </a:p>
                  </a:txBody>
                  <a:tcPr marL="47625" marR="47625" marT="19050" marB="19050" anchor="ctr">
                    <a:solidFill>
                      <a:srgbClr val="DDEC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7513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代码保护</a:t>
                      </a:r>
                    </a:p>
                    <a:p>
                      <a:endParaRPr sz="105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47625" marR="4762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代码混淆与</a:t>
                      </a:r>
                    </a:p>
                    <a:p>
                      <a:r>
                        <a:rPr sz="112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逆向防护</a:t>
                      </a:r>
                    </a:p>
                  </a:txBody>
                  <a:tcPr marL="47625" marR="47625" marT="19050" marB="19050" anchor="ctr">
                    <a:solidFill>
                      <a:srgbClr val="FFF0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名称、字符串、常量、控制流混淆与函数重排</a:t>
                      </a:r>
                    </a:p>
                    <a:p>
                      <a:r>
                        <a:rPr sz="1125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增加静态分析与逆向成本</a:t>
                      </a:r>
                    </a:p>
                  </a:txBody>
                  <a:tcPr marL="47625" marR="47625" marT="19050" marB="19050" anchor="ctr">
                    <a:solidFill>
                      <a:srgbClr val="FFF0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7513">
                <a:tc rowSpan="3"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运行时</a:t>
                      </a:r>
                    </a:p>
                    <a:p>
                      <a:r>
                        <a:rPr sz="105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防护</a:t>
                      </a:r>
                    </a:p>
                  </a:txBody>
                  <a:tcPr marL="47625" marR="47625" marT="19050" marB="1905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内存访问控制技术</a:t>
                      </a:r>
                    </a:p>
                  </a:txBody>
                  <a:tcPr marL="47625" marR="47625" marT="19050" marB="19050" anchor="ctr">
                    <a:solidFill>
                      <a:srgbClr val="FFF0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数组边界检查限制访问，</a:t>
                      </a:r>
                      <a:r>
                        <a:rPr sz="1125" b="1">
                          <a:solidFill>
                            <a:srgbClr val="8055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NX</a:t>
                      </a:r>
                      <a:r>
                        <a:rPr sz="1125" b="1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阻止非执行页执行</a:t>
                      </a:r>
                    </a:p>
                  </a:txBody>
                  <a:tcPr marL="47625" marR="47625" marT="19050" marB="19050" anchor="ctr">
                    <a:solidFill>
                      <a:srgbClr val="FFF0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7513">
                <a:tc vMerge="1"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运行时</a:t>
                      </a:r>
                    </a:p>
                    <a:p>
                      <a:r>
                        <a:rPr sz="105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防护</a:t>
                      </a:r>
                    </a:p>
                  </a:txBody>
                  <a:tcPr marL="47625" marR="4762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地址空间布局随机化</a:t>
                      </a:r>
                    </a:p>
                  </a:txBody>
                  <a:tcPr marL="47625" marR="47625" marT="19050" marB="19050" anchor="ctr">
                    <a:solidFill>
                      <a:srgbClr val="FFF0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PIE / PIC 配合操作系统 </a:t>
                      </a:r>
                      <a:r>
                        <a:rPr sz="1125" b="1">
                          <a:solidFill>
                            <a:srgbClr val="8055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ASLR</a:t>
                      </a:r>
                      <a:r>
                        <a:rPr sz="1125" b="1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，随机化装载地址</a:t>
                      </a:r>
                    </a:p>
                  </a:txBody>
                  <a:tcPr marL="47625" marR="47625" marT="19050" marB="19050" anchor="ctr">
                    <a:solidFill>
                      <a:srgbClr val="FFF0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7513">
                <a:tc vMerge="1">
                  <a:txBody>
                    <a:bodyPr/>
                    <a:lstStyle/>
                    <a:p>
                      <a:r>
                        <a:rPr sz="105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运行时</a:t>
                      </a:r>
                    </a:p>
                    <a:p>
                      <a:r>
                        <a:rPr sz="105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防护</a:t>
                      </a:r>
                    </a:p>
                  </a:txBody>
                  <a:tcPr marL="47625" marR="47625" marT="19050" marB="1905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控制流与只读数据保护</a:t>
                      </a:r>
                    </a:p>
                  </a:txBody>
                  <a:tcPr marL="47625" marR="47625" marT="19050" marB="19050" anchor="ctr">
                    <a:solidFill>
                      <a:srgbClr val="FFF0B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 b="1">
                          <a:solidFill>
                            <a:srgbClr val="805500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PAC 后向 CFI</a:t>
                      </a:r>
                      <a:r>
                        <a:rPr sz="1125" b="1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保护返回地址（OHOS AArch64）</a:t>
                      </a:r>
                    </a:p>
                    <a:p>
                      <a:r>
                        <a:rPr sz="1125" b="1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RELRO 保护重定位只读区</a:t>
                      </a:r>
                    </a:p>
                  </a:txBody>
                  <a:tcPr marL="47625" marR="47625" marT="19050" marB="19050" anchor="ctr">
                    <a:solidFill>
                      <a:srgbClr val="FFF0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7513">
                <a:tc rowSpan="2"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安全编程</a:t>
                      </a:r>
                    </a:p>
                  </a:txBody>
                  <a:tcPr marL="47625" marR="4762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安全编程规范</a:t>
                      </a:r>
                    </a:p>
                  </a:txBody>
                  <a:tcPr marL="47625" marR="47625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仓颉编程规范定义编码、安全与并发使用规则</a:t>
                      </a:r>
                    </a:p>
                  </a:txBody>
                  <a:tcPr marL="47625" marR="47625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17513">
                <a:tc vMerge="1"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安全编程</a:t>
                      </a:r>
                    </a:p>
                  </a:txBody>
                  <a:tcPr marL="47625" marR="47625" marT="19050" marB="1905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静态检查工具</a:t>
                      </a:r>
                    </a:p>
                  </a:txBody>
                  <a:tcPr marL="47625" marR="47625" marT="19050" marB="19050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25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cjlint 根据规则静态分析代码，定位规范与安全问题</a:t>
                      </a:r>
                    </a:p>
                  </a:txBody>
                  <a:tcPr marL="47625" marR="47625" marT="19050" marB="19050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604" name="language_legend">
            <a:extLst>
              <a:ext uri="{FF2B5EF4-FFF2-40B4-BE49-F238E27FC236}">
                <a16:creationId xmlns:a16="http://schemas.microsoft.com/office/drawing/2014/main" id="{559B167C-29F9-4363-A752-F53525CB1961}"/>
              </a:ext>
            </a:extLst>
          </p:cNvPr>
          <p:cNvSpPr>
            <a:spLocks noGrp="1"/>
          </p:cNvSpPr>
          <p:nvPr/>
        </p:nvSpPr>
        <p:spPr>
          <a:xfrm>
            <a:off x="323850" y="6381750"/>
            <a:ext cx="1952625" cy="238125"/>
          </a:xfrm>
          <a:prstGeom prst="rect">
            <a:avLst/>
          </a:prstGeom>
          <a:solidFill>
            <a:srgbClr val="E0F1E5"/>
          </a:solidFill>
          <a:ln w="0">
            <a:noFill/>
          </a:ln>
        </p:spPr>
        <p:txBody>
          <a:bodyPr wrap="none" lIns="76200" tIns="28575" rIns="47625" bIns="0">
            <a:noAutofit/>
          </a:bodyPr>
          <a:lstStyle/>
          <a:p>
            <a:pPr>
              <a:defRPr sz="105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5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语言特性提供的安全能力</a:t>
            </a:r>
          </a:p>
        </p:txBody>
      </p:sp>
      <p:sp>
        <p:nvSpPr>
          <p:cNvPr id="605" name="p5_legend">
            <a:extLst>
              <a:ext uri="{FF2B5EF4-FFF2-40B4-BE49-F238E27FC236}">
                <a16:creationId xmlns:a16="http://schemas.microsoft.com/office/drawing/2014/main" id="{1BCDFAB5-6D7A-458A-B470-0F871CDF1F0F}"/>
              </a:ext>
            </a:extLst>
          </p:cNvPr>
          <p:cNvSpPr>
            <a:spLocks noGrp="1"/>
          </p:cNvSpPr>
          <p:nvPr/>
        </p:nvSpPr>
        <p:spPr>
          <a:xfrm>
            <a:off x="2466975" y="6381750"/>
            <a:ext cx="1952625" cy="238125"/>
          </a:xfrm>
          <a:prstGeom prst="rect">
            <a:avLst/>
          </a:prstGeom>
          <a:solidFill>
            <a:srgbClr val="FFF0BE"/>
          </a:solidFill>
          <a:ln w="0">
            <a:noFill/>
          </a:ln>
        </p:spPr>
        <p:txBody>
          <a:bodyPr wrap="none" lIns="76200" tIns="28575" rIns="47625" bIns="0">
            <a:noAutofit/>
          </a:bodyPr>
          <a:lstStyle/>
          <a:p>
            <a:pPr>
              <a:defRPr sz="105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zh-CN" sz="1050" dirty="0">
                <a:solidFill>
                  <a:srgbClr val="111111"/>
                </a:solidFill>
                <a:latin typeface="微软雅黑"/>
              </a:rPr>
              <a:t>编译与运行时防护能力</a:t>
            </a:r>
            <a:endParaRPr sz="1050" dirty="0">
              <a:solidFill>
                <a:srgbClr val="111111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06" name="library_legend">
            <a:extLst>
              <a:ext uri="{FF2B5EF4-FFF2-40B4-BE49-F238E27FC236}">
                <a16:creationId xmlns:a16="http://schemas.microsoft.com/office/drawing/2014/main" id="{6B5EBBAD-D010-4CDE-87DC-B14BCAC11F70}"/>
              </a:ext>
            </a:extLst>
          </p:cNvPr>
          <p:cNvSpPr>
            <a:spLocks noGrp="1"/>
          </p:cNvSpPr>
          <p:nvPr/>
        </p:nvSpPr>
        <p:spPr>
          <a:xfrm>
            <a:off x="4610100" y="6381750"/>
            <a:ext cx="2143125" cy="238125"/>
          </a:xfrm>
          <a:prstGeom prst="rect">
            <a:avLst/>
          </a:prstGeom>
          <a:solidFill>
            <a:srgbClr val="DDECF9"/>
          </a:solidFill>
          <a:ln w="0">
            <a:noFill/>
          </a:ln>
        </p:spPr>
        <p:txBody>
          <a:bodyPr wrap="none" lIns="76200" tIns="28575" rIns="47625" bIns="0">
            <a:noAutofit/>
          </a:bodyPr>
          <a:lstStyle/>
          <a:p>
            <a:pPr>
              <a:defRPr sz="105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5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语言库提供的安全能力</a:t>
            </a:r>
          </a:p>
        </p:txBody>
      </p:sp>
    </p:spTree>
    <p:extLst>
      <p:ext uri="{BB962C8B-B14F-4D97-AF65-F5344CB8AC3E}">
        <p14:creationId xmlns:p14="http://schemas.microsoft.com/office/powerpoint/2010/main" val="1186677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4_s4_id2">
            <a:extLst>
              <a:ext uri="{FF2B5EF4-FFF2-40B4-BE49-F238E27FC236}">
                <a16:creationId xmlns:a16="http://schemas.microsoft.com/office/drawing/2014/main" id="{296A6712-3E49-4C60-8157-5FFDBD912360}"/>
              </a:ext>
            </a:extLst>
          </p:cNvPr>
          <p:cNvSpPr txBox="1">
            <a:spLocks/>
          </p:cNvSpPr>
          <p:nvPr/>
        </p:nvSpPr>
        <p:spPr bwMode="auto">
          <a:xfrm>
            <a:off x="361950" y="228600"/>
            <a:ext cx="11430000" cy="5715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0" tIns="0" rIns="0" bIns="0" anchor="t">
            <a:noAutofit/>
          </a:bodyPr>
          <a:lstStyle>
            <a:lvl1pPr marL="0" indent="0" algn="l" defTabSz="1067805">
              <a:spcBef>
                <a:spcPct val="0"/>
              </a:spcBef>
              <a:spcAft>
                <a:spcPct val="0"/>
              </a:spcAft>
              <a:buFont typeface="Arial"/>
              <a:buNone/>
              <a:defRPr sz="2798" b="1" baseline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lvl1pPr>
            <a:lvl2pPr algn="l">
              <a:spcBef>
                <a:spcPct val="0"/>
              </a:spcBef>
              <a:spcAft>
                <a:spcPct val="0"/>
              </a:spcAft>
              <a:buNone/>
              <a:defRPr sz="3047" b="1">
                <a:solidFill>
                  <a:srgbClr val="000000"/>
                </a:solidFill>
                <a:latin typeface="黑体"/>
                <a:ea typeface="黑体"/>
                <a:cs typeface="黑体"/>
              </a:defRPr>
            </a:lvl2pPr>
            <a:lvl3pPr algn="l">
              <a:spcBef>
                <a:spcPct val="0"/>
              </a:spcBef>
              <a:spcAft>
                <a:spcPct val="0"/>
              </a:spcAft>
              <a:buNone/>
              <a:defRPr sz="3047" b="1">
                <a:solidFill>
                  <a:srgbClr val="000000"/>
                </a:solidFill>
                <a:latin typeface="黑体"/>
                <a:ea typeface="黑体"/>
                <a:cs typeface="黑体"/>
              </a:defRPr>
            </a:lvl3pPr>
            <a:lvl4pPr algn="l">
              <a:spcBef>
                <a:spcPct val="0"/>
              </a:spcBef>
              <a:spcAft>
                <a:spcPct val="0"/>
              </a:spcAft>
              <a:buNone/>
              <a:defRPr sz="3047" b="1">
                <a:solidFill>
                  <a:srgbClr val="000000"/>
                </a:solidFill>
                <a:latin typeface="黑体"/>
                <a:ea typeface="黑体"/>
                <a:cs typeface="黑体"/>
              </a:defRPr>
            </a:lvl4pPr>
            <a:lvl5pPr algn="l">
              <a:spcBef>
                <a:spcPct val="0"/>
              </a:spcBef>
              <a:spcAft>
                <a:spcPct val="0"/>
              </a:spcAft>
              <a:buNone/>
              <a:defRPr sz="3047" b="1">
                <a:solidFill>
                  <a:srgbClr val="000000"/>
                </a:solidFill>
                <a:latin typeface="黑体"/>
                <a:ea typeface="黑体"/>
                <a:cs typeface="黑体"/>
              </a:defRPr>
            </a:lvl5pPr>
            <a:lvl6pPr marL="435354" algn="l">
              <a:spcBef>
                <a:spcPct val="0"/>
              </a:spcBef>
              <a:spcAft>
                <a:spcPct val="0"/>
              </a:spcAft>
              <a:buNone/>
              <a:defRPr sz="3047" b="1">
                <a:solidFill>
                  <a:srgbClr val="000000"/>
                </a:solidFill>
                <a:latin typeface="FrutigerNext LT Medium"/>
                <a:ea typeface="FrutigerNext LT Medium"/>
                <a:cs typeface="FrutigerNext LT Medium"/>
              </a:defRPr>
            </a:lvl6pPr>
            <a:lvl7pPr marL="870709" algn="l">
              <a:spcBef>
                <a:spcPct val="0"/>
              </a:spcBef>
              <a:spcAft>
                <a:spcPct val="0"/>
              </a:spcAft>
              <a:buNone/>
              <a:defRPr sz="3047" b="1">
                <a:solidFill>
                  <a:srgbClr val="000000"/>
                </a:solidFill>
                <a:latin typeface="FrutigerNext LT Medium"/>
                <a:ea typeface="FrutigerNext LT Medium"/>
                <a:cs typeface="FrutigerNext LT Medium"/>
              </a:defRPr>
            </a:lvl7pPr>
            <a:lvl8pPr marL="1306063" algn="l">
              <a:spcBef>
                <a:spcPct val="0"/>
              </a:spcBef>
              <a:spcAft>
                <a:spcPct val="0"/>
              </a:spcAft>
              <a:buNone/>
              <a:defRPr sz="3047" b="1">
                <a:solidFill>
                  <a:srgbClr val="000000"/>
                </a:solidFill>
                <a:latin typeface="FrutigerNext LT Medium"/>
                <a:ea typeface="FrutigerNext LT Medium"/>
                <a:cs typeface="FrutigerNext LT Medium"/>
              </a:defRPr>
            </a:lvl8pPr>
            <a:lvl9pPr marL="1741418" algn="l">
              <a:spcBef>
                <a:spcPct val="0"/>
              </a:spcBef>
              <a:spcAft>
                <a:spcPct val="0"/>
              </a:spcAft>
              <a:buNone/>
              <a:defRPr sz="3047" b="1">
                <a:solidFill>
                  <a:srgbClr val="000000"/>
                </a:solidFill>
                <a:latin typeface="FrutigerNext LT Medium"/>
                <a:ea typeface="FrutigerNext LT Medium"/>
                <a:cs typeface="FrutigerNext LT Medium"/>
              </a:defRPr>
            </a:lvl9pPr>
          </a:lstStyle>
          <a:p>
            <a:pPr marL="0" marR="0" lvl="0" indent="0" algn="l" defTabSz="1218468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None/>
              <a:defRPr sz="255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开发者安全</a:t>
            </a:r>
            <a:r>
              <a:rPr sz="2550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：</a:t>
            </a:r>
            <a:r>
              <a:rPr lang="zh-CN" altLang="en-US" sz="2550" dirty="0">
                <a:solidFill>
                  <a:srgbClr val="000000"/>
                </a:solidFill>
              </a:rPr>
              <a:t>开发</a:t>
            </a:r>
            <a:r>
              <a:rPr sz="2550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、</a:t>
            </a:r>
            <a:r>
              <a:rPr sz="2550" b="1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测试与运行阶段的保护</a:t>
            </a:r>
            <a:endParaRPr sz="2400" b="1" i="0" u="none" kern="1200" cap="none" spc="0" baseline="0" dirty="0">
              <a:ln>
                <a:noFill/>
              </a:ln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5" name="v4_s4_id25">
            <a:extLst>
              <a:ext uri="{FF2B5EF4-FFF2-40B4-BE49-F238E27FC236}">
                <a16:creationId xmlns:a16="http://schemas.microsoft.com/office/drawing/2014/main" id="{BDBDEDFD-0D44-4D93-AB60-1248EF62EA02}"/>
              </a:ext>
            </a:extLst>
          </p:cNvPr>
          <p:cNvSpPr/>
          <p:nvPr/>
        </p:nvSpPr>
        <p:spPr>
          <a:xfrm>
            <a:off x="323850" y="800100"/>
            <a:ext cx="1133475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r>
              <a:rPr sz="1875" b="1" dirty="0" err="1">
                <a:solidFill>
                  <a:srgbClr val="285EA8"/>
                </a:solidFill>
                <a:latin typeface="微软雅黑"/>
                <a:ea typeface="微软雅黑"/>
              </a:rPr>
              <a:t>目标：在开发、测试与运行阶段构建强安全能力</a:t>
            </a:r>
            <a:endParaRPr sz="1875" b="1" dirty="0">
              <a:solidFill>
                <a:srgbClr val="285EA8"/>
              </a:solidFill>
              <a:latin typeface="微软雅黑"/>
              <a:ea typeface="微软雅黑"/>
            </a:endParaRPr>
          </a:p>
        </p:txBody>
      </p:sp>
      <p:graphicFrame>
        <p:nvGraphicFramePr>
          <p:cNvPr id="4" name="表格 3"/>
          <p:cNvGraphicFramePr/>
          <p:nvPr>
            <p:extLst>
              <p:ext uri="{D42A27DB-BD31-4B8C-83A1-F6EECF244321}">
                <p14:modId xmlns:p14="http://schemas.microsoft.com/office/powerpoint/2010/main" val="755512587"/>
              </p:ext>
            </p:extLst>
          </p:nvPr>
        </p:nvGraphicFramePr>
        <p:xfrm>
          <a:off x="323850" y="1200150"/>
          <a:ext cx="8096250" cy="5467354"/>
        </p:xfrm>
        <a:graphic>
          <a:graphicData uri="http://schemas.openxmlformats.org/drawingml/2006/table">
            <a:tbl>
              <a:tblPr/>
              <a:tblGrid>
                <a:gridCol w="160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6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7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906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1944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安全方向</a:t>
                      </a:r>
                    </a:p>
                  </a:txBody>
                  <a:tcPr marL="57150" marR="57150" marT="19050" marB="19050" anchor="ctr">
                    <a:solidFill>
                      <a:srgbClr val="285E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阶段</a:t>
                      </a:r>
                    </a:p>
                  </a:txBody>
                  <a:tcPr marL="57150" marR="57150" marT="19050" marB="19050" anchor="ctr">
                    <a:solidFill>
                      <a:srgbClr val="285E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能力</a:t>
                      </a:r>
                    </a:p>
                  </a:txBody>
                  <a:tcPr marL="57150" marR="57150" marT="19050" marB="19050" anchor="ctr">
                    <a:solidFill>
                      <a:srgbClr val="285E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Swift</a:t>
                      </a:r>
                    </a:p>
                  </a:txBody>
                  <a:tcPr marL="57150" marR="57150" marT="19050" marB="19050" anchor="ctr">
                    <a:solidFill>
                      <a:srgbClr val="285E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Kotlin</a:t>
                      </a:r>
                    </a:p>
                  </a:txBody>
                  <a:tcPr marL="57150" marR="57150" marT="19050" marB="19050" anchor="ctr">
                    <a:solidFill>
                      <a:srgbClr val="285EA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仓颉</a:t>
                      </a:r>
                    </a:p>
                  </a:txBody>
                  <a:tcPr marL="57150" marR="57150" marT="19050" marB="19050" anchor="ctr">
                    <a:solidFill>
                      <a:srgbClr val="285E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1944">
                <a:tc rowSpan="9">
                  <a:txBody>
                    <a:bodyPr/>
                    <a:lstStyle/>
                    <a:p>
                      <a:pPr algn="ctr"/>
                      <a:r>
                        <a:rPr sz="1500" b="0" dirty="0" err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编码安全</a:t>
                      </a:r>
                      <a:endParaRPr lang="en-US" sz="1500" b="0" dirty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ctr"/>
                      <a:r>
                        <a:rPr sz="1500" b="0" dirty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（</a:t>
                      </a:r>
                      <a:r>
                        <a:rPr sz="1500" b="0" dirty="0" err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天然漏洞少</a:t>
                      </a:r>
                      <a:r>
                        <a:rPr sz="1500" b="0" dirty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）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 rowSpan="9"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开发、测试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ASAN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19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TSAN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19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LSAN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19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UBSAN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19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MSAN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不涉及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19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HWASAN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marL="57150" marR="57150" marT="19050" marB="19050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19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MTE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19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sancov-fuzz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19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Fuzz工具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marL="57150" marR="57150" marT="19050" marB="19050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7625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1500" b="0" kern="1200" dirty="0" err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代码保护</a:t>
                      </a:r>
                      <a:endParaRPr sz="1500" b="0" kern="1200" dirty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marL="0" algn="ctr" defTabSz="914400" rtl="0" eaLnBrk="1" latinLnBrk="0" hangingPunct="1"/>
                      <a:r>
                        <a:rPr sz="1500" b="0" kern="1200" dirty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（</a:t>
                      </a:r>
                      <a:r>
                        <a:rPr sz="1500" b="0" kern="1200" dirty="0" err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逆向分析难</a:t>
                      </a:r>
                      <a:r>
                        <a:rPr sz="1500" b="0" kern="1200" dirty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）</a:t>
                      </a:r>
                    </a:p>
                  </a:txBody>
                  <a:tcPr marL="28575" marR="28575" marT="9525" marB="9525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1500" b="0" kern="1200" dirty="0" err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编译</a:t>
                      </a:r>
                      <a:endParaRPr sz="1500" b="0" kern="1200" dirty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sz="1500" b="0" kern="1200" dirty="0" err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代码混淆</a:t>
                      </a:r>
                      <a:endParaRPr sz="1500" b="0" kern="1200" dirty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1500" b="0" kern="1200" dirty="0" err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外部工具</a:t>
                      </a:r>
                      <a:endParaRPr sz="1500" b="0" kern="1200" dirty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1500" b="0" kern="1200" dirty="0" err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外部工具</a:t>
                      </a:r>
                      <a:endParaRPr sz="1500" b="0" kern="1200" dirty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sz="1500" b="0" kern="1200" dirty="0" err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cjc</a:t>
                      </a:r>
                      <a:r>
                        <a:rPr sz="1500" b="0" kern="1200" dirty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</a:t>
                      </a:r>
                      <a:r>
                        <a:rPr sz="1500" b="0" kern="1200" dirty="0" err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内置</a:t>
                      </a:r>
                      <a:endParaRPr sz="1500" b="0" kern="1200" dirty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28575" marR="28575" marT="9525" marB="9525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11944">
                <a:tc rowSpan="6">
                  <a:txBody>
                    <a:bodyPr/>
                    <a:lstStyle/>
                    <a:p>
                      <a:pPr algn="ctr"/>
                      <a:r>
                        <a:rPr sz="1500" b="0" dirty="0" err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运行安全</a:t>
                      </a:r>
                      <a:endParaRPr lang="en-US" sz="1500" b="0" dirty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  <a:p>
                      <a:pPr algn="ctr"/>
                      <a:r>
                        <a:rPr sz="1500" b="0" dirty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（</a:t>
                      </a:r>
                      <a:r>
                        <a:rPr sz="1500" b="0" dirty="0" err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漏洞利用难</a:t>
                      </a:r>
                      <a:r>
                        <a:rPr sz="1500" b="0" dirty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）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 rowSpan="6">
                  <a:txBody>
                    <a:bodyPr/>
                    <a:lstStyle/>
                    <a:p>
                      <a:pPr algn="ctr"/>
                      <a:r>
                        <a:rPr sz="1500" b="0" dirty="0" err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运行</a:t>
                      </a:r>
                      <a:endParaRPr sz="1500" b="0" dirty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GWP-ASAN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19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栈保护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 err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  <a:endParaRPr sz="1500" b="0" dirty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7150" marR="57150" marT="19050" marB="19050" anchor="ctr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19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地址随机化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19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 err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堆栈不可执行</a:t>
                      </a:r>
                      <a:endParaRPr sz="1500" b="0" dirty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119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 dirty="0" err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前向CFI</a:t>
                      </a:r>
                      <a:endParaRPr sz="1500" b="0" dirty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11944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0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后向CFI</a:t>
                      </a: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 err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  <a:endParaRPr sz="1500" b="0" dirty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 err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否</a:t>
                      </a:r>
                      <a:endParaRPr sz="1500" b="0" dirty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 dirty="0" err="1">
                          <a:solidFill>
                            <a:srgbClr val="111111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是</a:t>
                      </a:r>
                      <a:endParaRPr sz="1500" b="0" dirty="0">
                        <a:solidFill>
                          <a:srgbClr val="111111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7150" marR="57150" marT="19050" marB="1905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5005" name="v6_p5_0_heading">
            <a:extLst>
              <a:ext uri="{FF2B5EF4-FFF2-40B4-BE49-F238E27FC236}">
                <a16:creationId xmlns:a16="http://schemas.microsoft.com/office/drawing/2014/main" id="{ACF95080-A83D-49D2-A427-EDA68B8B4016}"/>
              </a:ext>
            </a:extLst>
          </p:cNvPr>
          <p:cNvSpPr>
            <a:spLocks noGrp="1"/>
          </p:cNvSpPr>
          <p:nvPr/>
        </p:nvSpPr>
        <p:spPr>
          <a:xfrm>
            <a:off x="8743950" y="1304925"/>
            <a:ext cx="30480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lnSpc>
                <a:spcPts val="2250"/>
              </a:lnSpc>
              <a:def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编码安全：尽早发现问题</a:t>
            </a:r>
          </a:p>
        </p:txBody>
      </p:sp>
      <p:sp>
        <p:nvSpPr>
          <p:cNvPr id="5006" name="v6_p5_0_body">
            <a:extLst>
              <a:ext uri="{FF2B5EF4-FFF2-40B4-BE49-F238E27FC236}">
                <a16:creationId xmlns:a16="http://schemas.microsoft.com/office/drawing/2014/main" id="{E6F53E10-BF51-410F-ABA6-19A916235691}"/>
              </a:ext>
            </a:extLst>
          </p:cNvPr>
          <p:cNvSpPr>
            <a:spLocks noGrp="1"/>
          </p:cNvSpPr>
          <p:nvPr/>
        </p:nvSpPr>
        <p:spPr>
          <a:xfrm>
            <a:off x="8743950" y="1752600"/>
            <a:ext cx="304800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lnSpc>
                <a:spcPts val="2250"/>
              </a:lnSpc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语言机制减少常见编码错误</a:t>
            </a:r>
          </a:p>
          <a:p>
            <a:pPr>
              <a:lnSpc>
                <a:spcPts val="2250"/>
              </a:lnSpc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检测器与 Fuzz 辅助测试</a:t>
            </a:r>
          </a:p>
          <a:p>
            <a:pPr>
              <a:lnSpc>
                <a:spcPts val="2250"/>
              </a:lnSpc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FFI 仍有风险，需跨语言检测</a:t>
            </a:r>
          </a:p>
        </p:txBody>
      </p:sp>
      <p:sp>
        <p:nvSpPr>
          <p:cNvPr id="5007" name="v6_p5_1_heading">
            <a:extLst>
              <a:ext uri="{FF2B5EF4-FFF2-40B4-BE49-F238E27FC236}">
                <a16:creationId xmlns:a16="http://schemas.microsoft.com/office/drawing/2014/main" id="{FDC1CE1C-74A3-4C88-8B57-FFE5B07E8808}"/>
              </a:ext>
            </a:extLst>
          </p:cNvPr>
          <p:cNvSpPr>
            <a:spLocks noGrp="1"/>
          </p:cNvSpPr>
          <p:nvPr/>
        </p:nvSpPr>
        <p:spPr>
          <a:xfrm>
            <a:off x="8743950" y="2943225"/>
            <a:ext cx="30480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lnSpc>
                <a:spcPts val="2250"/>
              </a:lnSpc>
              <a:def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代码保护：增加逆向成本</a:t>
            </a:r>
          </a:p>
        </p:txBody>
      </p:sp>
      <p:sp>
        <p:nvSpPr>
          <p:cNvPr id="5008" name="v6_p5_1_body">
            <a:extLst>
              <a:ext uri="{FF2B5EF4-FFF2-40B4-BE49-F238E27FC236}">
                <a16:creationId xmlns:a16="http://schemas.microsoft.com/office/drawing/2014/main" id="{35C63BD7-37AE-4F2D-9E0E-9BC719846B34}"/>
              </a:ext>
            </a:extLst>
          </p:cNvPr>
          <p:cNvSpPr>
            <a:spLocks noGrp="1"/>
          </p:cNvSpPr>
          <p:nvPr/>
        </p:nvSpPr>
        <p:spPr>
          <a:xfrm>
            <a:off x="8743950" y="3390900"/>
            <a:ext cx="304800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lnSpc>
                <a:spcPts val="2250"/>
              </a:lnSpc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cjc 内置代码混淆</a:t>
            </a:r>
          </a:p>
          <a:p>
            <a:pPr>
              <a:lnSpc>
                <a:spcPts val="2250"/>
              </a:lnSpc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组合外形、数据与控制流混淆</a:t>
            </a:r>
          </a:p>
        </p:txBody>
      </p:sp>
      <p:sp>
        <p:nvSpPr>
          <p:cNvPr id="5009" name="v6_p5_2_heading">
            <a:extLst>
              <a:ext uri="{FF2B5EF4-FFF2-40B4-BE49-F238E27FC236}">
                <a16:creationId xmlns:a16="http://schemas.microsoft.com/office/drawing/2014/main" id="{A270EB49-E868-4087-ADE8-73616FCD3569}"/>
              </a:ext>
            </a:extLst>
          </p:cNvPr>
          <p:cNvSpPr>
            <a:spLocks noGrp="1"/>
          </p:cNvSpPr>
          <p:nvPr/>
        </p:nvSpPr>
        <p:spPr>
          <a:xfrm>
            <a:off x="8743950" y="4581525"/>
            <a:ext cx="30480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lnSpc>
                <a:spcPts val="2250"/>
              </a:lnSpc>
              <a:def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运行安全：提高利用难度</a:t>
            </a:r>
          </a:p>
        </p:txBody>
      </p:sp>
      <p:sp>
        <p:nvSpPr>
          <p:cNvPr id="5010" name="v6_p5_2_body">
            <a:extLst>
              <a:ext uri="{FF2B5EF4-FFF2-40B4-BE49-F238E27FC236}">
                <a16:creationId xmlns:a16="http://schemas.microsoft.com/office/drawing/2014/main" id="{81FDB8C0-5C35-4D0C-A3B7-EFA13EBB67BD}"/>
              </a:ext>
            </a:extLst>
          </p:cNvPr>
          <p:cNvSpPr>
            <a:spLocks noGrp="1"/>
          </p:cNvSpPr>
          <p:nvPr/>
        </p:nvSpPr>
        <p:spPr>
          <a:xfrm>
            <a:off x="8743950" y="5029200"/>
            <a:ext cx="3048000" cy="106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lnSpc>
                <a:spcPts val="2250"/>
              </a:lnSpc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采样检查跨语言内存问题</a:t>
            </a:r>
          </a:p>
          <a:p>
            <a:pPr>
              <a:lnSpc>
                <a:spcPts val="2250"/>
              </a:lnSpc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栈保护与地址布局增加利用难度</a:t>
            </a:r>
          </a:p>
          <a:p>
            <a:pPr>
              <a:lnSpc>
                <a:spcPts val="2250"/>
              </a:lnSpc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CFI 保护控制流转移</a:t>
            </a:r>
          </a:p>
        </p:txBody>
      </p:sp>
    </p:spTree>
    <p:extLst>
      <p:ext uri="{BB962C8B-B14F-4D97-AF65-F5344CB8AC3E}">
        <p14:creationId xmlns:p14="http://schemas.microsoft.com/office/powerpoint/2010/main" val="4276621162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v4_s7_id5">
            <a:extLst>
              <a:ext uri="{FF2B5EF4-FFF2-40B4-BE49-F238E27FC236}">
                <a16:creationId xmlns:a16="http://schemas.microsoft.com/office/drawing/2014/main" id="{40F68EB1-2C76-4033-8AE3-7A7200A94E89}"/>
              </a:ext>
            </a:extLst>
          </p:cNvPr>
          <p:cNvSpPr/>
          <p:nvPr/>
        </p:nvSpPr>
        <p:spPr>
          <a:xfrm>
            <a:off x="1932422" y="4830538"/>
            <a:ext cx="2857284" cy="257867"/>
          </a:xfrm>
          <a:prstGeom prst="curvedDownArrow">
            <a:avLst>
              <a:gd name="adj1" fmla="val 13948"/>
              <a:gd name="adj2" fmla="val 26371"/>
              <a:gd name="adj3" fmla="val 28582"/>
            </a:avLst>
          </a:prstGeom>
          <a:gradFill rotWithShape="1">
            <a:gsLst>
              <a:gs pos="0">
                <a:srgbClr val="30B5C5">
                  <a:lumMod val="110000"/>
                  <a:satMod val="105000"/>
                  <a:tint val="67000"/>
                </a:srgbClr>
              </a:gs>
              <a:gs pos="50000">
                <a:srgbClr val="30B5C5">
                  <a:lumMod val="105000"/>
                  <a:satMod val="103000"/>
                  <a:tint val="73000"/>
                </a:srgbClr>
              </a:gs>
              <a:gs pos="100000">
                <a:srgbClr val="30B5C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30B5C5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40" b="0" i="0" u="none" strike="noStrike" kern="0" cap="none" spc="0" normalizeH="0" baseline="0" noProof="0" dirty="0">
              <a:ln w="0"/>
              <a:solidFill>
                <a:srgbClr val="1D1D1A"/>
              </a:solidFill>
              <a:effectLst>
                <a:outerShdw blurRad="38100" dist="19050" dir="2700000" algn="tl" rotWithShape="0">
                  <a:srgbClr val="1D1D1A">
                    <a:alpha val="40000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" name="v4_s7_id6">
            <a:extLst>
              <a:ext uri="{FF2B5EF4-FFF2-40B4-BE49-F238E27FC236}">
                <a16:creationId xmlns:a16="http://schemas.microsoft.com/office/drawing/2014/main" id="{2F518068-227D-4ED3-9F69-6D0EC77E2E39}"/>
              </a:ext>
            </a:extLst>
          </p:cNvPr>
          <p:cNvSpPr/>
          <p:nvPr/>
        </p:nvSpPr>
        <p:spPr>
          <a:xfrm>
            <a:off x="1932420" y="4830538"/>
            <a:ext cx="1128494" cy="257867"/>
          </a:xfrm>
          <a:prstGeom prst="curvedDownArrow">
            <a:avLst>
              <a:gd name="adj1" fmla="val 13948"/>
              <a:gd name="adj2" fmla="val 26371"/>
              <a:gd name="adj3" fmla="val 28582"/>
            </a:avLst>
          </a:prstGeom>
          <a:gradFill rotWithShape="1">
            <a:gsLst>
              <a:gs pos="0">
                <a:srgbClr val="30B5C5">
                  <a:lumMod val="110000"/>
                  <a:satMod val="105000"/>
                  <a:tint val="67000"/>
                </a:srgbClr>
              </a:gs>
              <a:gs pos="50000">
                <a:srgbClr val="30B5C5">
                  <a:lumMod val="105000"/>
                  <a:satMod val="103000"/>
                  <a:tint val="73000"/>
                </a:srgbClr>
              </a:gs>
              <a:gs pos="100000">
                <a:srgbClr val="30B5C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30B5C5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40" b="0" i="0" u="none" strike="noStrike" kern="0" cap="none" spc="0" normalizeH="0" baseline="0" noProof="0" dirty="0">
              <a:ln w="0"/>
              <a:solidFill>
                <a:srgbClr val="1D1D1A"/>
              </a:solidFill>
              <a:effectLst>
                <a:outerShdw blurRad="38100" dist="19050" dir="2700000" algn="tl" rotWithShape="0">
                  <a:srgbClr val="1D1D1A">
                    <a:alpha val="40000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7" name="Connector: Elbow 18">
            <a:extLst>
              <a:ext uri="{FF2B5EF4-FFF2-40B4-BE49-F238E27FC236}">
                <a16:creationId xmlns:a16="http://schemas.microsoft.com/office/drawing/2014/main" id="{6CE74102-BA68-4BCC-8824-E62913F07772}"/>
              </a:ext>
            </a:extLst>
          </p:cNvPr>
          <p:cNvCxnSpPr>
            <a:stCxn id="13" idx="3"/>
            <a:endCxn id="33" idx="1"/>
          </p:cNvCxnSpPr>
          <p:nvPr/>
        </p:nvCxnSpPr>
        <p:spPr>
          <a:xfrm flipV="1">
            <a:off x="2151655" y="5163829"/>
            <a:ext cx="400082" cy="922025"/>
          </a:xfrm>
          <a:prstGeom prst="bentConnector3">
            <a:avLst/>
          </a:prstGeom>
          <a:noFill/>
          <a:ln w="1905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8" name="Connector: Elbow 20">
            <a:extLst>
              <a:ext uri="{FF2B5EF4-FFF2-40B4-BE49-F238E27FC236}">
                <a16:creationId xmlns:a16="http://schemas.microsoft.com/office/drawing/2014/main" id="{A2F88243-A1C3-41F0-ACF0-E284FCFF182B}"/>
              </a:ext>
            </a:extLst>
          </p:cNvPr>
          <p:cNvCxnSpPr>
            <a:cxnSpLocks/>
            <a:stCxn id="13" idx="3"/>
            <a:endCxn id="34" idx="1"/>
          </p:cNvCxnSpPr>
          <p:nvPr/>
        </p:nvCxnSpPr>
        <p:spPr>
          <a:xfrm flipV="1">
            <a:off x="2151655" y="5357928"/>
            <a:ext cx="400087" cy="727926"/>
          </a:xfrm>
          <a:prstGeom prst="bentConnector3">
            <a:avLst>
              <a:gd name="adj1" fmla="val 50000"/>
            </a:avLst>
          </a:prstGeom>
          <a:noFill/>
          <a:ln w="1905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" name="Straight Arrow Connector 22">
            <a:extLst>
              <a:ext uri="{FF2B5EF4-FFF2-40B4-BE49-F238E27FC236}">
                <a16:creationId xmlns:a16="http://schemas.microsoft.com/office/drawing/2014/main" id="{11C888E0-656D-4C19-8153-5A12CE134385}"/>
              </a:ext>
            </a:extLst>
          </p:cNvPr>
          <p:cNvCxnSpPr>
            <a:cxnSpLocks/>
            <a:stCxn id="19" idx="3"/>
            <a:endCxn id="23" idx="1"/>
          </p:cNvCxnSpPr>
          <p:nvPr/>
        </p:nvCxnSpPr>
        <p:spPr>
          <a:xfrm flipV="1">
            <a:off x="4161689" y="5162850"/>
            <a:ext cx="275010" cy="979"/>
          </a:xfrm>
          <a:prstGeom prst="straightConnector1">
            <a:avLst/>
          </a:prstGeom>
          <a:noFill/>
          <a:ln w="9525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10" name="v4_s7_id10">
            <a:extLst>
              <a:ext uri="{FF2B5EF4-FFF2-40B4-BE49-F238E27FC236}">
                <a16:creationId xmlns:a16="http://schemas.microsoft.com/office/drawing/2014/main" id="{206F39EF-D167-4139-A23F-93298D8B30D7}"/>
              </a:ext>
            </a:extLst>
          </p:cNvPr>
          <p:cNvSpPr txBox="1"/>
          <p:nvPr/>
        </p:nvSpPr>
        <p:spPr>
          <a:xfrm>
            <a:off x="2547014" y="6028233"/>
            <a:ext cx="2132486" cy="33037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zh-CN" altLang="en-US" sz="104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内存访问时检测：</a:t>
            </a:r>
            <a:endParaRPr kumimoji="1" lang="en-US" altLang="zh-CN" sz="104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kumimoji="1" lang="en-US" sz="1040" b="1" i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ptr_tag == mem_tag?</a:t>
            </a:r>
            <a:endParaRPr kumimoji="1" lang="en-US" sz="1040" b="1" i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v4_s7_id11">
            <a:extLst>
              <a:ext uri="{FF2B5EF4-FFF2-40B4-BE49-F238E27FC236}">
                <a16:creationId xmlns:a16="http://schemas.microsoft.com/office/drawing/2014/main" id="{B51E7E44-6A56-4113-BE8B-733A0D592091}"/>
              </a:ext>
            </a:extLst>
          </p:cNvPr>
          <p:cNvSpPr/>
          <p:nvPr/>
        </p:nvSpPr>
        <p:spPr>
          <a:xfrm>
            <a:off x="1122346" y="5657563"/>
            <a:ext cx="1029309" cy="331821"/>
          </a:xfrm>
          <a:prstGeom prst="rect">
            <a:avLst/>
          </a:prstGeom>
          <a:solidFill>
            <a:srgbClr val="30B5C5">
              <a:lumMod val="20000"/>
              <a:lumOff val="80000"/>
            </a:srgbClr>
          </a:solidFill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40" b="0" i="0" u="none" strike="noStrike" kern="0" cap="none" spc="0" normalizeH="0" baseline="0" noProof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HWASAN</a:t>
            </a:r>
            <a:endParaRPr kumimoji="0" lang="en-US" altLang="zh-CN" sz="104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4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插桩检测</a:t>
            </a:r>
            <a:endParaRPr kumimoji="0" lang="en-US" sz="104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2" name="v4_s7_id12">
            <a:extLst>
              <a:ext uri="{FF2B5EF4-FFF2-40B4-BE49-F238E27FC236}">
                <a16:creationId xmlns:a16="http://schemas.microsoft.com/office/drawing/2014/main" id="{D9262F67-2172-42BE-986A-4462A9AC93CC}"/>
              </a:ext>
            </a:extLst>
          </p:cNvPr>
          <p:cNvSpPr txBox="1"/>
          <p:nvPr/>
        </p:nvSpPr>
        <p:spPr>
          <a:xfrm>
            <a:off x="1240579" y="4941275"/>
            <a:ext cx="663311" cy="1651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zh-CN" altLang="en-US" sz="104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程序代码</a:t>
            </a:r>
            <a:endParaRPr kumimoji="1" lang="en-US" sz="104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v4_s7_id13">
            <a:extLst>
              <a:ext uri="{FF2B5EF4-FFF2-40B4-BE49-F238E27FC236}">
                <a16:creationId xmlns:a16="http://schemas.microsoft.com/office/drawing/2014/main" id="{9E416DCB-968F-491C-95D0-FD36D0525CDE}"/>
              </a:ext>
            </a:extLst>
          </p:cNvPr>
          <p:cNvSpPr/>
          <p:nvPr/>
        </p:nvSpPr>
        <p:spPr>
          <a:xfrm>
            <a:off x="1122346" y="5989384"/>
            <a:ext cx="1029309" cy="192940"/>
          </a:xfrm>
          <a:prstGeom prst="rect">
            <a:avLst/>
          </a:prstGeom>
          <a:solidFill>
            <a:srgbClr val="FFFFFF">
              <a:lumMod val="95000"/>
            </a:srgbClr>
          </a:solidFill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4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访问内存</a:t>
            </a:r>
            <a:endParaRPr kumimoji="0" lang="en-US" sz="104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v4_s7_id15">
            <a:extLst>
              <a:ext uri="{FF2B5EF4-FFF2-40B4-BE49-F238E27FC236}">
                <a16:creationId xmlns:a16="http://schemas.microsoft.com/office/drawing/2014/main" id="{596A39C5-8059-4BAC-A716-55BD07B992E3}"/>
              </a:ext>
            </a:extLst>
          </p:cNvPr>
          <p:cNvSpPr/>
          <p:nvPr/>
        </p:nvSpPr>
        <p:spPr>
          <a:xfrm>
            <a:off x="1122346" y="5096141"/>
            <a:ext cx="1029311" cy="192940"/>
          </a:xfrm>
          <a:prstGeom prst="rect">
            <a:avLst/>
          </a:prstGeom>
          <a:solidFill>
            <a:srgbClr val="CFEBF6"/>
          </a:solidFill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40" b="0" i="0" u="none" strike="noStrike" kern="0" cap="none" spc="0" normalizeH="0" baseline="0" noProof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分配两类</a:t>
            </a:r>
            <a:r>
              <a:rPr kumimoji="0" lang="en-US" altLang="zh-CN" sz="1040" b="0" i="0" u="none" strike="noStrike" kern="0" cap="none" spc="0" normalizeH="0" baseline="0" noProof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tag</a:t>
            </a:r>
            <a:endParaRPr kumimoji="0" lang="en-US" sz="104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6" name="v4_s7_id16">
            <a:extLst>
              <a:ext uri="{FF2B5EF4-FFF2-40B4-BE49-F238E27FC236}">
                <a16:creationId xmlns:a16="http://schemas.microsoft.com/office/drawing/2014/main" id="{5A5EAB60-92FC-410D-9B1E-3C7171FBCDD5}"/>
              </a:ext>
            </a:extLst>
          </p:cNvPr>
          <p:cNvSpPr/>
          <p:nvPr/>
        </p:nvSpPr>
        <p:spPr>
          <a:xfrm>
            <a:off x="1122346" y="5278228"/>
            <a:ext cx="1029311" cy="192940"/>
          </a:xfrm>
          <a:prstGeom prst="rect">
            <a:avLst/>
          </a:prstGeom>
          <a:solidFill>
            <a:srgbClr val="FFFFFF">
              <a:lumMod val="95000"/>
            </a:srgbClr>
          </a:solidFill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4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获取指针</a:t>
            </a:r>
            <a:endParaRPr kumimoji="0" lang="en-US" sz="104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7" name="v4_s7_id17">
            <a:extLst>
              <a:ext uri="{FF2B5EF4-FFF2-40B4-BE49-F238E27FC236}">
                <a16:creationId xmlns:a16="http://schemas.microsoft.com/office/drawing/2014/main" id="{47DD7CC1-4E76-4D42-B972-D0E62729CBCA}"/>
              </a:ext>
            </a:extLst>
          </p:cNvPr>
          <p:cNvSpPr/>
          <p:nvPr/>
        </p:nvSpPr>
        <p:spPr>
          <a:xfrm>
            <a:off x="1122346" y="5468600"/>
            <a:ext cx="1029309" cy="192940"/>
          </a:xfrm>
          <a:prstGeom prst="rect">
            <a:avLst/>
          </a:prstGeom>
          <a:solidFill>
            <a:srgbClr val="FFFFFF">
              <a:lumMod val="95000"/>
            </a:srgbClr>
          </a:solidFill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4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……</a:t>
            </a:r>
          </a:p>
        </p:txBody>
      </p:sp>
      <p:sp>
        <p:nvSpPr>
          <p:cNvPr id="18" name="v4_s7_id18">
            <a:extLst>
              <a:ext uri="{FF2B5EF4-FFF2-40B4-BE49-F238E27FC236}">
                <a16:creationId xmlns:a16="http://schemas.microsoft.com/office/drawing/2014/main" id="{1E7A8CB8-48B1-4AD8-AC33-C29A10890EBB}"/>
              </a:ext>
            </a:extLst>
          </p:cNvPr>
          <p:cNvSpPr txBox="1"/>
          <p:nvPr/>
        </p:nvSpPr>
        <p:spPr>
          <a:xfrm>
            <a:off x="3525869" y="4918940"/>
            <a:ext cx="663311" cy="16519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kumimoji="1" lang="zh-CN" altLang="en-US" sz="104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内存变量</a:t>
            </a:r>
            <a:endParaRPr kumimoji="1" lang="en-US" sz="104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v4_s7_id19">
            <a:extLst>
              <a:ext uri="{FF2B5EF4-FFF2-40B4-BE49-F238E27FC236}">
                <a16:creationId xmlns:a16="http://schemas.microsoft.com/office/drawing/2014/main" id="{9C3F2317-9F13-442F-94B4-2681D5D8D2B9}"/>
              </a:ext>
            </a:extLst>
          </p:cNvPr>
          <p:cNvSpPr/>
          <p:nvPr/>
        </p:nvSpPr>
        <p:spPr>
          <a:xfrm>
            <a:off x="3487350" y="5067359"/>
            <a:ext cx="674339" cy="192940"/>
          </a:xfrm>
          <a:prstGeom prst="rect">
            <a:avLst/>
          </a:prstGeom>
          <a:solidFill>
            <a:srgbClr val="61B230">
              <a:lumMod val="20000"/>
              <a:lumOff val="80000"/>
            </a:srgbClr>
          </a:solidFill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4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v</a:t>
            </a:r>
            <a:r>
              <a:rPr kumimoji="0" lang="en-US" altLang="zh-CN" sz="1040" b="0" i="0" u="none" strike="noStrike" kern="0" cap="none" spc="0" normalizeH="0" baseline="0" noProof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ar1</a:t>
            </a:r>
            <a:endParaRPr kumimoji="0" lang="en-US" sz="104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0" name="v4_s7_id20">
            <a:extLst>
              <a:ext uri="{FF2B5EF4-FFF2-40B4-BE49-F238E27FC236}">
                <a16:creationId xmlns:a16="http://schemas.microsoft.com/office/drawing/2014/main" id="{EEE221A3-B89F-48B3-B1DB-B191E37E3D10}"/>
              </a:ext>
            </a:extLst>
          </p:cNvPr>
          <p:cNvSpPr/>
          <p:nvPr/>
        </p:nvSpPr>
        <p:spPr>
          <a:xfrm>
            <a:off x="3487350" y="5261458"/>
            <a:ext cx="674337" cy="192940"/>
          </a:xfrm>
          <a:prstGeom prst="rect">
            <a:avLst/>
          </a:prstGeom>
          <a:solidFill>
            <a:srgbClr val="FFB2B2"/>
          </a:solidFill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4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v</a:t>
            </a:r>
            <a:r>
              <a:rPr kumimoji="0" lang="en-US" altLang="zh-CN" sz="1040" b="0" i="0" u="none" strike="noStrike" kern="0" cap="none" spc="0" normalizeH="0" baseline="0" noProof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ar2</a:t>
            </a:r>
            <a:endParaRPr kumimoji="0" lang="en-US" sz="104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1" name="v4_s7_id21">
            <a:extLst>
              <a:ext uri="{FF2B5EF4-FFF2-40B4-BE49-F238E27FC236}">
                <a16:creationId xmlns:a16="http://schemas.microsoft.com/office/drawing/2014/main" id="{7D245874-B464-4728-80F3-42B0FF619A13}"/>
              </a:ext>
            </a:extLst>
          </p:cNvPr>
          <p:cNvSpPr/>
          <p:nvPr/>
        </p:nvSpPr>
        <p:spPr>
          <a:xfrm>
            <a:off x="3487350" y="5643644"/>
            <a:ext cx="674341" cy="192940"/>
          </a:xfrm>
          <a:prstGeom prst="rect">
            <a:avLst/>
          </a:prstGeom>
          <a:solidFill>
            <a:srgbClr val="FFFFFF">
              <a:lumMod val="95000"/>
            </a:srgbClr>
          </a:solidFill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4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……</a:t>
            </a:r>
          </a:p>
        </p:txBody>
      </p:sp>
      <p:sp>
        <p:nvSpPr>
          <p:cNvPr id="22" name="v4_s7_id22">
            <a:extLst>
              <a:ext uri="{FF2B5EF4-FFF2-40B4-BE49-F238E27FC236}">
                <a16:creationId xmlns:a16="http://schemas.microsoft.com/office/drawing/2014/main" id="{6AB843B7-7ECA-4AC0-BD89-5E31BD053128}"/>
              </a:ext>
            </a:extLst>
          </p:cNvPr>
          <p:cNvSpPr/>
          <p:nvPr/>
        </p:nvSpPr>
        <p:spPr>
          <a:xfrm>
            <a:off x="3489230" y="5451375"/>
            <a:ext cx="671170" cy="192940"/>
          </a:xfrm>
          <a:prstGeom prst="rect">
            <a:avLst/>
          </a:prstGeom>
          <a:solidFill>
            <a:srgbClr val="FFF4CB"/>
          </a:solidFill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40" b="0" i="0" u="none" strike="noStrike" kern="0" cap="none" spc="0" normalizeH="0" baseline="0" noProof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var3</a:t>
            </a:r>
            <a:endParaRPr kumimoji="0" lang="en-US" sz="104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3" name="v4_s7_id23">
            <a:extLst>
              <a:ext uri="{FF2B5EF4-FFF2-40B4-BE49-F238E27FC236}">
                <a16:creationId xmlns:a16="http://schemas.microsoft.com/office/drawing/2014/main" id="{F7303A6C-AAEC-4214-B896-D2E2B215ABD8}"/>
              </a:ext>
            </a:extLst>
          </p:cNvPr>
          <p:cNvSpPr/>
          <p:nvPr/>
        </p:nvSpPr>
        <p:spPr>
          <a:xfrm>
            <a:off x="4436699" y="5064041"/>
            <a:ext cx="660384" cy="197618"/>
          </a:xfrm>
          <a:prstGeom prst="rect">
            <a:avLst/>
          </a:prstGeom>
          <a:solidFill>
            <a:srgbClr val="DFF3D2"/>
          </a:solidFill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40" b="0" i="0" u="none" strike="noStrike" kern="0" cap="none" spc="0" normalizeH="0" baseline="0" noProof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tag1</a:t>
            </a:r>
            <a:endParaRPr kumimoji="0" lang="en-US" sz="104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v4_s7_id24">
            <a:extLst>
              <a:ext uri="{FF2B5EF4-FFF2-40B4-BE49-F238E27FC236}">
                <a16:creationId xmlns:a16="http://schemas.microsoft.com/office/drawing/2014/main" id="{5C8CB230-3A11-440C-9AE5-C53E8C4B9B30}"/>
              </a:ext>
            </a:extLst>
          </p:cNvPr>
          <p:cNvSpPr txBox="1"/>
          <p:nvPr/>
        </p:nvSpPr>
        <p:spPr>
          <a:xfrm>
            <a:off x="4436699" y="4732708"/>
            <a:ext cx="766964" cy="3200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zh-CN" altLang="en-US" sz="104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影子内存</a:t>
            </a:r>
            <a:endParaRPr kumimoji="1" lang="en-US" altLang="zh-CN" sz="104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en-US" altLang="zh-CN" sz="104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1" lang="en-US" altLang="zh-CN" sz="104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mem_tag</a:t>
            </a:r>
            <a:r>
              <a:rPr kumimoji="1" lang="en-US" altLang="zh-CN" sz="104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kumimoji="1" lang="en-US" sz="104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v4_s7_id25">
            <a:extLst>
              <a:ext uri="{FF2B5EF4-FFF2-40B4-BE49-F238E27FC236}">
                <a16:creationId xmlns:a16="http://schemas.microsoft.com/office/drawing/2014/main" id="{359E7773-5C20-406B-B086-BAAEF5403234}"/>
              </a:ext>
            </a:extLst>
          </p:cNvPr>
          <p:cNvSpPr/>
          <p:nvPr/>
        </p:nvSpPr>
        <p:spPr>
          <a:xfrm>
            <a:off x="4436699" y="5257962"/>
            <a:ext cx="660384" cy="194405"/>
          </a:xfrm>
          <a:prstGeom prst="rect">
            <a:avLst/>
          </a:prstGeom>
          <a:solidFill>
            <a:srgbClr val="7F0000">
              <a:lumMod val="20000"/>
              <a:lumOff val="80000"/>
            </a:srgbClr>
          </a:solidFill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40" b="0" i="0" u="none" strike="noStrike" kern="0" cap="none" spc="0" normalizeH="0" baseline="0" noProof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tag2</a:t>
            </a:r>
            <a:endParaRPr kumimoji="0" lang="en-US" sz="104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6" name="v4_s7_id26">
            <a:extLst>
              <a:ext uri="{FF2B5EF4-FFF2-40B4-BE49-F238E27FC236}">
                <a16:creationId xmlns:a16="http://schemas.microsoft.com/office/drawing/2014/main" id="{8529301A-8CC5-4234-B6E4-736AA2F58B39}"/>
              </a:ext>
            </a:extLst>
          </p:cNvPr>
          <p:cNvSpPr/>
          <p:nvPr/>
        </p:nvSpPr>
        <p:spPr>
          <a:xfrm>
            <a:off x="4436699" y="5644537"/>
            <a:ext cx="664370" cy="194405"/>
          </a:xfrm>
          <a:prstGeom prst="rect">
            <a:avLst/>
          </a:prstGeom>
          <a:solidFill>
            <a:srgbClr val="F2F2F2"/>
          </a:solidFill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4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…</a:t>
            </a:r>
          </a:p>
        </p:txBody>
      </p:sp>
      <p:sp>
        <p:nvSpPr>
          <p:cNvPr id="27" name="v4_s7_id27">
            <a:extLst>
              <a:ext uri="{FF2B5EF4-FFF2-40B4-BE49-F238E27FC236}">
                <a16:creationId xmlns:a16="http://schemas.microsoft.com/office/drawing/2014/main" id="{CA62EC58-8DEB-4676-AF26-63020619BEB8}"/>
              </a:ext>
            </a:extLst>
          </p:cNvPr>
          <p:cNvSpPr/>
          <p:nvPr/>
        </p:nvSpPr>
        <p:spPr>
          <a:xfrm>
            <a:off x="4436699" y="5451376"/>
            <a:ext cx="660384" cy="194405"/>
          </a:xfrm>
          <a:prstGeom prst="rect">
            <a:avLst/>
          </a:prstGeom>
          <a:solidFill>
            <a:srgbClr val="FCC800">
              <a:lumMod val="20000"/>
              <a:lumOff val="80000"/>
            </a:srgbClr>
          </a:solidFill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40" b="0" i="0" u="none" strike="noStrike" kern="0" cap="none" spc="0" normalizeH="0" baseline="0" noProof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tag3</a:t>
            </a:r>
            <a:endParaRPr kumimoji="0" lang="en-US" sz="104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8" name="Connector: Elbow 183">
            <a:extLst>
              <a:ext uri="{FF2B5EF4-FFF2-40B4-BE49-F238E27FC236}">
                <a16:creationId xmlns:a16="http://schemas.microsoft.com/office/drawing/2014/main" id="{0D6C45FE-3B55-4676-92B3-74C4067FCEC4}"/>
              </a:ext>
            </a:extLst>
          </p:cNvPr>
          <p:cNvCxnSpPr>
            <a:stCxn id="13" idx="3"/>
            <a:endCxn id="36" idx="1"/>
          </p:cNvCxnSpPr>
          <p:nvPr/>
        </p:nvCxnSpPr>
        <p:spPr>
          <a:xfrm flipV="1">
            <a:off x="2151655" y="5547845"/>
            <a:ext cx="401957" cy="538009"/>
          </a:xfrm>
          <a:prstGeom prst="bentConnector3">
            <a:avLst/>
          </a:prstGeom>
          <a:noFill/>
          <a:ln w="1905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  <a:tailEnd type="triangle"/>
          </a:ln>
          <a:effectLst/>
        </p:spPr>
      </p:cxnSp>
      <p:sp>
        <p:nvSpPr>
          <p:cNvPr id="29" name="v4_s7_id29">
            <a:extLst>
              <a:ext uri="{FF2B5EF4-FFF2-40B4-BE49-F238E27FC236}">
                <a16:creationId xmlns:a16="http://schemas.microsoft.com/office/drawing/2014/main" id="{4811BA50-638A-4118-B4A7-71A313F90436}"/>
              </a:ext>
            </a:extLst>
          </p:cNvPr>
          <p:cNvSpPr/>
          <p:nvPr/>
        </p:nvSpPr>
        <p:spPr>
          <a:xfrm flipV="1">
            <a:off x="1921537" y="5749780"/>
            <a:ext cx="1975685" cy="245123"/>
          </a:xfrm>
          <a:prstGeom prst="curvedDownArrow">
            <a:avLst>
              <a:gd name="adj1" fmla="val 33307"/>
              <a:gd name="adj2" fmla="val 68860"/>
              <a:gd name="adj3" fmla="val 28582"/>
            </a:avLst>
          </a:prstGeom>
          <a:gradFill rotWithShape="1">
            <a:gsLst>
              <a:gs pos="0">
                <a:srgbClr val="30B5C5">
                  <a:lumMod val="110000"/>
                  <a:satMod val="105000"/>
                  <a:tint val="67000"/>
                </a:srgbClr>
              </a:gs>
              <a:gs pos="50000">
                <a:srgbClr val="30B5C5">
                  <a:lumMod val="105000"/>
                  <a:satMod val="103000"/>
                  <a:tint val="73000"/>
                </a:srgbClr>
              </a:gs>
              <a:gs pos="100000">
                <a:srgbClr val="30B5C5">
                  <a:lumMod val="105000"/>
                  <a:satMod val="109000"/>
                  <a:tint val="81000"/>
                </a:srgbClr>
              </a:gs>
            </a:gsLst>
            <a:lin ang="5400000" scaled="0"/>
          </a:gradFill>
          <a:ln w="6350" cap="flat" cmpd="sng" algn="ctr">
            <a:solidFill>
              <a:srgbClr val="30B5C5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40" b="0" i="0" u="none" strike="noStrike" kern="0" cap="none" spc="0" normalizeH="0" baseline="0" noProof="0" dirty="0">
              <a:ln w="0"/>
              <a:solidFill>
                <a:srgbClr val="1D1D1A"/>
              </a:solidFill>
              <a:effectLst>
                <a:outerShdw blurRad="38100" dist="19050" dir="2700000" algn="tl" rotWithShape="0">
                  <a:srgbClr val="1D1D1A">
                    <a:alpha val="40000"/>
                  </a:srgbClr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0" name="Straight Arrow Connector 22">
            <a:extLst>
              <a:ext uri="{FF2B5EF4-FFF2-40B4-BE49-F238E27FC236}">
                <a16:creationId xmlns:a16="http://schemas.microsoft.com/office/drawing/2014/main" id="{7C1F9CC2-225F-4675-8E78-01D36C2A4E34}"/>
              </a:ext>
            </a:extLst>
          </p:cNvPr>
          <p:cNvCxnSpPr>
            <a:cxnSpLocks/>
            <a:stCxn id="20" idx="3"/>
            <a:endCxn id="25" idx="1"/>
          </p:cNvCxnSpPr>
          <p:nvPr/>
        </p:nvCxnSpPr>
        <p:spPr>
          <a:xfrm flipV="1">
            <a:off x="4161688" y="5355165"/>
            <a:ext cx="275011" cy="2764"/>
          </a:xfrm>
          <a:prstGeom prst="straightConnector1">
            <a:avLst/>
          </a:prstGeom>
          <a:noFill/>
          <a:ln w="9525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31" name="Straight Arrow Connector 22">
            <a:extLst>
              <a:ext uri="{FF2B5EF4-FFF2-40B4-BE49-F238E27FC236}">
                <a16:creationId xmlns:a16="http://schemas.microsoft.com/office/drawing/2014/main" id="{0506EF8A-2B4E-462C-84A7-72CD39075930}"/>
              </a:ext>
            </a:extLst>
          </p:cNvPr>
          <p:cNvCxnSpPr>
            <a:cxnSpLocks/>
            <a:stCxn id="22" idx="3"/>
            <a:endCxn id="27" idx="1"/>
          </p:cNvCxnSpPr>
          <p:nvPr/>
        </p:nvCxnSpPr>
        <p:spPr>
          <a:xfrm>
            <a:off x="4160401" y="5547845"/>
            <a:ext cx="276298" cy="733"/>
          </a:xfrm>
          <a:prstGeom prst="straightConnector1">
            <a:avLst/>
          </a:prstGeom>
          <a:noFill/>
          <a:ln w="9525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32" name="Straight Arrow Connector 22">
            <a:extLst>
              <a:ext uri="{FF2B5EF4-FFF2-40B4-BE49-F238E27FC236}">
                <a16:creationId xmlns:a16="http://schemas.microsoft.com/office/drawing/2014/main" id="{754F1359-B901-46BD-B897-3B5103317E4E}"/>
              </a:ext>
            </a:extLst>
          </p:cNvPr>
          <p:cNvCxnSpPr>
            <a:cxnSpLocks/>
            <a:stCxn id="21" idx="3"/>
            <a:endCxn id="26" idx="1"/>
          </p:cNvCxnSpPr>
          <p:nvPr/>
        </p:nvCxnSpPr>
        <p:spPr>
          <a:xfrm>
            <a:off x="4161692" y="5740114"/>
            <a:ext cx="275007" cy="1625"/>
          </a:xfrm>
          <a:prstGeom prst="straightConnector1">
            <a:avLst/>
          </a:prstGeom>
          <a:noFill/>
          <a:ln w="9525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33" name="v4_s7_id33">
            <a:extLst>
              <a:ext uri="{FF2B5EF4-FFF2-40B4-BE49-F238E27FC236}">
                <a16:creationId xmlns:a16="http://schemas.microsoft.com/office/drawing/2014/main" id="{CE88652E-E9C7-42BC-A3F7-62C3BA13A8DD}"/>
              </a:ext>
            </a:extLst>
          </p:cNvPr>
          <p:cNvSpPr/>
          <p:nvPr/>
        </p:nvSpPr>
        <p:spPr>
          <a:xfrm>
            <a:off x="2551736" y="5067359"/>
            <a:ext cx="674339" cy="192940"/>
          </a:xfrm>
          <a:prstGeom prst="rect">
            <a:avLst/>
          </a:prstGeom>
          <a:solidFill>
            <a:srgbClr val="61B230">
              <a:lumMod val="20000"/>
              <a:lumOff val="80000"/>
            </a:srgbClr>
          </a:solidFill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40" b="0" i="0" u="none" strike="noStrike" kern="0" cap="none" spc="0" normalizeH="0" baseline="0" noProof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ptr1</a:t>
            </a:r>
            <a:endParaRPr kumimoji="0" lang="en-US" sz="104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4" name="v4_s7_id34">
            <a:extLst>
              <a:ext uri="{FF2B5EF4-FFF2-40B4-BE49-F238E27FC236}">
                <a16:creationId xmlns:a16="http://schemas.microsoft.com/office/drawing/2014/main" id="{B3FDED18-6BE5-4C7B-A6F8-682E9F1D8DCC}"/>
              </a:ext>
            </a:extLst>
          </p:cNvPr>
          <p:cNvSpPr/>
          <p:nvPr/>
        </p:nvSpPr>
        <p:spPr>
          <a:xfrm>
            <a:off x="2551742" y="5261458"/>
            <a:ext cx="674337" cy="192940"/>
          </a:xfrm>
          <a:prstGeom prst="rect">
            <a:avLst/>
          </a:prstGeom>
          <a:solidFill>
            <a:srgbClr val="FFB2B2"/>
          </a:solidFill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40" b="0" i="0" u="none" strike="noStrike" kern="0" cap="none" spc="0" normalizeH="0" baseline="0" noProof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ptr2</a:t>
            </a:r>
            <a:endParaRPr kumimoji="0" lang="en-US" sz="104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5" name="v4_s7_id35">
            <a:extLst>
              <a:ext uri="{FF2B5EF4-FFF2-40B4-BE49-F238E27FC236}">
                <a16:creationId xmlns:a16="http://schemas.microsoft.com/office/drawing/2014/main" id="{CD23DE06-EB32-47E7-B535-4CF9CEBD9B6B}"/>
              </a:ext>
            </a:extLst>
          </p:cNvPr>
          <p:cNvSpPr/>
          <p:nvPr/>
        </p:nvSpPr>
        <p:spPr>
          <a:xfrm>
            <a:off x="2551731" y="5643644"/>
            <a:ext cx="674341" cy="192940"/>
          </a:xfrm>
          <a:prstGeom prst="rect">
            <a:avLst/>
          </a:prstGeom>
          <a:solidFill>
            <a:srgbClr val="FFFFFF">
              <a:lumMod val="95000"/>
            </a:srgbClr>
          </a:solidFill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4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……</a:t>
            </a:r>
          </a:p>
        </p:txBody>
      </p:sp>
      <p:sp>
        <p:nvSpPr>
          <p:cNvPr id="36" name="v4_s7_id36">
            <a:extLst>
              <a:ext uri="{FF2B5EF4-FFF2-40B4-BE49-F238E27FC236}">
                <a16:creationId xmlns:a16="http://schemas.microsoft.com/office/drawing/2014/main" id="{DF4E1435-FD5B-4576-81BF-97D9B6D51168}"/>
              </a:ext>
            </a:extLst>
          </p:cNvPr>
          <p:cNvSpPr/>
          <p:nvPr/>
        </p:nvSpPr>
        <p:spPr>
          <a:xfrm>
            <a:off x="2553612" y="5451375"/>
            <a:ext cx="671170" cy="192940"/>
          </a:xfrm>
          <a:prstGeom prst="rect">
            <a:avLst/>
          </a:prstGeom>
          <a:solidFill>
            <a:srgbClr val="FFF4CB"/>
          </a:solidFill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40" b="0" i="0" u="none" strike="noStrike" kern="0" cap="none" spc="0" normalizeH="0" baseline="0" noProof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ptr3</a:t>
            </a:r>
            <a:endParaRPr kumimoji="0" lang="en-US" sz="104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id="{3A616C29-1008-4FDD-AE9C-480D8847E34C}"/>
              </a:ext>
            </a:extLst>
          </p:cNvPr>
          <p:cNvCxnSpPr>
            <a:stCxn id="33" idx="3"/>
            <a:endCxn id="19" idx="1"/>
          </p:cNvCxnSpPr>
          <p:nvPr/>
        </p:nvCxnSpPr>
        <p:spPr>
          <a:xfrm>
            <a:off x="3226075" y="5163829"/>
            <a:ext cx="261275" cy="0"/>
          </a:xfrm>
          <a:prstGeom prst="straightConnector1">
            <a:avLst/>
          </a:prstGeom>
          <a:noFill/>
          <a:ln w="1270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8" name="直接箭头连接符 37">
            <a:extLst>
              <a:ext uri="{FF2B5EF4-FFF2-40B4-BE49-F238E27FC236}">
                <a16:creationId xmlns:a16="http://schemas.microsoft.com/office/drawing/2014/main" id="{57F41C77-2A5A-4192-862B-BB82E9882C03}"/>
              </a:ext>
            </a:extLst>
          </p:cNvPr>
          <p:cNvCxnSpPr/>
          <p:nvPr/>
        </p:nvCxnSpPr>
        <p:spPr>
          <a:xfrm>
            <a:off x="3226076" y="5357927"/>
            <a:ext cx="261279" cy="0"/>
          </a:xfrm>
          <a:prstGeom prst="straightConnector1">
            <a:avLst/>
          </a:prstGeom>
          <a:noFill/>
          <a:ln w="1270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39" name="直接箭头连接符 38">
            <a:extLst>
              <a:ext uri="{FF2B5EF4-FFF2-40B4-BE49-F238E27FC236}">
                <a16:creationId xmlns:a16="http://schemas.microsoft.com/office/drawing/2014/main" id="{20BA7036-287D-463B-BDE5-DC410103B5FE}"/>
              </a:ext>
            </a:extLst>
          </p:cNvPr>
          <p:cNvCxnSpPr/>
          <p:nvPr/>
        </p:nvCxnSpPr>
        <p:spPr>
          <a:xfrm>
            <a:off x="3226076" y="5549311"/>
            <a:ext cx="261279" cy="0"/>
          </a:xfrm>
          <a:prstGeom prst="straightConnector1">
            <a:avLst/>
          </a:prstGeom>
          <a:noFill/>
          <a:ln w="12700" cap="flat" cmpd="sng" algn="ctr">
            <a:solidFill>
              <a:srgbClr val="666666">
                <a:lumMod val="60000"/>
                <a:lumOff val="40000"/>
              </a:srgbClr>
            </a:solidFill>
            <a:prstDash val="solid"/>
            <a:miter lim="800000"/>
            <a:tailEnd type="triangle"/>
          </a:ln>
          <a:effectLst/>
        </p:spPr>
      </p:cxnSp>
      <p:sp>
        <p:nvSpPr>
          <p:cNvPr id="40" name="v4_s7_id40">
            <a:extLst>
              <a:ext uri="{FF2B5EF4-FFF2-40B4-BE49-F238E27FC236}">
                <a16:creationId xmlns:a16="http://schemas.microsoft.com/office/drawing/2014/main" id="{B6EA65E0-B2D4-4ECC-89D3-1A8D8B390C98}"/>
              </a:ext>
            </a:extLst>
          </p:cNvPr>
          <p:cNvSpPr txBox="1"/>
          <p:nvPr/>
        </p:nvSpPr>
        <p:spPr>
          <a:xfrm>
            <a:off x="2334776" y="4755762"/>
            <a:ext cx="1100841" cy="3200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kumimoji="1" lang="zh-CN" altLang="en-US" sz="104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内存指针</a:t>
            </a:r>
            <a:endParaRPr kumimoji="1" lang="en-US" altLang="zh-CN" sz="104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r>
              <a:rPr kumimoji="1" lang="en-US" altLang="zh-CN" sz="104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1" lang="en-US" altLang="zh-CN" sz="104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ptr_tag</a:t>
            </a:r>
            <a:r>
              <a:rPr kumimoji="1" lang="en-US" altLang="zh-CN" sz="104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kumimoji="1" lang="en-US" sz="104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v4_s7_id41">
            <a:extLst>
              <a:ext uri="{FF2B5EF4-FFF2-40B4-BE49-F238E27FC236}">
                <a16:creationId xmlns:a16="http://schemas.microsoft.com/office/drawing/2014/main" id="{98968987-6F8D-4F66-9AD0-94BFBAB22D62}"/>
              </a:ext>
            </a:extLst>
          </p:cNvPr>
          <p:cNvSpPr/>
          <p:nvPr/>
        </p:nvSpPr>
        <p:spPr>
          <a:xfrm>
            <a:off x="760174" y="2760791"/>
            <a:ext cx="713168" cy="428174"/>
          </a:xfrm>
          <a:prstGeom prst="flowChartDocument">
            <a:avLst/>
          </a:prstGeom>
          <a:noFill/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040" kern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仓颉</a:t>
            </a:r>
            <a:endParaRPr lang="en-US" altLang="zh-CN" sz="1040" kern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040" kern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代码</a:t>
            </a:r>
            <a:endParaRPr lang="zh-CN" altLang="en-US" sz="1040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v4_s7_id42">
            <a:extLst>
              <a:ext uri="{FF2B5EF4-FFF2-40B4-BE49-F238E27FC236}">
                <a16:creationId xmlns:a16="http://schemas.microsoft.com/office/drawing/2014/main" id="{34062C80-DA6A-43FC-8CA9-6AFC8A0C9B95}"/>
              </a:ext>
            </a:extLst>
          </p:cNvPr>
          <p:cNvSpPr/>
          <p:nvPr/>
        </p:nvSpPr>
        <p:spPr>
          <a:xfrm>
            <a:off x="1828758" y="2748280"/>
            <a:ext cx="704894" cy="369376"/>
          </a:xfrm>
          <a:prstGeom prst="roundRect">
            <a:avLst/>
          </a:prstGeom>
          <a:noFill/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04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前端解析</a:t>
            </a:r>
          </a:p>
        </p:txBody>
      </p:sp>
      <p:sp>
        <p:nvSpPr>
          <p:cNvPr id="43" name="v4_s7_id43">
            <a:extLst>
              <a:ext uri="{FF2B5EF4-FFF2-40B4-BE49-F238E27FC236}">
                <a16:creationId xmlns:a16="http://schemas.microsoft.com/office/drawing/2014/main" id="{E1BCEF49-F8BA-4208-94C2-78121D9253EB}"/>
              </a:ext>
            </a:extLst>
          </p:cNvPr>
          <p:cNvSpPr/>
          <p:nvPr/>
        </p:nvSpPr>
        <p:spPr>
          <a:xfrm>
            <a:off x="2754678" y="2748277"/>
            <a:ext cx="704894" cy="369376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4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中端优化</a:t>
            </a:r>
          </a:p>
        </p:txBody>
      </p:sp>
      <p:sp>
        <p:nvSpPr>
          <p:cNvPr id="44" name="v4_s7_id44">
            <a:extLst>
              <a:ext uri="{FF2B5EF4-FFF2-40B4-BE49-F238E27FC236}">
                <a16:creationId xmlns:a16="http://schemas.microsoft.com/office/drawing/2014/main" id="{AB1593EA-D90D-4CE6-B10F-52F654CE55DF}"/>
              </a:ext>
            </a:extLst>
          </p:cNvPr>
          <p:cNvSpPr/>
          <p:nvPr/>
        </p:nvSpPr>
        <p:spPr>
          <a:xfrm>
            <a:off x="3713506" y="2752260"/>
            <a:ext cx="659334" cy="369376"/>
          </a:xfrm>
          <a:prstGeom prst="roundRect">
            <a:avLst/>
          </a:prstGeom>
          <a:noFill/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04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后端生成</a:t>
            </a:r>
          </a:p>
        </p:txBody>
      </p:sp>
      <p:cxnSp>
        <p:nvCxnSpPr>
          <p:cNvPr id="45" name="直接箭头连接符 31">
            <a:extLst>
              <a:ext uri="{FF2B5EF4-FFF2-40B4-BE49-F238E27FC236}">
                <a16:creationId xmlns:a16="http://schemas.microsoft.com/office/drawing/2014/main" id="{BFF7B41E-1862-4204-A4FA-C1F670C22CBB}"/>
              </a:ext>
            </a:extLst>
          </p:cNvPr>
          <p:cNvCxnSpPr>
            <a:cxnSpLocks/>
            <a:stCxn id="42" idx="3"/>
            <a:endCxn id="43" idx="1"/>
          </p:cNvCxnSpPr>
          <p:nvPr/>
        </p:nvCxnSpPr>
        <p:spPr>
          <a:xfrm flipV="1">
            <a:off x="2533652" y="2932966"/>
            <a:ext cx="221026" cy="3"/>
          </a:xfrm>
          <a:prstGeom prst="straightConnector1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6" name="直接箭头连接符 32">
            <a:extLst>
              <a:ext uri="{FF2B5EF4-FFF2-40B4-BE49-F238E27FC236}">
                <a16:creationId xmlns:a16="http://schemas.microsoft.com/office/drawing/2014/main" id="{89E57582-308F-47D9-A10C-CF238DF09567}"/>
              </a:ext>
            </a:extLst>
          </p:cNvPr>
          <p:cNvCxnSpPr>
            <a:cxnSpLocks/>
            <a:stCxn id="43" idx="3"/>
            <a:endCxn id="44" idx="1"/>
          </p:cNvCxnSpPr>
          <p:nvPr/>
        </p:nvCxnSpPr>
        <p:spPr>
          <a:xfrm>
            <a:off x="3459572" y="2932966"/>
            <a:ext cx="253934" cy="3983"/>
          </a:xfrm>
          <a:prstGeom prst="straightConnector1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7" name="v4_s7_id47">
            <a:extLst>
              <a:ext uri="{FF2B5EF4-FFF2-40B4-BE49-F238E27FC236}">
                <a16:creationId xmlns:a16="http://schemas.microsoft.com/office/drawing/2014/main" id="{56C0F16B-D4D3-4237-B577-5ABB29610933}"/>
              </a:ext>
            </a:extLst>
          </p:cNvPr>
          <p:cNvSpPr/>
          <p:nvPr/>
        </p:nvSpPr>
        <p:spPr>
          <a:xfrm>
            <a:off x="1555563" y="2734953"/>
            <a:ext cx="142618" cy="396764"/>
          </a:xfrm>
          <a:prstGeom prst="rightArrow">
            <a:avLst/>
          </a:prstGeom>
          <a:noFill/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040" kern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v4_s7_id48">
            <a:extLst>
              <a:ext uri="{FF2B5EF4-FFF2-40B4-BE49-F238E27FC236}">
                <a16:creationId xmlns:a16="http://schemas.microsoft.com/office/drawing/2014/main" id="{77F582B2-6943-4360-9946-16EE6AAB5009}"/>
              </a:ext>
            </a:extLst>
          </p:cNvPr>
          <p:cNvSpPr/>
          <p:nvPr/>
        </p:nvSpPr>
        <p:spPr>
          <a:xfrm>
            <a:off x="1177960" y="3580746"/>
            <a:ext cx="1380532" cy="571308"/>
          </a:xfrm>
          <a:prstGeom prst="roundRect">
            <a:avLst/>
          </a:prstGeom>
          <a:solidFill>
            <a:srgbClr val="CFEBF6"/>
          </a:solidFill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13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仓颉内存事件管理框架</a:t>
            </a:r>
            <a:endParaRPr lang="zh-CN" altLang="en-US" sz="1300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9" name="肘形连接符 5">
            <a:extLst>
              <a:ext uri="{FF2B5EF4-FFF2-40B4-BE49-F238E27FC236}">
                <a16:creationId xmlns:a16="http://schemas.microsoft.com/office/drawing/2014/main" id="{79647F79-54F7-4A6F-A775-D3E148480417}"/>
              </a:ext>
            </a:extLst>
          </p:cNvPr>
          <p:cNvCxnSpPr>
            <a:stCxn id="48" idx="0"/>
            <a:endCxn id="43" idx="2"/>
          </p:cNvCxnSpPr>
          <p:nvPr/>
        </p:nvCxnSpPr>
        <p:spPr>
          <a:xfrm rot="5400000" flipH="1" flipV="1">
            <a:off x="2256128" y="2729751"/>
            <a:ext cx="463094" cy="1238899"/>
          </a:xfrm>
          <a:prstGeom prst="bentConnector3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sp>
        <p:nvSpPr>
          <p:cNvPr id="50" name="v4_s7_id50">
            <a:extLst>
              <a:ext uri="{FF2B5EF4-FFF2-40B4-BE49-F238E27FC236}">
                <a16:creationId xmlns:a16="http://schemas.microsoft.com/office/drawing/2014/main" id="{8232290F-8EFA-4371-9897-CD80BF540B87}"/>
              </a:ext>
            </a:extLst>
          </p:cNvPr>
          <p:cNvSpPr/>
          <p:nvPr/>
        </p:nvSpPr>
        <p:spPr>
          <a:xfrm>
            <a:off x="4745916" y="2752260"/>
            <a:ext cx="633841" cy="366370"/>
          </a:xfrm>
          <a:prstGeom prst="roundRect">
            <a:avLst/>
          </a:prstGeom>
          <a:noFill/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040" kern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二进制</a:t>
            </a:r>
            <a:br>
              <a:rPr lang="en-US" altLang="zh-CN" sz="1040" kern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lang="en-US" altLang="zh-CN" sz="1040" kern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040" kern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插桩后</a:t>
            </a:r>
            <a:r>
              <a:rPr lang="en-US" altLang="zh-CN" sz="1040" kern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endParaRPr lang="zh-CN" altLang="en-US" sz="1040" kern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v4_s7_id51">
            <a:extLst>
              <a:ext uri="{FF2B5EF4-FFF2-40B4-BE49-F238E27FC236}">
                <a16:creationId xmlns:a16="http://schemas.microsoft.com/office/drawing/2014/main" id="{9682F975-4215-4558-AEE6-590404CF92DE}"/>
              </a:ext>
            </a:extLst>
          </p:cNvPr>
          <p:cNvSpPr/>
          <p:nvPr/>
        </p:nvSpPr>
        <p:spPr>
          <a:xfrm>
            <a:off x="4497934" y="2733030"/>
            <a:ext cx="142618" cy="396764"/>
          </a:xfrm>
          <a:prstGeom prst="rightArrow">
            <a:avLst/>
          </a:prstGeom>
          <a:noFill/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en-US" sz="1040" kern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v4_s7_id52">
            <a:extLst>
              <a:ext uri="{FF2B5EF4-FFF2-40B4-BE49-F238E27FC236}">
                <a16:creationId xmlns:a16="http://schemas.microsoft.com/office/drawing/2014/main" id="{99540DAE-5279-48B7-93CD-9C1159B0B720}"/>
              </a:ext>
            </a:extLst>
          </p:cNvPr>
          <p:cNvSpPr/>
          <p:nvPr/>
        </p:nvSpPr>
        <p:spPr>
          <a:xfrm>
            <a:off x="3728391" y="3311491"/>
            <a:ext cx="1268916" cy="231841"/>
          </a:xfrm>
          <a:prstGeom prst="roundRect">
            <a:avLst/>
          </a:prstGeom>
          <a:noFill/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170" kern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访存事件识别</a:t>
            </a:r>
            <a:endParaRPr lang="zh-CN" altLang="en-US" sz="1170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v4_s7_id53">
            <a:extLst>
              <a:ext uri="{FF2B5EF4-FFF2-40B4-BE49-F238E27FC236}">
                <a16:creationId xmlns:a16="http://schemas.microsoft.com/office/drawing/2014/main" id="{D329F074-617D-421E-9CE7-7EED583EAB41}"/>
              </a:ext>
            </a:extLst>
          </p:cNvPr>
          <p:cNvSpPr/>
          <p:nvPr/>
        </p:nvSpPr>
        <p:spPr>
          <a:xfrm>
            <a:off x="3723438" y="3570763"/>
            <a:ext cx="1268916" cy="231841"/>
          </a:xfrm>
          <a:prstGeom prst="roundRect">
            <a:avLst/>
          </a:prstGeom>
          <a:noFill/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170" kern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自动插桩</a:t>
            </a:r>
            <a:endParaRPr lang="zh-CN" altLang="en-US" sz="1170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v4_s7_id54">
            <a:extLst>
              <a:ext uri="{FF2B5EF4-FFF2-40B4-BE49-F238E27FC236}">
                <a16:creationId xmlns:a16="http://schemas.microsoft.com/office/drawing/2014/main" id="{96DABFED-42AA-45F0-A817-B45D643E6C35}"/>
              </a:ext>
            </a:extLst>
          </p:cNvPr>
          <p:cNvSpPr/>
          <p:nvPr/>
        </p:nvSpPr>
        <p:spPr>
          <a:xfrm>
            <a:off x="3731113" y="3830034"/>
            <a:ext cx="1268916" cy="231841"/>
          </a:xfrm>
          <a:prstGeom prst="roundRect">
            <a:avLst/>
          </a:prstGeom>
          <a:noFill/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170" kern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手动插桩接口</a:t>
            </a:r>
            <a:endParaRPr lang="zh-CN" altLang="en-US" sz="1170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v4_s7_id55">
            <a:extLst>
              <a:ext uri="{FF2B5EF4-FFF2-40B4-BE49-F238E27FC236}">
                <a16:creationId xmlns:a16="http://schemas.microsoft.com/office/drawing/2014/main" id="{73EDC9E3-3EFF-4276-8782-D15790F5180D}"/>
              </a:ext>
            </a:extLst>
          </p:cNvPr>
          <p:cNvSpPr/>
          <p:nvPr/>
        </p:nvSpPr>
        <p:spPr>
          <a:xfrm>
            <a:off x="1743978" y="2604354"/>
            <a:ext cx="2694389" cy="563785"/>
          </a:xfrm>
          <a:prstGeom prst="rect">
            <a:avLst/>
          </a:prstGeom>
          <a:noFill/>
          <a:ln w="12700" cap="flat" cmpd="sng" algn="ctr">
            <a:solidFill>
              <a:srgbClr val="1D1D1A"/>
            </a:solidFill>
            <a:prstDash val="sysDot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6" name="v4_s7_id56">
            <a:extLst>
              <a:ext uri="{FF2B5EF4-FFF2-40B4-BE49-F238E27FC236}">
                <a16:creationId xmlns:a16="http://schemas.microsoft.com/office/drawing/2014/main" id="{2CD1BE70-5C33-4A29-9DFE-2929D5DD829D}"/>
              </a:ext>
            </a:extLst>
          </p:cNvPr>
          <p:cNvSpPr/>
          <p:nvPr/>
        </p:nvSpPr>
        <p:spPr>
          <a:xfrm>
            <a:off x="3731113" y="4089306"/>
            <a:ext cx="1268916" cy="231841"/>
          </a:xfrm>
          <a:prstGeom prst="roundRect">
            <a:avLst/>
          </a:prstGeom>
          <a:noFill/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170" kern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内存安全检查</a:t>
            </a:r>
            <a:endParaRPr lang="zh-CN" altLang="en-US" sz="1170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7" name="肘形连接符 136">
            <a:extLst>
              <a:ext uri="{FF2B5EF4-FFF2-40B4-BE49-F238E27FC236}">
                <a16:creationId xmlns:a16="http://schemas.microsoft.com/office/drawing/2014/main" id="{F7D96C5D-170A-499B-8424-184526C86D60}"/>
              </a:ext>
            </a:extLst>
          </p:cNvPr>
          <p:cNvCxnSpPr>
            <a:stCxn id="48" idx="3"/>
            <a:endCxn id="52" idx="1"/>
          </p:cNvCxnSpPr>
          <p:nvPr/>
        </p:nvCxnSpPr>
        <p:spPr>
          <a:xfrm flipV="1">
            <a:off x="2558493" y="3427412"/>
            <a:ext cx="1169899" cy="438989"/>
          </a:xfrm>
          <a:prstGeom prst="bentConnector3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8" name="肘形连接符 137">
            <a:extLst>
              <a:ext uri="{FF2B5EF4-FFF2-40B4-BE49-F238E27FC236}">
                <a16:creationId xmlns:a16="http://schemas.microsoft.com/office/drawing/2014/main" id="{2BBA5F31-253B-4E03-B053-5FDBC56F70ED}"/>
              </a:ext>
            </a:extLst>
          </p:cNvPr>
          <p:cNvCxnSpPr>
            <a:stCxn id="48" idx="3"/>
            <a:endCxn id="53" idx="1"/>
          </p:cNvCxnSpPr>
          <p:nvPr/>
        </p:nvCxnSpPr>
        <p:spPr>
          <a:xfrm flipV="1">
            <a:off x="2558493" y="3686684"/>
            <a:ext cx="1164946" cy="179717"/>
          </a:xfrm>
          <a:prstGeom prst="bentConnector3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9" name="肘形连接符 138">
            <a:extLst>
              <a:ext uri="{FF2B5EF4-FFF2-40B4-BE49-F238E27FC236}">
                <a16:creationId xmlns:a16="http://schemas.microsoft.com/office/drawing/2014/main" id="{1C9D6619-6281-4B64-BBCD-C8B9904BF88A}"/>
              </a:ext>
            </a:extLst>
          </p:cNvPr>
          <p:cNvCxnSpPr>
            <a:stCxn id="48" idx="3"/>
            <a:endCxn id="54" idx="1"/>
          </p:cNvCxnSpPr>
          <p:nvPr/>
        </p:nvCxnSpPr>
        <p:spPr>
          <a:xfrm>
            <a:off x="2558493" y="3866401"/>
            <a:ext cx="1172621" cy="79555"/>
          </a:xfrm>
          <a:prstGeom prst="bentConnector3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0" name="肘形连接符 139">
            <a:extLst>
              <a:ext uri="{FF2B5EF4-FFF2-40B4-BE49-F238E27FC236}">
                <a16:creationId xmlns:a16="http://schemas.microsoft.com/office/drawing/2014/main" id="{F9DA4556-4174-4B2F-A90A-0BF532B49D25}"/>
              </a:ext>
            </a:extLst>
          </p:cNvPr>
          <p:cNvCxnSpPr>
            <a:stCxn id="48" idx="3"/>
            <a:endCxn id="56" idx="1"/>
          </p:cNvCxnSpPr>
          <p:nvPr/>
        </p:nvCxnSpPr>
        <p:spPr>
          <a:xfrm>
            <a:off x="2558493" y="3866401"/>
            <a:ext cx="1172621" cy="338827"/>
          </a:xfrm>
          <a:prstGeom prst="bentConnector3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sp>
        <p:nvSpPr>
          <p:cNvPr id="61" name="v4_s7_id61">
            <a:extLst>
              <a:ext uri="{FF2B5EF4-FFF2-40B4-BE49-F238E27FC236}">
                <a16:creationId xmlns:a16="http://schemas.microsoft.com/office/drawing/2014/main" id="{E6346086-0564-4756-A9B1-379F6DE49EB4}"/>
              </a:ext>
            </a:extLst>
          </p:cNvPr>
          <p:cNvSpPr/>
          <p:nvPr/>
        </p:nvSpPr>
        <p:spPr>
          <a:xfrm>
            <a:off x="1554469" y="3290886"/>
            <a:ext cx="651577" cy="252446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040" kern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落地编译器中端</a:t>
            </a:r>
          </a:p>
        </p:txBody>
      </p:sp>
      <p:sp>
        <p:nvSpPr>
          <p:cNvPr id="62" name="v4_s7_id62">
            <a:extLst>
              <a:ext uri="{FF2B5EF4-FFF2-40B4-BE49-F238E27FC236}">
                <a16:creationId xmlns:a16="http://schemas.microsoft.com/office/drawing/2014/main" id="{287FD291-21EF-4571-8EB8-5D5462F4D0CB}"/>
              </a:ext>
            </a:extLst>
          </p:cNvPr>
          <p:cNvSpPr/>
          <p:nvPr/>
        </p:nvSpPr>
        <p:spPr>
          <a:xfrm>
            <a:off x="2439595" y="3659209"/>
            <a:ext cx="651577" cy="252446"/>
          </a:xfrm>
          <a:prstGeom prst="round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lIns="0" rIns="0" rtlCol="0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1040" kern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功能</a:t>
            </a:r>
          </a:p>
        </p:txBody>
      </p:sp>
      <p:sp>
        <p:nvSpPr>
          <p:cNvPr id="63" name="v4_s7_id63">
            <a:extLst>
              <a:ext uri="{FF2B5EF4-FFF2-40B4-BE49-F238E27FC236}">
                <a16:creationId xmlns:a16="http://schemas.microsoft.com/office/drawing/2014/main" id="{0A7B3446-0527-4569-8218-3B7D052BC94E}"/>
              </a:ext>
            </a:extLst>
          </p:cNvPr>
          <p:cNvSpPr/>
          <p:nvPr/>
        </p:nvSpPr>
        <p:spPr>
          <a:xfrm>
            <a:off x="1010586" y="4759685"/>
            <a:ext cx="4193076" cy="1687275"/>
          </a:xfrm>
          <a:prstGeom prst="rect">
            <a:avLst/>
          </a:prstGeom>
          <a:noFill/>
          <a:ln w="12700" cap="flat" cmpd="sng" algn="ctr">
            <a:solidFill>
              <a:srgbClr val="1D1D1A"/>
            </a:solidFill>
            <a:prstDash val="sysDot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4" name="v4_s7_id64">
            <a:extLst>
              <a:ext uri="{FF2B5EF4-FFF2-40B4-BE49-F238E27FC236}">
                <a16:creationId xmlns:a16="http://schemas.microsoft.com/office/drawing/2014/main" id="{2C9DC783-2D6A-4B30-8E5D-4A7F0D50F011}"/>
              </a:ext>
            </a:extLst>
          </p:cNvPr>
          <p:cNvSpPr/>
          <p:nvPr/>
        </p:nvSpPr>
        <p:spPr>
          <a:xfrm>
            <a:off x="1032182" y="3258773"/>
            <a:ext cx="4155068" cy="1113602"/>
          </a:xfrm>
          <a:prstGeom prst="rect">
            <a:avLst/>
          </a:prstGeom>
          <a:noFill/>
          <a:ln w="12700" cap="flat" cmpd="sng" algn="ctr">
            <a:solidFill>
              <a:srgbClr val="1D1D1A"/>
            </a:solidFill>
            <a:prstDash val="sysDot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5" name="v4_s7_id65">
            <a:extLst>
              <a:ext uri="{FF2B5EF4-FFF2-40B4-BE49-F238E27FC236}">
                <a16:creationId xmlns:a16="http://schemas.microsoft.com/office/drawing/2014/main" id="{DD522B82-AB1A-4D1D-A76D-1E9DFA1D9D48}"/>
              </a:ext>
            </a:extLst>
          </p:cNvPr>
          <p:cNvSpPr/>
          <p:nvPr/>
        </p:nvSpPr>
        <p:spPr>
          <a:xfrm rot="5400000">
            <a:off x="2725150" y="4169748"/>
            <a:ext cx="320090" cy="806190"/>
          </a:xfrm>
          <a:prstGeom prst="rightArrow">
            <a:avLst/>
          </a:prstGeom>
          <a:solidFill>
            <a:srgbClr val="666666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2340" b="0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00" name="v4_s6_id7">
            <a:extLst>
              <a:ext uri="{FF2B5EF4-FFF2-40B4-BE49-F238E27FC236}">
                <a16:creationId xmlns:a16="http://schemas.microsoft.com/office/drawing/2014/main" id="{58482A09-01DA-4E2C-BD98-5540CAC95A0B}"/>
              </a:ext>
            </a:extLst>
          </p:cNvPr>
          <p:cNvSpPr>
            <a:spLocks noGrp="1"/>
          </p:cNvSpPr>
          <p:nvPr/>
        </p:nvSpPr>
        <p:spPr>
          <a:xfrm>
            <a:off x="361950" y="228600"/>
            <a:ext cx="11430000" cy="5715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algn="l" defTabSz="914112">
              <a:buNone/>
              <a:defRPr sz="25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跨语言内存安全：HWASAN 与 GWP-ASAN</a:t>
            </a:r>
          </a:p>
        </p:txBody>
      </p:sp>
      <p:sp>
        <p:nvSpPr>
          <p:cNvPr id="501" name="restore_hw_heading">
            <a:extLst>
              <a:ext uri="{FF2B5EF4-FFF2-40B4-BE49-F238E27FC236}">
                <a16:creationId xmlns:a16="http://schemas.microsoft.com/office/drawing/2014/main" id="{DB87C71E-9E9D-49A7-92CE-D273632A778E}"/>
              </a:ext>
            </a:extLst>
          </p:cNvPr>
          <p:cNvSpPr>
            <a:spLocks noGrp="1"/>
          </p:cNvSpPr>
          <p:nvPr/>
        </p:nvSpPr>
        <p:spPr>
          <a:xfrm>
            <a:off x="361950" y="844550"/>
            <a:ext cx="542925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1">
                <a:solidFill>
                  <a:srgbClr val="285EA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 dirty="0" err="1">
                <a:solidFill>
                  <a:srgbClr val="285EA8"/>
                </a:solidFill>
                <a:latin typeface="微软雅黑"/>
                <a:ea typeface="微软雅黑"/>
                <a:cs typeface="微软雅黑"/>
              </a:rPr>
              <a:t>HWASAN：硬件辅助的内存检测</a:t>
            </a:r>
            <a:endParaRPr sz="1875" b="1" dirty="0">
              <a:solidFill>
                <a:srgbClr val="285EA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02" name="restore_hw_description">
            <a:extLst>
              <a:ext uri="{FF2B5EF4-FFF2-40B4-BE49-F238E27FC236}">
                <a16:creationId xmlns:a16="http://schemas.microsoft.com/office/drawing/2014/main" id="{6CC025B8-4761-43EB-AAE1-F67A4E23079C}"/>
              </a:ext>
            </a:extLst>
          </p:cNvPr>
          <p:cNvSpPr>
            <a:spLocks noGrp="1"/>
          </p:cNvSpPr>
          <p:nvPr/>
        </p:nvSpPr>
        <p:spPr>
          <a:xfrm>
            <a:off x="361950" y="1273175"/>
            <a:ext cx="5835650" cy="1366522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marL="285750" lvl="0" indent="-285750">
              <a:lnSpc>
                <a:spcPct val="120000"/>
              </a:lnSpc>
              <a:buFont typeface="Wingdings" pitchFamily="2" charset="2"/>
              <a:buChar char="l"/>
              <a:defRPr/>
            </a:pPr>
            <a:r>
              <a:rPr lang="zh-CN" altLang="en-US" sz="14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构建仓颉内存事件管理框架，提供统一的、跨语言的内存事件识别、插桩和检查接口；</a:t>
            </a:r>
            <a:endParaRPr lang="en-US" altLang="zh-CN" sz="1400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285750" lvl="0" indent="-285750">
              <a:lnSpc>
                <a:spcPct val="120000"/>
              </a:lnSpc>
              <a:buFont typeface="Wingdings" pitchFamily="2" charset="2"/>
              <a:buChar char="l"/>
              <a:defRPr/>
            </a:pPr>
            <a:r>
              <a:rPr lang="zh-CN" altLang="en-US" sz="14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基于硬件</a:t>
            </a:r>
            <a:r>
              <a:rPr lang="en-US" altLang="zh-CN" sz="14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TBI</a:t>
            </a:r>
            <a:r>
              <a:rPr lang="zh-CN" altLang="en-US" sz="14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特性和影子内存，实现</a:t>
            </a:r>
            <a:r>
              <a:rPr lang="en-US" altLang="zh-CN" sz="1400" kern="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ptr_tag</a:t>
            </a:r>
            <a:r>
              <a:rPr lang="zh-CN" altLang="en-US" sz="14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和</a:t>
            </a:r>
            <a:r>
              <a:rPr lang="en-US" altLang="zh-CN" sz="1400" kern="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mem_tag</a:t>
            </a:r>
            <a:r>
              <a:rPr lang="zh-CN" altLang="en-US" sz="14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，跟踪指针</a:t>
            </a:r>
            <a:r>
              <a:rPr lang="en-US" altLang="zh-CN" sz="14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-</a:t>
            </a:r>
            <a:r>
              <a:rPr lang="zh-CN" altLang="en-US" sz="14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内存的绑定关系，提前检测和拦截漏洞；</a:t>
            </a:r>
            <a:endParaRPr lang="en-US" altLang="zh-CN" sz="1400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285750" lvl="0" indent="-285750">
              <a:lnSpc>
                <a:spcPct val="120000"/>
              </a:lnSpc>
              <a:buFont typeface="Wingdings" pitchFamily="2" charset="2"/>
              <a:buChar char="l"/>
              <a:defRPr/>
            </a:pPr>
            <a:r>
              <a:rPr lang="zh-CN" altLang="en-US" sz="14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兼容</a:t>
            </a:r>
            <a:r>
              <a:rPr lang="en-US" altLang="zh-CN" sz="14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</a:t>
            </a:r>
            <a:r>
              <a:rPr lang="zh-CN" altLang="en-US" sz="14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侧</a:t>
            </a:r>
            <a:r>
              <a:rPr lang="en-US" altLang="zh-CN" sz="1400" kern="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HWAsan</a:t>
            </a:r>
            <a:r>
              <a:rPr lang="zh-CN" altLang="en-US" sz="14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机制，实现对</a:t>
            </a:r>
            <a:r>
              <a:rPr lang="en-US" altLang="zh-CN" sz="14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</a:t>
            </a:r>
            <a:r>
              <a:rPr lang="zh-CN" altLang="en-US" sz="14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和仓颉的内存问题检测，覆盖</a:t>
            </a:r>
            <a:r>
              <a:rPr lang="en-US" altLang="zh-CN" sz="14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FFI</a:t>
            </a:r>
            <a:r>
              <a:rPr lang="zh-CN" altLang="en-US" sz="14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场景。</a:t>
            </a:r>
            <a:endParaRPr lang="en-US" altLang="zh-CN" sz="1400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001" name="redraw_heading">
            <a:extLst>
              <a:ext uri="{FF2B5EF4-FFF2-40B4-BE49-F238E27FC236}">
                <a16:creationId xmlns:a16="http://schemas.microsoft.com/office/drawing/2014/main" id="{F4EA79E4-A9B2-48FA-B202-935509089A03}"/>
              </a:ext>
            </a:extLst>
          </p:cNvPr>
          <p:cNvSpPr>
            <a:spLocks noGrp="1"/>
          </p:cNvSpPr>
          <p:nvPr/>
        </p:nvSpPr>
        <p:spPr>
          <a:xfrm>
            <a:off x="6546850" y="844550"/>
            <a:ext cx="5429250" cy="361950"/>
          </a:xfrm>
          <a:prstGeom prst="rect">
            <a:avLst/>
          </a:prstGeom>
          <a:noFill/>
          <a:ln w="0">
            <a:noFill/>
          </a:ln>
        </p:spPr>
        <p:txBody>
          <a:bodyPr lIns="28575" tIns="9525" rIns="28575" bIns="9525" anchor="ctr">
            <a:noAutofit/>
          </a:bodyPr>
          <a:lstStyle/>
          <a:p>
            <a:pPr algn="l">
              <a:defRPr sz="1875" b="1">
                <a:solidFill>
                  <a:srgbClr val="285EA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 dirty="0">
                <a:solidFill>
                  <a:srgbClr val="285EA8"/>
                </a:solidFill>
                <a:latin typeface="微软雅黑"/>
                <a:ea typeface="微软雅黑"/>
                <a:cs typeface="微软雅黑"/>
              </a:rPr>
              <a:t>GWP-ASAN：FFI </a:t>
            </a:r>
            <a:r>
              <a:rPr sz="1875" b="1" dirty="0" err="1">
                <a:solidFill>
                  <a:srgbClr val="285EA8"/>
                </a:solidFill>
                <a:latin typeface="微软雅黑"/>
                <a:ea typeface="微软雅黑"/>
                <a:cs typeface="微软雅黑"/>
              </a:rPr>
              <a:t>数组采样检查</a:t>
            </a:r>
            <a:endParaRPr sz="1875" b="1" dirty="0">
              <a:solidFill>
                <a:srgbClr val="285EA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1002" name="redraw_purpose">
            <a:extLst>
              <a:ext uri="{FF2B5EF4-FFF2-40B4-BE49-F238E27FC236}">
                <a16:creationId xmlns:a16="http://schemas.microsoft.com/office/drawing/2014/main" id="{255D506A-41CC-4C9E-BAC5-A298D1F65EBA}"/>
              </a:ext>
            </a:extLst>
          </p:cNvPr>
          <p:cNvSpPr>
            <a:spLocks noGrp="1"/>
          </p:cNvSpPr>
          <p:nvPr/>
        </p:nvSpPr>
        <p:spPr>
          <a:xfrm>
            <a:off x="6546850" y="1273175"/>
            <a:ext cx="5429250" cy="47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marL="285750" indent="-285750">
              <a:lnSpc>
                <a:spcPct val="120000"/>
              </a:lnSpc>
              <a:buFont typeface="Wingdings" pitchFamily="2" charset="2"/>
              <a:buChar char="l"/>
            </a:pPr>
            <a:r>
              <a:rPr sz="1400" kern="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抽样检测跨语言数组的越界写入</a:t>
            </a:r>
            <a:endParaRPr sz="1400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</a:endParaRPr>
          </a:p>
          <a:p>
            <a:pPr marL="285750" indent="-285750">
              <a:lnSpc>
                <a:spcPct val="120000"/>
              </a:lnSpc>
              <a:buFont typeface="Wingdings" pitchFamily="2" charset="2"/>
              <a:buChar char="l"/>
            </a:pPr>
            <a:r>
              <a:rPr sz="1400" kern="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退出时，检查采样记录中未归还的数据指针</a:t>
            </a:r>
            <a:r>
              <a:rPr lang="zh-CN" altLang="en-US" sz="14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（</a:t>
            </a:r>
            <a:r>
              <a:rPr lang="en-US" altLang="zh-CN" sz="14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acquire</a:t>
            </a:r>
            <a:r>
              <a:rPr lang="zh-CN" altLang="en-US" sz="14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但未</a:t>
            </a:r>
            <a:r>
              <a:rPr lang="en-US" altLang="zh-CN" sz="14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release</a:t>
            </a:r>
            <a:r>
              <a:rPr lang="zh-CN" altLang="en-US" sz="14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）</a:t>
            </a:r>
            <a:r>
              <a:rPr sz="14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</a:rPr>
              <a:t>。</a:t>
            </a:r>
          </a:p>
        </p:txBody>
      </p:sp>
      <p:sp>
        <p:nvSpPr>
          <p:cNvPr id="1003" name="redraw_section1">
            <a:extLst>
              <a:ext uri="{FF2B5EF4-FFF2-40B4-BE49-F238E27FC236}">
                <a16:creationId xmlns:a16="http://schemas.microsoft.com/office/drawing/2014/main" id="{973F2A5D-D11A-45A3-A718-E2BBEB0E87E9}"/>
              </a:ext>
            </a:extLst>
          </p:cNvPr>
          <p:cNvSpPr>
            <a:spLocks noGrp="1"/>
          </p:cNvSpPr>
          <p:nvPr/>
        </p:nvSpPr>
        <p:spPr>
          <a:xfrm>
            <a:off x="6546850" y="1806575"/>
            <a:ext cx="5429250" cy="247650"/>
          </a:xfrm>
          <a:prstGeom prst="rect">
            <a:avLst/>
          </a:prstGeom>
          <a:noFill/>
          <a:ln w="0">
            <a:noFill/>
          </a:ln>
        </p:spPr>
        <p:txBody>
          <a:bodyPr lIns="28575" tIns="9525" rIns="28575" bIns="9525" anchor="ctr">
            <a:noAutofit/>
          </a:bodyPr>
          <a:lstStyle/>
          <a:p>
            <a:pPr algn="l">
              <a:defRPr sz="1500" b="1">
                <a:solidFill>
                  <a:srgbClr val="285EA8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85EA8"/>
                </a:solidFill>
                <a:latin typeface="微软雅黑"/>
                <a:ea typeface="微软雅黑"/>
                <a:cs typeface="微软雅黑"/>
              </a:rPr>
              <a:t>1. 采样后设置检查值</a:t>
            </a:r>
          </a:p>
        </p:txBody>
      </p:sp>
      <p:sp>
        <p:nvSpPr>
          <p:cNvPr id="1004" name="redraw_map">
            <a:extLst>
              <a:ext uri="{FF2B5EF4-FFF2-40B4-BE49-F238E27FC236}">
                <a16:creationId xmlns:a16="http://schemas.microsoft.com/office/drawing/2014/main" id="{F683A6D2-FBEA-46D5-8407-01830818AF76}"/>
              </a:ext>
            </a:extLst>
          </p:cNvPr>
          <p:cNvSpPr>
            <a:spLocks noGrp="1"/>
          </p:cNvSpPr>
          <p:nvPr/>
        </p:nvSpPr>
        <p:spPr>
          <a:xfrm>
            <a:off x="6546850" y="2101850"/>
            <a:ext cx="5429250" cy="276225"/>
          </a:xfrm>
          <a:prstGeom prst="rect">
            <a:avLst/>
          </a:prstGeom>
          <a:solidFill>
            <a:srgbClr val="DDECF9"/>
          </a:solidFill>
          <a:ln w="7620">
            <a:solidFill>
              <a:srgbClr val="65758A"/>
            </a:solidFill>
          </a:ln>
        </p:spPr>
        <p:txBody>
          <a:bodyPr lIns="28575" tIns="9525" rIns="28575" bIns="9525" anchor="ctr">
            <a:noAutofit/>
          </a:bodyPr>
          <a:lstStyle/>
          <a:p>
            <a:pPr algn="ctr">
              <a:defRPr sz="1275" b="1">
                <a:solidFill>
                  <a:srgbClr val="1723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334"/>
                </a:solidFill>
                <a:latin typeface="微软雅黑"/>
                <a:ea typeface="微软雅黑"/>
                <a:cs typeface="微软雅黑"/>
              </a:rPr>
              <a:t>独立记录：g_canary[数据地址] = 预期长度</a:t>
            </a:r>
          </a:p>
        </p:txBody>
      </p:sp>
      <p:sp>
        <p:nvSpPr>
          <p:cNvPr id="1005" name="redraw_case13">
            <a:extLst>
              <a:ext uri="{FF2B5EF4-FFF2-40B4-BE49-F238E27FC236}">
                <a16:creationId xmlns:a16="http://schemas.microsoft.com/office/drawing/2014/main" id="{807A494D-262F-4668-BCA0-BFF1FD6D374F}"/>
              </a:ext>
            </a:extLst>
          </p:cNvPr>
          <p:cNvSpPr>
            <a:spLocks noGrp="1"/>
          </p:cNvSpPr>
          <p:nvPr/>
        </p:nvSpPr>
        <p:spPr>
          <a:xfrm>
            <a:off x="6546850" y="2482850"/>
            <a:ext cx="5429250" cy="219075"/>
          </a:xfrm>
          <a:prstGeom prst="rect">
            <a:avLst/>
          </a:prstGeom>
          <a:noFill/>
          <a:ln w="0">
            <a:noFill/>
          </a:ln>
        </p:spPr>
        <p:txBody>
          <a:bodyPr lIns="28575" tIns="9525" rIns="28575" bIns="9525" anchor="ctr">
            <a:noAutofit/>
          </a:bodyPr>
          <a:lstStyle/>
          <a:p>
            <a:pPr algn="l">
              <a:defRPr sz="1275" b="1">
                <a:solidFill>
                  <a:srgbClr val="1723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334"/>
                </a:solidFill>
                <a:latin typeface="微软雅黑"/>
                <a:ea typeface="微软雅黑"/>
                <a:cs typeface="微软雅黑"/>
              </a:rPr>
              <a:t>数据大小 13 字节：尾部填充 3 字节，padSize = 3</a:t>
            </a:r>
          </a:p>
        </p:txBody>
      </p:sp>
      <p:sp>
        <p:nvSpPr>
          <p:cNvPr id="1006" name="redraw_head13">
            <a:extLst>
              <a:ext uri="{FF2B5EF4-FFF2-40B4-BE49-F238E27FC236}">
                <a16:creationId xmlns:a16="http://schemas.microsoft.com/office/drawing/2014/main" id="{428D09D2-C223-4E14-AFDB-F9F103AE57FB}"/>
              </a:ext>
            </a:extLst>
          </p:cNvPr>
          <p:cNvSpPr>
            <a:spLocks noGrp="1"/>
          </p:cNvSpPr>
          <p:nvPr/>
        </p:nvSpPr>
        <p:spPr>
          <a:xfrm>
            <a:off x="6546850" y="2740025"/>
            <a:ext cx="952500" cy="342900"/>
          </a:xfrm>
          <a:prstGeom prst="rect">
            <a:avLst/>
          </a:prstGeom>
          <a:solidFill>
            <a:srgbClr val="FFF0BE"/>
          </a:solidFill>
          <a:ln w="7620">
            <a:solidFill>
              <a:srgbClr val="65758A"/>
            </a:solidFill>
          </a:ln>
        </p:spPr>
        <p:txBody>
          <a:bodyPr lIns="28575" tIns="9525" rIns="28575" bIns="9525" anchor="ctr">
            <a:noAutofit/>
          </a:bodyPr>
          <a:lstStyle/>
          <a:p>
            <a:pPr algn="ctr">
              <a:defRPr sz="1200" b="0">
                <a:solidFill>
                  <a:srgbClr val="17233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72334"/>
                </a:solidFill>
                <a:latin typeface="微软雅黑"/>
                <a:ea typeface="微软雅黑"/>
                <a:cs typeface="微软雅黑"/>
              </a:rPr>
              <a:t>头部长度</a:t>
            </a:r>
          </a:p>
          <a:p>
            <a:pPr algn="ctr">
              <a:defRPr sz="1200" b="0">
                <a:solidFill>
                  <a:srgbClr val="17233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72334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1007" name="redraw_data13">
            <a:extLst>
              <a:ext uri="{FF2B5EF4-FFF2-40B4-BE49-F238E27FC236}">
                <a16:creationId xmlns:a16="http://schemas.microsoft.com/office/drawing/2014/main" id="{D678A67C-11A3-4A08-A813-3F1433DE06B1}"/>
              </a:ext>
            </a:extLst>
          </p:cNvPr>
          <p:cNvSpPr>
            <a:spLocks noGrp="1"/>
          </p:cNvSpPr>
          <p:nvPr/>
        </p:nvSpPr>
        <p:spPr>
          <a:xfrm>
            <a:off x="7499350" y="2740025"/>
            <a:ext cx="2571750" cy="342900"/>
          </a:xfrm>
          <a:prstGeom prst="rect">
            <a:avLst/>
          </a:prstGeom>
          <a:solidFill>
            <a:srgbClr val="E0F1E5"/>
          </a:solidFill>
          <a:ln w="7620">
            <a:solidFill>
              <a:srgbClr val="65758A"/>
            </a:solidFill>
          </a:ln>
        </p:spPr>
        <p:txBody>
          <a:bodyPr lIns="28575" tIns="9525" rIns="28575" bIns="9525" anchor="ctr">
            <a:noAutofit/>
          </a:bodyPr>
          <a:lstStyle/>
          <a:p>
            <a:pPr algn="ctr">
              <a:defRPr sz="1350" b="0">
                <a:solidFill>
                  <a:srgbClr val="17233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72334"/>
                </a:solidFill>
                <a:latin typeface="微软雅黑"/>
                <a:ea typeface="微软雅黑"/>
                <a:cs typeface="微软雅黑"/>
              </a:rPr>
              <a:t>数组数据（13 字节）</a:t>
            </a:r>
          </a:p>
        </p:txBody>
      </p:sp>
      <p:sp>
        <p:nvSpPr>
          <p:cNvPr id="1008" name="redraw_pad0">
            <a:extLst>
              <a:ext uri="{FF2B5EF4-FFF2-40B4-BE49-F238E27FC236}">
                <a16:creationId xmlns:a16="http://schemas.microsoft.com/office/drawing/2014/main" id="{DBD77F07-E755-46DD-95DD-4B03D3159E36}"/>
              </a:ext>
            </a:extLst>
          </p:cNvPr>
          <p:cNvSpPr>
            <a:spLocks noGrp="1"/>
          </p:cNvSpPr>
          <p:nvPr/>
        </p:nvSpPr>
        <p:spPr>
          <a:xfrm>
            <a:off x="10071100" y="2740025"/>
            <a:ext cx="619125" cy="342900"/>
          </a:xfrm>
          <a:prstGeom prst="rect">
            <a:avLst/>
          </a:prstGeom>
          <a:solidFill>
            <a:srgbClr val="FFF0BE"/>
          </a:solidFill>
          <a:ln w="7620">
            <a:solidFill>
              <a:srgbClr val="65758A"/>
            </a:solidFill>
          </a:ln>
        </p:spPr>
        <p:txBody>
          <a:bodyPr lIns="28575" tIns="9525" rIns="28575" bIns="9525" anchor="ctr">
            <a:noAutofit/>
          </a:bodyPr>
          <a:lstStyle/>
          <a:p>
            <a:pPr algn="ctr">
              <a:defRPr sz="1350" b="1">
                <a:solidFill>
                  <a:srgbClr val="17233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72334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009" name="redraw_pad1">
            <a:extLst>
              <a:ext uri="{FF2B5EF4-FFF2-40B4-BE49-F238E27FC236}">
                <a16:creationId xmlns:a16="http://schemas.microsoft.com/office/drawing/2014/main" id="{5B7CAE7D-1AFE-4D3D-BFB0-2D7F2D51AF13}"/>
              </a:ext>
            </a:extLst>
          </p:cNvPr>
          <p:cNvSpPr>
            <a:spLocks noGrp="1"/>
          </p:cNvSpPr>
          <p:nvPr/>
        </p:nvSpPr>
        <p:spPr>
          <a:xfrm>
            <a:off x="10690225" y="2740025"/>
            <a:ext cx="619125" cy="342900"/>
          </a:xfrm>
          <a:prstGeom prst="rect">
            <a:avLst/>
          </a:prstGeom>
          <a:solidFill>
            <a:srgbClr val="FFF0BE"/>
          </a:solidFill>
          <a:ln w="7620">
            <a:solidFill>
              <a:srgbClr val="65758A"/>
            </a:solidFill>
          </a:ln>
        </p:spPr>
        <p:txBody>
          <a:bodyPr lIns="28575" tIns="9525" rIns="28575" bIns="9525" anchor="ctr">
            <a:noAutofit/>
          </a:bodyPr>
          <a:lstStyle/>
          <a:p>
            <a:pPr algn="ctr">
              <a:defRPr sz="1350" b="1">
                <a:solidFill>
                  <a:srgbClr val="17233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72334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010" name="redraw_pad2">
            <a:extLst>
              <a:ext uri="{FF2B5EF4-FFF2-40B4-BE49-F238E27FC236}">
                <a16:creationId xmlns:a16="http://schemas.microsoft.com/office/drawing/2014/main" id="{974990BF-44B1-4BE4-BCC9-F5673DA11513}"/>
              </a:ext>
            </a:extLst>
          </p:cNvPr>
          <p:cNvSpPr>
            <a:spLocks noGrp="1"/>
          </p:cNvSpPr>
          <p:nvPr/>
        </p:nvSpPr>
        <p:spPr>
          <a:xfrm>
            <a:off x="11309350" y="2740025"/>
            <a:ext cx="619125" cy="342900"/>
          </a:xfrm>
          <a:prstGeom prst="rect">
            <a:avLst/>
          </a:prstGeom>
          <a:solidFill>
            <a:srgbClr val="FFF0BE"/>
          </a:solidFill>
          <a:ln w="7620">
            <a:solidFill>
              <a:srgbClr val="65758A"/>
            </a:solidFill>
          </a:ln>
        </p:spPr>
        <p:txBody>
          <a:bodyPr lIns="28575" tIns="9525" rIns="28575" bIns="9525" anchor="ctr">
            <a:noAutofit/>
          </a:bodyPr>
          <a:lstStyle/>
          <a:p>
            <a:pPr algn="ctr">
              <a:defRPr sz="1350" b="1">
                <a:solidFill>
                  <a:srgbClr val="17233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72334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  <p:sp>
        <p:nvSpPr>
          <p:cNvPr id="1011" name="redraw_case16">
            <a:extLst>
              <a:ext uri="{FF2B5EF4-FFF2-40B4-BE49-F238E27FC236}">
                <a16:creationId xmlns:a16="http://schemas.microsoft.com/office/drawing/2014/main" id="{8E1664A5-AA34-4499-BC5F-7B97435F4663}"/>
              </a:ext>
            </a:extLst>
          </p:cNvPr>
          <p:cNvSpPr>
            <a:spLocks noGrp="1"/>
          </p:cNvSpPr>
          <p:nvPr/>
        </p:nvSpPr>
        <p:spPr>
          <a:xfrm>
            <a:off x="6546850" y="3216275"/>
            <a:ext cx="5429250" cy="219075"/>
          </a:xfrm>
          <a:prstGeom prst="rect">
            <a:avLst/>
          </a:prstGeom>
          <a:noFill/>
          <a:ln w="0">
            <a:noFill/>
          </a:ln>
        </p:spPr>
        <p:txBody>
          <a:bodyPr lIns="28575" tIns="9525" rIns="28575" bIns="9525" anchor="ctr">
            <a:noAutofit/>
          </a:bodyPr>
          <a:lstStyle/>
          <a:p>
            <a:pPr algn="l">
              <a:defRPr sz="1275" b="1">
                <a:solidFill>
                  <a:srgbClr val="1723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72334"/>
                </a:solidFill>
                <a:latin typeface="微软雅黑"/>
                <a:ea typeface="微软雅黑"/>
                <a:cs typeface="微软雅黑"/>
              </a:rPr>
              <a:t>数据大小 16 字节：已经对齐，padSize = 0</a:t>
            </a:r>
          </a:p>
        </p:txBody>
      </p:sp>
      <p:sp>
        <p:nvSpPr>
          <p:cNvPr id="1012" name="redraw_head16">
            <a:extLst>
              <a:ext uri="{FF2B5EF4-FFF2-40B4-BE49-F238E27FC236}">
                <a16:creationId xmlns:a16="http://schemas.microsoft.com/office/drawing/2014/main" id="{5DA3AD59-FB80-4E0A-9F02-9D089A0BCA34}"/>
              </a:ext>
            </a:extLst>
          </p:cNvPr>
          <p:cNvSpPr>
            <a:spLocks noGrp="1"/>
          </p:cNvSpPr>
          <p:nvPr/>
        </p:nvSpPr>
        <p:spPr>
          <a:xfrm>
            <a:off x="6546850" y="3473450"/>
            <a:ext cx="952500" cy="342900"/>
          </a:xfrm>
          <a:prstGeom prst="rect">
            <a:avLst/>
          </a:prstGeom>
          <a:solidFill>
            <a:srgbClr val="FFF0BE"/>
          </a:solidFill>
          <a:ln w="7620">
            <a:solidFill>
              <a:srgbClr val="65758A"/>
            </a:solidFill>
          </a:ln>
        </p:spPr>
        <p:txBody>
          <a:bodyPr lIns="28575" tIns="9525" rIns="28575" bIns="9525" anchor="ctr">
            <a:noAutofit/>
          </a:bodyPr>
          <a:lstStyle/>
          <a:p>
            <a:pPr algn="ctr">
              <a:defRPr sz="1200" b="0">
                <a:solidFill>
                  <a:srgbClr val="17233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72334"/>
                </a:solidFill>
                <a:latin typeface="微软雅黑"/>
                <a:ea typeface="微软雅黑"/>
                <a:cs typeface="微软雅黑"/>
              </a:rPr>
              <a:t>头部长度</a:t>
            </a:r>
          </a:p>
          <a:p>
            <a:pPr algn="ctr">
              <a:defRPr sz="1200" b="0">
                <a:solidFill>
                  <a:srgbClr val="17233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72334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1013" name="redraw_data16">
            <a:extLst>
              <a:ext uri="{FF2B5EF4-FFF2-40B4-BE49-F238E27FC236}">
                <a16:creationId xmlns:a16="http://schemas.microsoft.com/office/drawing/2014/main" id="{44D90CC2-E6C9-4DA2-9322-C0801E10975A}"/>
              </a:ext>
            </a:extLst>
          </p:cNvPr>
          <p:cNvSpPr>
            <a:spLocks noGrp="1"/>
          </p:cNvSpPr>
          <p:nvPr/>
        </p:nvSpPr>
        <p:spPr>
          <a:xfrm>
            <a:off x="7499350" y="3473450"/>
            <a:ext cx="4429125" cy="342900"/>
          </a:xfrm>
          <a:prstGeom prst="rect">
            <a:avLst/>
          </a:prstGeom>
          <a:solidFill>
            <a:srgbClr val="E0F1E5"/>
          </a:solidFill>
          <a:ln w="7620">
            <a:solidFill>
              <a:srgbClr val="65758A"/>
            </a:solidFill>
          </a:ln>
        </p:spPr>
        <p:txBody>
          <a:bodyPr lIns="28575" tIns="9525" rIns="28575" bIns="9525" anchor="ctr">
            <a:noAutofit/>
          </a:bodyPr>
          <a:lstStyle/>
          <a:p>
            <a:pPr algn="ctr">
              <a:defRPr sz="1275" b="0">
                <a:solidFill>
                  <a:srgbClr val="1723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72334"/>
                </a:solidFill>
                <a:latin typeface="微软雅黑"/>
                <a:ea typeface="微软雅黑"/>
                <a:cs typeface="微软雅黑"/>
              </a:rPr>
              <a:t>数组数据（16 字节）　无尾部填充区</a:t>
            </a:r>
          </a:p>
        </p:txBody>
      </p:sp>
      <p:sp>
        <p:nvSpPr>
          <p:cNvPr id="1014" name="redraw_check">
            <a:extLst>
              <a:ext uri="{FF2B5EF4-FFF2-40B4-BE49-F238E27FC236}">
                <a16:creationId xmlns:a16="http://schemas.microsoft.com/office/drawing/2014/main" id="{480D59EC-CCCA-4EB3-8C86-C711FAE48EC7}"/>
              </a:ext>
            </a:extLst>
          </p:cNvPr>
          <p:cNvSpPr>
            <a:spLocks noGrp="1"/>
          </p:cNvSpPr>
          <p:nvPr/>
        </p:nvSpPr>
        <p:spPr>
          <a:xfrm>
            <a:off x="6546850" y="3940175"/>
            <a:ext cx="5429250" cy="285750"/>
          </a:xfrm>
          <a:prstGeom prst="rect">
            <a:avLst/>
          </a:prstGeom>
          <a:noFill/>
          <a:ln w="0">
            <a:noFill/>
          </a:ln>
        </p:spPr>
        <p:txBody>
          <a:bodyPr lIns="28575" tIns="9525" rIns="28575" bIns="9525" anchor="ctr">
            <a:noAutofit/>
          </a:bodyPr>
          <a:lstStyle/>
          <a:p>
            <a:pPr algn="l">
              <a:defRPr sz="1275" b="0">
                <a:solidFill>
                  <a:srgbClr val="1723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72334"/>
                </a:solidFill>
                <a:latin typeface="微软雅黑"/>
                <a:ea typeface="微软雅黑"/>
                <a:cs typeface="微软雅黑"/>
              </a:rPr>
              <a:t>哨兵值：头部使用预期长度；尾部各字节设为 padSize。</a:t>
            </a:r>
          </a:p>
        </p:txBody>
      </p:sp>
      <p:sp>
        <p:nvSpPr>
          <p:cNvPr id="1015" name="redraw_section2">
            <a:extLst>
              <a:ext uri="{FF2B5EF4-FFF2-40B4-BE49-F238E27FC236}">
                <a16:creationId xmlns:a16="http://schemas.microsoft.com/office/drawing/2014/main" id="{FDCF475A-C3CC-41D4-88FF-FA46D69E088C}"/>
              </a:ext>
            </a:extLst>
          </p:cNvPr>
          <p:cNvSpPr>
            <a:spLocks noGrp="1"/>
          </p:cNvSpPr>
          <p:nvPr/>
        </p:nvSpPr>
        <p:spPr>
          <a:xfrm>
            <a:off x="6546850" y="4416425"/>
            <a:ext cx="5429250" cy="247650"/>
          </a:xfrm>
          <a:prstGeom prst="rect">
            <a:avLst/>
          </a:prstGeom>
          <a:noFill/>
          <a:ln w="0">
            <a:noFill/>
          </a:ln>
        </p:spPr>
        <p:txBody>
          <a:bodyPr lIns="28575" tIns="9525" rIns="28575" bIns="9525" anchor="ctr">
            <a:noAutofit/>
          </a:bodyPr>
          <a:lstStyle/>
          <a:p>
            <a:pPr algn="l">
              <a:defRPr sz="1500" b="1">
                <a:solidFill>
                  <a:srgbClr val="285EA8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285EA8"/>
                </a:solidFill>
                <a:latin typeface="微软雅黑"/>
                <a:ea typeface="微软雅黑"/>
                <a:cs typeface="微软雅黑"/>
              </a:rPr>
              <a:t>2. release 时执行核对</a:t>
            </a:r>
          </a:p>
        </p:txBody>
      </p:sp>
      <p:sp>
        <p:nvSpPr>
          <p:cNvPr id="1016" name="redraw_step0">
            <a:extLst>
              <a:ext uri="{FF2B5EF4-FFF2-40B4-BE49-F238E27FC236}">
                <a16:creationId xmlns:a16="http://schemas.microsoft.com/office/drawing/2014/main" id="{EF9C6786-3C2B-4AA3-B2E9-6266D5E88476}"/>
              </a:ext>
            </a:extLst>
          </p:cNvPr>
          <p:cNvSpPr>
            <a:spLocks noGrp="1"/>
          </p:cNvSpPr>
          <p:nvPr/>
        </p:nvSpPr>
        <p:spPr>
          <a:xfrm>
            <a:off x="6546850" y="4730750"/>
            <a:ext cx="1219200" cy="447675"/>
          </a:xfrm>
          <a:prstGeom prst="rect">
            <a:avLst/>
          </a:prstGeom>
          <a:solidFill>
            <a:srgbClr val="DDECF9"/>
          </a:solidFill>
          <a:ln w="7620">
            <a:solidFill>
              <a:srgbClr val="65758A"/>
            </a:solidFill>
          </a:ln>
        </p:spPr>
        <p:txBody>
          <a:bodyPr lIns="28575" tIns="9525" rIns="28575" bIns="9525" anchor="ctr">
            <a:noAutofit/>
          </a:bodyPr>
          <a:lstStyle/>
          <a:p>
            <a:pPr algn="ctr">
              <a:defRPr sz="1275" b="0">
                <a:solidFill>
                  <a:srgbClr val="1723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72334"/>
                </a:solidFill>
                <a:latin typeface="微软雅黑"/>
                <a:ea typeface="微软雅黑"/>
                <a:cs typeface="微软雅黑"/>
              </a:rPr>
              <a:t>采样</a:t>
            </a:r>
          </a:p>
          <a:p>
            <a:pPr algn="ctr">
              <a:defRPr sz="1275" b="0">
                <a:solidFill>
                  <a:srgbClr val="1723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72334"/>
                </a:solidFill>
                <a:latin typeface="微软雅黑"/>
                <a:ea typeface="微软雅黑"/>
                <a:cs typeface="微软雅黑"/>
              </a:rPr>
              <a:t>命中</a:t>
            </a:r>
          </a:p>
        </p:txBody>
      </p:sp>
      <p:sp>
        <p:nvSpPr>
          <p:cNvPr id="1017" name="redraw_arrow0">
            <a:extLst>
              <a:ext uri="{FF2B5EF4-FFF2-40B4-BE49-F238E27FC236}">
                <a16:creationId xmlns:a16="http://schemas.microsoft.com/office/drawing/2014/main" id="{C899C8C1-0CCC-4200-A441-09AE65FA4B0A}"/>
              </a:ext>
            </a:extLst>
          </p:cNvPr>
          <p:cNvSpPr>
            <a:spLocks noGrp="1"/>
          </p:cNvSpPr>
          <p:nvPr/>
        </p:nvSpPr>
        <p:spPr>
          <a:xfrm>
            <a:off x="7766050" y="4826000"/>
            <a:ext cx="171450" cy="238125"/>
          </a:xfrm>
          <a:prstGeom prst="rect">
            <a:avLst/>
          </a:prstGeom>
          <a:noFill/>
          <a:ln w="0">
            <a:noFill/>
          </a:ln>
        </p:spPr>
        <p:txBody>
          <a:bodyPr lIns="28575" tIns="9525" rIns="28575" bIns="9525" anchor="ctr">
            <a:noAutofit/>
          </a:bodyPr>
          <a:lstStyle/>
          <a:p>
            <a:pPr algn="l">
              <a:defRPr sz="1350" b="0">
                <a:solidFill>
                  <a:srgbClr val="17233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72334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8" name="redraw_step1">
            <a:extLst>
              <a:ext uri="{FF2B5EF4-FFF2-40B4-BE49-F238E27FC236}">
                <a16:creationId xmlns:a16="http://schemas.microsoft.com/office/drawing/2014/main" id="{B8AFA081-B661-4A33-8997-F5EB4E8A6E63}"/>
              </a:ext>
            </a:extLst>
          </p:cNvPr>
          <p:cNvSpPr>
            <a:spLocks noGrp="1"/>
          </p:cNvSpPr>
          <p:nvPr/>
        </p:nvSpPr>
        <p:spPr>
          <a:xfrm>
            <a:off x="7937500" y="4730750"/>
            <a:ext cx="1219200" cy="447675"/>
          </a:xfrm>
          <a:prstGeom prst="rect">
            <a:avLst/>
          </a:prstGeom>
          <a:solidFill>
            <a:srgbClr val="DDECF9"/>
          </a:solidFill>
          <a:ln w="7620">
            <a:solidFill>
              <a:srgbClr val="65758A"/>
            </a:solidFill>
          </a:ln>
        </p:spPr>
        <p:txBody>
          <a:bodyPr lIns="28575" tIns="9525" rIns="28575" bIns="9525" anchor="ctr">
            <a:noAutofit/>
          </a:bodyPr>
          <a:lstStyle/>
          <a:p>
            <a:pPr algn="ctr">
              <a:defRPr sz="1275" b="0">
                <a:solidFill>
                  <a:srgbClr val="1723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72334"/>
                </a:solidFill>
                <a:latin typeface="微软雅黑"/>
                <a:ea typeface="微软雅黑"/>
                <a:cs typeface="微软雅黑"/>
              </a:rPr>
              <a:t>保存 / 设置</a:t>
            </a:r>
          </a:p>
          <a:p>
            <a:pPr algn="ctr">
              <a:defRPr sz="1275" b="0">
                <a:solidFill>
                  <a:srgbClr val="1723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72334"/>
                </a:solidFill>
                <a:latin typeface="微软雅黑"/>
                <a:ea typeface="微软雅黑"/>
                <a:cs typeface="微软雅黑"/>
              </a:rPr>
              <a:t>哨兵值</a:t>
            </a:r>
          </a:p>
        </p:txBody>
      </p:sp>
      <p:sp>
        <p:nvSpPr>
          <p:cNvPr id="1019" name="redraw_arrow1">
            <a:extLst>
              <a:ext uri="{FF2B5EF4-FFF2-40B4-BE49-F238E27FC236}">
                <a16:creationId xmlns:a16="http://schemas.microsoft.com/office/drawing/2014/main" id="{19DE8533-1945-4B24-9283-E0B064ED0190}"/>
              </a:ext>
            </a:extLst>
          </p:cNvPr>
          <p:cNvSpPr>
            <a:spLocks noGrp="1"/>
          </p:cNvSpPr>
          <p:nvPr/>
        </p:nvSpPr>
        <p:spPr>
          <a:xfrm>
            <a:off x="9156700" y="4826000"/>
            <a:ext cx="171450" cy="238125"/>
          </a:xfrm>
          <a:prstGeom prst="rect">
            <a:avLst/>
          </a:prstGeom>
          <a:noFill/>
          <a:ln w="0">
            <a:noFill/>
          </a:ln>
        </p:spPr>
        <p:txBody>
          <a:bodyPr lIns="28575" tIns="9525" rIns="28575" bIns="9525" anchor="ctr">
            <a:noAutofit/>
          </a:bodyPr>
          <a:lstStyle/>
          <a:p>
            <a:pPr algn="l">
              <a:defRPr sz="1350" b="0">
                <a:solidFill>
                  <a:srgbClr val="17233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72334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20" name="redraw_step2">
            <a:extLst>
              <a:ext uri="{FF2B5EF4-FFF2-40B4-BE49-F238E27FC236}">
                <a16:creationId xmlns:a16="http://schemas.microsoft.com/office/drawing/2014/main" id="{B2F00C98-5657-4AFE-8160-DC7B01619790}"/>
              </a:ext>
            </a:extLst>
          </p:cNvPr>
          <p:cNvSpPr>
            <a:spLocks noGrp="1"/>
          </p:cNvSpPr>
          <p:nvPr/>
        </p:nvSpPr>
        <p:spPr>
          <a:xfrm>
            <a:off x="9328150" y="4730750"/>
            <a:ext cx="1219200" cy="447675"/>
          </a:xfrm>
          <a:prstGeom prst="rect">
            <a:avLst/>
          </a:prstGeom>
          <a:solidFill>
            <a:srgbClr val="DDECF9"/>
          </a:solidFill>
          <a:ln w="7620">
            <a:solidFill>
              <a:srgbClr val="65758A"/>
            </a:solidFill>
          </a:ln>
        </p:spPr>
        <p:txBody>
          <a:bodyPr lIns="28575" tIns="9525" rIns="28575" bIns="9525" anchor="ctr">
            <a:noAutofit/>
          </a:bodyPr>
          <a:lstStyle/>
          <a:p>
            <a:pPr algn="ctr">
              <a:defRPr sz="1275" b="0">
                <a:solidFill>
                  <a:srgbClr val="1723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72334"/>
                </a:solidFill>
                <a:latin typeface="微软雅黑"/>
                <a:ea typeface="微软雅黑"/>
                <a:cs typeface="微软雅黑"/>
              </a:rPr>
              <a:t>release</a:t>
            </a:r>
          </a:p>
          <a:p>
            <a:pPr algn="ctr">
              <a:defRPr sz="1275" b="0">
                <a:solidFill>
                  <a:srgbClr val="1723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72334"/>
                </a:solidFill>
                <a:latin typeface="微软雅黑"/>
                <a:ea typeface="微软雅黑"/>
                <a:cs typeface="微软雅黑"/>
              </a:rPr>
              <a:t>核对</a:t>
            </a:r>
          </a:p>
        </p:txBody>
      </p:sp>
      <p:sp>
        <p:nvSpPr>
          <p:cNvPr id="1021" name="redraw_arrow2">
            <a:extLst>
              <a:ext uri="{FF2B5EF4-FFF2-40B4-BE49-F238E27FC236}">
                <a16:creationId xmlns:a16="http://schemas.microsoft.com/office/drawing/2014/main" id="{BBA26798-6542-409F-9F0E-39741E891791}"/>
              </a:ext>
            </a:extLst>
          </p:cNvPr>
          <p:cNvSpPr>
            <a:spLocks noGrp="1"/>
          </p:cNvSpPr>
          <p:nvPr/>
        </p:nvSpPr>
        <p:spPr>
          <a:xfrm>
            <a:off x="10547350" y="4826000"/>
            <a:ext cx="171450" cy="238125"/>
          </a:xfrm>
          <a:prstGeom prst="rect">
            <a:avLst/>
          </a:prstGeom>
          <a:noFill/>
          <a:ln w="0">
            <a:noFill/>
          </a:ln>
        </p:spPr>
        <p:txBody>
          <a:bodyPr lIns="28575" tIns="9525" rIns="28575" bIns="9525" anchor="ctr">
            <a:noAutofit/>
          </a:bodyPr>
          <a:lstStyle/>
          <a:p>
            <a:pPr algn="l">
              <a:defRPr sz="1350" b="0">
                <a:solidFill>
                  <a:srgbClr val="172334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72334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22" name="redraw_step3">
            <a:extLst>
              <a:ext uri="{FF2B5EF4-FFF2-40B4-BE49-F238E27FC236}">
                <a16:creationId xmlns:a16="http://schemas.microsoft.com/office/drawing/2014/main" id="{BE2ADB62-B4C2-48FD-9CCD-0C45F95A750D}"/>
              </a:ext>
            </a:extLst>
          </p:cNvPr>
          <p:cNvSpPr>
            <a:spLocks noGrp="1"/>
          </p:cNvSpPr>
          <p:nvPr/>
        </p:nvSpPr>
        <p:spPr>
          <a:xfrm>
            <a:off x="10718800" y="4730750"/>
            <a:ext cx="1219200" cy="447675"/>
          </a:xfrm>
          <a:prstGeom prst="rect">
            <a:avLst/>
          </a:prstGeom>
          <a:solidFill>
            <a:srgbClr val="DDECF9"/>
          </a:solidFill>
          <a:ln w="7620">
            <a:solidFill>
              <a:srgbClr val="65758A"/>
            </a:solidFill>
          </a:ln>
        </p:spPr>
        <p:txBody>
          <a:bodyPr lIns="28575" tIns="9525" rIns="28575" bIns="9525" anchor="ctr">
            <a:noAutofit/>
          </a:bodyPr>
          <a:lstStyle/>
          <a:p>
            <a:pPr algn="ctr">
              <a:defRPr sz="1275" b="0">
                <a:solidFill>
                  <a:srgbClr val="1723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72334"/>
                </a:solidFill>
                <a:latin typeface="微软雅黑"/>
                <a:ea typeface="微软雅黑"/>
                <a:cs typeface="微软雅黑"/>
              </a:rPr>
              <a:t>不一致时报错</a:t>
            </a:r>
          </a:p>
          <a:p>
            <a:pPr algn="ctr">
              <a:defRPr sz="1275" b="0">
                <a:solidFill>
                  <a:srgbClr val="1723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72334"/>
                </a:solidFill>
                <a:latin typeface="微软雅黑"/>
                <a:ea typeface="微软雅黑"/>
                <a:cs typeface="微软雅黑"/>
              </a:rPr>
              <a:t>并终止</a:t>
            </a:r>
          </a:p>
        </p:txBody>
      </p:sp>
      <p:sp>
        <p:nvSpPr>
          <p:cNvPr id="1023" name="redraw_config">
            <a:extLst>
              <a:ext uri="{FF2B5EF4-FFF2-40B4-BE49-F238E27FC236}">
                <a16:creationId xmlns:a16="http://schemas.microsoft.com/office/drawing/2014/main" id="{88AC966B-92FB-448B-8348-9B5757BB3EEC}"/>
              </a:ext>
            </a:extLst>
          </p:cNvPr>
          <p:cNvSpPr>
            <a:spLocks noGrp="1"/>
          </p:cNvSpPr>
          <p:nvPr/>
        </p:nvSpPr>
        <p:spPr>
          <a:xfrm>
            <a:off x="6546850" y="5321300"/>
            <a:ext cx="5429250" cy="571500"/>
          </a:xfrm>
          <a:prstGeom prst="rect">
            <a:avLst/>
          </a:prstGeom>
          <a:noFill/>
          <a:ln w="0">
            <a:noFill/>
          </a:ln>
        </p:spPr>
        <p:txBody>
          <a:bodyPr lIns="28575" tIns="9525" rIns="28575" bIns="9525" anchor="ctr">
            <a:noAutofit/>
          </a:bodyPr>
          <a:lstStyle/>
          <a:p>
            <a:pPr algn="l">
              <a:defRPr sz="1275" b="0">
                <a:solidFill>
                  <a:srgbClr val="1723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72334"/>
                </a:solidFill>
                <a:latin typeface="微软雅黑"/>
                <a:ea typeface="微软雅黑"/>
                <a:cs typeface="微软雅黑"/>
              </a:rPr>
              <a:t>配置：Linux / OpenHarmony；默认关闭</a:t>
            </a:r>
          </a:p>
          <a:p>
            <a:pPr algn="l">
              <a:defRPr sz="1275" b="0">
                <a:solidFill>
                  <a:srgbClr val="1723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72334"/>
                </a:solidFill>
                <a:latin typeface="微软雅黑"/>
                <a:ea typeface="微软雅黑"/>
                <a:cs typeface="微软雅黑"/>
              </a:rPr>
              <a:t>采样：默认每 5000 次 acquire 调用命中一次</a:t>
            </a:r>
          </a:p>
          <a:p>
            <a:pPr algn="l">
              <a:defRPr sz="1275" b="0">
                <a:solidFill>
                  <a:srgbClr val="172334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172334"/>
                </a:solidFill>
                <a:latin typeface="微软雅黑"/>
                <a:ea typeface="微软雅黑"/>
                <a:cs typeface="微软雅黑"/>
              </a:rPr>
              <a:t>启用：cjEnableGwpAsan=true</a:t>
            </a:r>
          </a:p>
        </p:txBody>
      </p:sp>
      <p:sp>
        <p:nvSpPr>
          <p:cNvPr id="1024" name="redraw_boundary">
            <a:extLst>
              <a:ext uri="{FF2B5EF4-FFF2-40B4-BE49-F238E27FC236}">
                <a16:creationId xmlns:a16="http://schemas.microsoft.com/office/drawing/2014/main" id="{835E4B75-DF31-4F07-8D62-86EC9A31346D}"/>
              </a:ext>
            </a:extLst>
          </p:cNvPr>
          <p:cNvSpPr>
            <a:spLocks noGrp="1"/>
          </p:cNvSpPr>
          <p:nvPr/>
        </p:nvSpPr>
        <p:spPr>
          <a:xfrm>
            <a:off x="6546850" y="5988050"/>
            <a:ext cx="5429250" cy="409575"/>
          </a:xfrm>
          <a:prstGeom prst="rect">
            <a:avLst/>
          </a:prstGeom>
          <a:noFill/>
          <a:ln w="0">
            <a:noFill/>
          </a:ln>
        </p:spPr>
        <p:txBody>
          <a:bodyPr lIns="28575" tIns="9525" rIns="28575" bIns="9525" anchor="ctr">
            <a:noAutofit/>
          </a:bodyPr>
          <a:lstStyle/>
          <a:p>
            <a:pPr algn="l">
              <a:buNone/>
              <a:defRPr sz="1200" b="0">
                <a:solidFill>
                  <a:srgbClr val="17233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72334"/>
                </a:solidFill>
                <a:latin typeface="微软雅黑"/>
                <a:ea typeface="微软雅黑"/>
                <a:cs typeface="微软雅黑"/>
              </a:rPr>
              <a:t>检测范围：采样命中且破坏检查区的越界写。</a:t>
            </a:r>
          </a:p>
          <a:p>
            <a:pPr algn="l">
              <a:buNone/>
              <a:defRPr sz="1200" b="0">
                <a:solidFill>
                  <a:srgbClr val="172334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72334"/>
                </a:solidFill>
                <a:latin typeface="微软雅黑"/>
                <a:ea typeface="微软雅黑"/>
                <a:cs typeface="微软雅黑"/>
              </a:rPr>
              <a:t>检查区：头部 8 字节、尾部填充 0–7 字节。</a:t>
            </a:r>
          </a:p>
        </p:txBody>
      </p:sp>
      <p:cxnSp>
        <p:nvCxnSpPr>
          <p:cNvPr id="3" name="直线连接符 2">
            <a:extLst>
              <a:ext uri="{FF2B5EF4-FFF2-40B4-BE49-F238E27FC236}">
                <a16:creationId xmlns:a16="http://schemas.microsoft.com/office/drawing/2014/main" id="{C8B81101-029C-1042-8C8D-52F8ED1815E3}"/>
              </a:ext>
            </a:extLst>
          </p:cNvPr>
          <p:cNvCxnSpPr>
            <a:cxnSpLocks/>
          </p:cNvCxnSpPr>
          <p:nvPr/>
        </p:nvCxnSpPr>
        <p:spPr>
          <a:xfrm>
            <a:off x="6299200" y="1016000"/>
            <a:ext cx="0" cy="539341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90" name="v7_p6_summary_hw">
            <a:extLst>
              <a:ext uri="{FF2B5EF4-FFF2-40B4-BE49-F238E27FC236}">
                <a16:creationId xmlns:a16="http://schemas.microsoft.com/office/drawing/2014/main" id="{9E34322A-70CF-4052-898D-DAD70D6BE47D}"/>
              </a:ext>
            </a:extLst>
          </p:cNvPr>
          <p:cNvSpPr>
            <a:spLocks noGrp="1"/>
          </p:cNvSpPr>
          <p:nvPr/>
        </p:nvSpPr>
        <p:spPr>
          <a:xfrm>
            <a:off x="361950" y="6572250"/>
            <a:ext cx="5810250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650" b="1">
                <a:solidFill>
                  <a:srgbClr val="285EA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650" b="1">
                <a:solidFill>
                  <a:srgbClr val="285EA8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 dirty="0" err="1">
                <a:solidFill>
                  <a:srgbClr val="285EA8"/>
                </a:solidFill>
                <a:latin typeface="微软雅黑"/>
                <a:ea typeface="微软雅黑"/>
                <a:cs typeface="微软雅黑"/>
              </a:rPr>
              <a:t>覆盖较广、依赖硬件特性、开销较高</a:t>
            </a:r>
            <a:endParaRPr sz="1650" b="1" dirty="0">
              <a:solidFill>
                <a:srgbClr val="285EA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6091" name="v7_p6_summary_gwp">
            <a:extLst>
              <a:ext uri="{FF2B5EF4-FFF2-40B4-BE49-F238E27FC236}">
                <a16:creationId xmlns:a16="http://schemas.microsoft.com/office/drawing/2014/main" id="{8246A5F6-84F9-43C1-A3DB-23CEBB2C19AB}"/>
              </a:ext>
            </a:extLst>
          </p:cNvPr>
          <p:cNvSpPr>
            <a:spLocks noGrp="1"/>
          </p:cNvSpPr>
          <p:nvPr/>
        </p:nvSpPr>
        <p:spPr>
          <a:xfrm>
            <a:off x="6543675" y="6572250"/>
            <a:ext cx="4524375" cy="2571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650" b="1">
                <a:solidFill>
                  <a:srgbClr val="285EA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650" b="1">
                <a:solidFill>
                  <a:srgbClr val="285EA8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285EA8"/>
                </a:solidFill>
                <a:latin typeface="微软雅黑"/>
                <a:ea typeface="微软雅黑"/>
                <a:cs typeface="微软雅黑"/>
              </a:rPr>
              <a:t>采样覆盖、硬件无关、开销较低</a:t>
            </a:r>
          </a:p>
        </p:txBody>
      </p:sp>
    </p:spTree>
    <p:extLst>
      <p:ext uri="{BB962C8B-B14F-4D97-AF65-F5344CB8AC3E}">
        <p14:creationId xmlns:p14="http://schemas.microsoft.com/office/powerpoint/2010/main" val="770400766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0A77E-09E8-765E-E326-28F4A67315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v4_s6_id7">
            <a:extLst>
              <a:ext uri="{FF2B5EF4-FFF2-40B4-BE49-F238E27FC236}">
                <a16:creationId xmlns:a16="http://schemas.microsoft.com/office/drawing/2014/main" id="{CD7FB48B-163C-5616-502D-46A29F459CFF}"/>
              </a:ext>
            </a:extLst>
          </p:cNvPr>
          <p:cNvSpPr>
            <a:spLocks noGrp="1"/>
          </p:cNvSpPr>
          <p:nvPr/>
        </p:nvSpPr>
        <p:spPr>
          <a:xfrm>
            <a:off x="361950" y="228600"/>
            <a:ext cx="11430000" cy="5715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algn="l" defTabSz="914112">
              <a:buNone/>
              <a:defRPr sz="24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控制流完整性（CFI</a:t>
            </a:r>
            <a:r>
              <a:rPr sz="2400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）：</a:t>
            </a:r>
            <a:r>
              <a:rPr lang="en-US" sz="2400" b="1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为运行时安全保驾护航</a:t>
            </a:r>
            <a:endParaRPr sz="2400" b="1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5" name="内容占位符 2">
            <a:extLst>
              <a:ext uri="{FF2B5EF4-FFF2-40B4-BE49-F238E27FC236}">
                <a16:creationId xmlns:a16="http://schemas.microsoft.com/office/drawing/2014/main" id="{F9DD3376-DA78-1E50-5EA2-084A3A41B6B2}"/>
              </a:ext>
            </a:extLst>
          </p:cNvPr>
          <p:cNvSpPr txBox="1"/>
          <p:nvPr/>
        </p:nvSpPr>
        <p:spPr>
          <a:xfrm>
            <a:off x="423406" y="988831"/>
            <a:ext cx="11345188" cy="830673"/>
          </a:xfrm>
          <a:prstGeom prst="rect">
            <a:avLst/>
          </a:prstGeom>
          <a:solidFill>
            <a:srgbClr val="D4F1F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279" tIns="45640" rIns="91279" bIns="45640" anchor="ctr" anchorCtr="0"/>
          <a:lstStyle/>
          <a:p>
            <a:pPr marL="171450" marR="0" lvl="0" indent="-171450" defTabSz="913399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>
                <a:tab pos="0" algn="l"/>
              </a:tabLst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后向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CFI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：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检查函数返回地址的完整性，降低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ROP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攻击风险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  <a:p>
            <a:pPr marL="171381" marR="0" lvl="0" indent="-171381" defTabSz="913399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>
                <a:tab pos="0" algn="l"/>
              </a:tabLst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前向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CFI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：检查间接调用目标，降低调用目标被篡改的风险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CD5441B9-3DB4-82AE-CD4D-7A7DCCA1A87F}"/>
              </a:ext>
            </a:extLst>
          </p:cNvPr>
          <p:cNvSpPr/>
          <p:nvPr/>
        </p:nvSpPr>
        <p:spPr>
          <a:xfrm>
            <a:off x="6937585" y="2285646"/>
            <a:ext cx="4831009" cy="2430987"/>
          </a:xfrm>
          <a:prstGeom prst="rect">
            <a:avLst/>
          </a:prstGeom>
          <a:solidFill>
            <a:srgbClr val="666666">
              <a:lumMod val="20000"/>
              <a:lumOff val="80000"/>
            </a:srgbClr>
          </a:solidFill>
        </p:spPr>
        <p:txBody>
          <a:bodyPr wrap="square">
            <a:spAutoFit/>
          </a:bodyPr>
          <a:lstStyle/>
          <a:p>
            <a:pPr marL="0" marR="0" lvl="0" indent="0" defTabSz="914478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基于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PAC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的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CFI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技术：</a:t>
            </a:r>
            <a:endParaRPr kumimoji="0" lang="en-US" altLang="zh-CN" sz="1600" b="1" i="0" u="none" strike="noStrike" kern="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171450" marR="0" lvl="0" indent="-171450" defTabSz="914478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利用特殊指令根据上下文、指针原始值和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128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位的密钥通过加密算法得到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64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位密文，对其进行截断之后作为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PAC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（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Pointer Authentication Code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）存入</a:t>
            </a:r>
            <a:r>
              <a:rPr kumimoji="0" lang="en-US" altLang="zh-CN" sz="16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64</a:t>
            </a: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位地址的高位空闲位中；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171450" marR="0" lvl="0" indent="-171450" defTabSz="914478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/>
              <a:defRPr/>
            </a:pPr>
            <a:r>
              <a:rPr kumimoji="0" lang="zh-CN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在地址使用之前进行验证，保证寄存器内容的完整性，并恢复地址内容；否则在高位填入错误码，并在寻址阶段触发例外。</a:t>
            </a:r>
            <a:endParaRPr kumimoji="0" lang="en-US" altLang="zh-CN" sz="16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699ACDF3-0AED-3496-2213-468B91DFE3FD}"/>
              </a:ext>
            </a:extLst>
          </p:cNvPr>
          <p:cNvSpPr/>
          <p:nvPr/>
        </p:nvSpPr>
        <p:spPr>
          <a:xfrm>
            <a:off x="1490379" y="2576136"/>
            <a:ext cx="1784534" cy="2316997"/>
          </a:xfrm>
          <a:prstGeom prst="rect">
            <a:avLst/>
          </a:prstGeom>
          <a:solidFill>
            <a:srgbClr val="666666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defTabSz="914478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 err="1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Func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{</a:t>
            </a:r>
          </a:p>
          <a:p>
            <a:pPr marL="0" marR="0" lvl="0" indent="0" defTabSz="914478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</a:t>
            </a:r>
            <a:r>
              <a:rPr kumimoji="0" lang="en-US" altLang="zh-CN" sz="1000" b="1" i="0" u="none" strike="noStrike" kern="0" cap="none" spc="0" normalizeH="0" baseline="0" noProof="0" dirty="0" err="1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pacia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LR , SP</a:t>
            </a:r>
          </a:p>
          <a:p>
            <a:pPr marL="0" marR="0" lvl="0" indent="0" defTabSz="914478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</a:t>
            </a:r>
          </a:p>
          <a:p>
            <a:pPr marL="0" marR="0" lvl="0" indent="0" defTabSz="914478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</a:t>
            </a: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str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LR</a:t>
            </a:r>
          </a:p>
          <a:p>
            <a:pPr marL="0" marR="0" lvl="0" indent="0" defTabSz="914478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……</a:t>
            </a:r>
          </a:p>
          <a:p>
            <a:pPr marL="0" marR="0" lvl="0" indent="0" defTabSz="914478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</a:t>
            </a:r>
            <a:r>
              <a:rPr kumimoji="0" lang="en-US" altLang="zh-CN" sz="1000" b="1" i="0" u="none" strike="noStrike" kern="0" cap="none" spc="0" normalizeH="0" baseline="0" noProof="0" dirty="0" err="1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ldr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LR</a:t>
            </a:r>
          </a:p>
          <a:p>
            <a:pPr marL="0" marR="0" lvl="0" indent="0" defTabSz="914478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</a:t>
            </a:r>
          </a:p>
          <a:p>
            <a:pPr marL="0" marR="0" lvl="0" indent="0" defTabSz="914478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</a:t>
            </a:r>
            <a:r>
              <a:rPr kumimoji="0" lang="en-US" altLang="zh-CN" sz="1000" b="1" i="0" u="none" strike="noStrike" kern="0" cap="none" spc="0" normalizeH="0" baseline="0" noProof="0" dirty="0" err="1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autia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LR ,</a:t>
            </a: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SP</a:t>
            </a:r>
          </a:p>
          <a:p>
            <a:pPr marL="0" marR="0" lvl="0" indent="0" defTabSz="914478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</a:t>
            </a:r>
            <a:r>
              <a:rPr kumimoji="0" lang="en-US" altLang="zh-CN" sz="10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ret</a:t>
            </a:r>
          </a:p>
          <a:p>
            <a:pPr marL="0" marR="0" lvl="0" indent="0" defTabSz="914478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}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27475435-7864-F217-7ECC-350D75C0774E}"/>
              </a:ext>
            </a:extLst>
          </p:cNvPr>
          <p:cNvSpPr/>
          <p:nvPr/>
        </p:nvSpPr>
        <p:spPr>
          <a:xfrm>
            <a:off x="3517928" y="3299954"/>
            <a:ext cx="2722512" cy="276870"/>
          </a:xfrm>
          <a:prstGeom prst="rect">
            <a:avLst/>
          </a:prstGeom>
          <a:noFill/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88078292-961A-43F5-E515-506D67CDDBDE}"/>
              </a:ext>
            </a:extLst>
          </p:cNvPr>
          <p:cNvSpPr/>
          <p:nvPr/>
        </p:nvSpPr>
        <p:spPr>
          <a:xfrm>
            <a:off x="3517928" y="2330811"/>
            <a:ext cx="2722512" cy="276870"/>
          </a:xfrm>
          <a:prstGeom prst="rect">
            <a:avLst/>
          </a:prstGeom>
          <a:noFill/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1D24C57B-84BE-4243-ABE8-570B3A1AE469}"/>
              </a:ext>
            </a:extLst>
          </p:cNvPr>
          <p:cNvSpPr/>
          <p:nvPr/>
        </p:nvSpPr>
        <p:spPr>
          <a:xfrm>
            <a:off x="4441252" y="2330811"/>
            <a:ext cx="1799187" cy="276870"/>
          </a:xfrm>
          <a:prstGeom prst="rect">
            <a:avLst/>
          </a:prstGeom>
          <a:noFill/>
          <a:ln w="12700" cap="flat" cmpd="sng" algn="ctr">
            <a:noFill/>
            <a:prstDash val="sysDot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LR Address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E44AA297-B284-4E2B-B887-663954B55745}"/>
              </a:ext>
            </a:extLst>
          </p:cNvPr>
          <p:cNvSpPr/>
          <p:nvPr/>
        </p:nvSpPr>
        <p:spPr>
          <a:xfrm>
            <a:off x="3517928" y="2330812"/>
            <a:ext cx="402950" cy="276869"/>
          </a:xfrm>
          <a:prstGeom prst="rect">
            <a:avLst/>
          </a:prstGeom>
          <a:noFill/>
          <a:ln w="12700" cap="flat" cmpd="sng" algn="ctr">
            <a:solidFill>
              <a:srgbClr val="1D1D1A"/>
            </a:solidFill>
            <a:prstDash val="sysDot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89DDCDF9-A90B-8A5F-040E-4C8E545F1E17}"/>
              </a:ext>
            </a:extLst>
          </p:cNvPr>
          <p:cNvSpPr/>
          <p:nvPr/>
        </p:nvSpPr>
        <p:spPr>
          <a:xfrm>
            <a:off x="4001409" y="2330812"/>
            <a:ext cx="402950" cy="276869"/>
          </a:xfrm>
          <a:prstGeom prst="rect">
            <a:avLst/>
          </a:prstGeom>
          <a:noFill/>
          <a:ln w="12700" cap="flat" cmpd="sng" algn="ctr">
            <a:solidFill>
              <a:srgbClr val="1D1D1A"/>
            </a:solidFill>
            <a:prstDash val="sysDot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3" name="矩形: 圆角 10">
            <a:extLst>
              <a:ext uri="{FF2B5EF4-FFF2-40B4-BE49-F238E27FC236}">
                <a16:creationId xmlns:a16="http://schemas.microsoft.com/office/drawing/2014/main" id="{81D330CB-D78C-77B3-6C7C-E6C9B81FF4D5}"/>
              </a:ext>
            </a:extLst>
          </p:cNvPr>
          <p:cNvSpPr/>
          <p:nvPr/>
        </p:nvSpPr>
        <p:spPr>
          <a:xfrm>
            <a:off x="3537095" y="2845200"/>
            <a:ext cx="806804" cy="276869"/>
          </a:xfrm>
          <a:prstGeom prst="roundRect">
            <a:avLst/>
          </a:prstGeom>
          <a:noFill/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生成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PAC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26A630EE-2ED3-C82B-EA8C-39D0B12B4F10}"/>
              </a:ext>
            </a:extLst>
          </p:cNvPr>
          <p:cNvSpPr/>
          <p:nvPr/>
        </p:nvSpPr>
        <p:spPr>
          <a:xfrm>
            <a:off x="5421868" y="2981601"/>
            <a:ext cx="963333" cy="285314"/>
          </a:xfrm>
          <a:prstGeom prst="rect">
            <a:avLst/>
          </a:prstGeom>
          <a:noFill/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Code Key A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5" name="椭圆 54">
            <a:extLst>
              <a:ext uri="{FF2B5EF4-FFF2-40B4-BE49-F238E27FC236}">
                <a16:creationId xmlns:a16="http://schemas.microsoft.com/office/drawing/2014/main" id="{C4006731-75AB-9F73-C8BB-1EE759098FB0}"/>
              </a:ext>
            </a:extLst>
          </p:cNvPr>
          <p:cNvSpPr/>
          <p:nvPr/>
        </p:nvSpPr>
        <p:spPr>
          <a:xfrm>
            <a:off x="2327991" y="2866325"/>
            <a:ext cx="255913" cy="234619"/>
          </a:xfrm>
          <a:prstGeom prst="ellipse">
            <a:avLst/>
          </a:prstGeom>
          <a:noFill/>
          <a:ln w="15875" cap="flat" cmpd="sng" algn="ctr">
            <a:solidFill>
              <a:srgbClr val="0000FF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56" name="直接箭头连接符 13">
            <a:extLst>
              <a:ext uri="{FF2B5EF4-FFF2-40B4-BE49-F238E27FC236}">
                <a16:creationId xmlns:a16="http://schemas.microsoft.com/office/drawing/2014/main" id="{80062A0E-4800-6AF3-0582-CB16AA98CAD9}"/>
              </a:ext>
            </a:extLst>
          </p:cNvPr>
          <p:cNvCxnSpPr>
            <a:cxnSpLocks/>
            <a:stCxn id="55" idx="6"/>
            <a:endCxn id="53" idx="1"/>
          </p:cNvCxnSpPr>
          <p:nvPr/>
        </p:nvCxnSpPr>
        <p:spPr>
          <a:xfrm>
            <a:off x="2583904" y="2983635"/>
            <a:ext cx="953191" cy="0"/>
          </a:xfrm>
          <a:prstGeom prst="straightConnector1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57" name="连接符: 肘形 14">
            <a:extLst>
              <a:ext uri="{FF2B5EF4-FFF2-40B4-BE49-F238E27FC236}">
                <a16:creationId xmlns:a16="http://schemas.microsoft.com/office/drawing/2014/main" id="{D951C5DE-CBF3-F48F-FBC5-A49C01361CCD}"/>
              </a:ext>
            </a:extLst>
          </p:cNvPr>
          <p:cNvCxnSpPr>
            <a:cxnSpLocks/>
            <a:stCxn id="50" idx="2"/>
            <a:endCxn id="53" idx="0"/>
          </p:cNvCxnSpPr>
          <p:nvPr/>
        </p:nvCxnSpPr>
        <p:spPr>
          <a:xfrm rot="5400000">
            <a:off x="4521913" y="2026266"/>
            <a:ext cx="237519" cy="1400349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sp>
        <p:nvSpPr>
          <p:cNvPr id="58" name="矩形 57">
            <a:extLst>
              <a:ext uri="{FF2B5EF4-FFF2-40B4-BE49-F238E27FC236}">
                <a16:creationId xmlns:a16="http://schemas.microsoft.com/office/drawing/2014/main" id="{645C8195-4F7A-5B97-696D-7798E89DB093}"/>
              </a:ext>
            </a:extLst>
          </p:cNvPr>
          <p:cNvSpPr/>
          <p:nvPr/>
        </p:nvSpPr>
        <p:spPr>
          <a:xfrm>
            <a:off x="4441252" y="3299954"/>
            <a:ext cx="1799187" cy="276870"/>
          </a:xfrm>
          <a:prstGeom prst="rect">
            <a:avLst/>
          </a:prstGeom>
          <a:noFill/>
          <a:ln w="12700" cap="flat" cmpd="sng" algn="ctr">
            <a:noFill/>
            <a:prstDash val="sysDot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LR Address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F05074B2-363F-1E33-4389-71BDA7D97277}"/>
              </a:ext>
            </a:extLst>
          </p:cNvPr>
          <p:cNvSpPr/>
          <p:nvPr/>
        </p:nvSpPr>
        <p:spPr>
          <a:xfrm>
            <a:off x="3517928" y="3299955"/>
            <a:ext cx="402950" cy="276869"/>
          </a:xfrm>
          <a:prstGeom prst="rect">
            <a:avLst/>
          </a:prstGeom>
          <a:solidFill>
            <a:srgbClr val="61B230">
              <a:lumMod val="20000"/>
              <a:lumOff val="80000"/>
            </a:srgbClr>
          </a:solidFill>
          <a:ln w="12700" cap="flat" cmpd="sng" algn="ctr">
            <a:solidFill>
              <a:srgbClr val="1D1D1A"/>
            </a:solidFill>
            <a:prstDash val="sysDot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PAC</a:t>
            </a:r>
            <a:endParaRPr kumimoji="0" lang="zh-CN" altLang="en-US" sz="8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8F0BDC27-B81C-F36F-8811-5ADDF10BB0FE}"/>
              </a:ext>
            </a:extLst>
          </p:cNvPr>
          <p:cNvSpPr/>
          <p:nvPr/>
        </p:nvSpPr>
        <p:spPr>
          <a:xfrm>
            <a:off x="4001409" y="3299955"/>
            <a:ext cx="402950" cy="276869"/>
          </a:xfrm>
          <a:prstGeom prst="rect">
            <a:avLst/>
          </a:prstGeom>
          <a:solidFill>
            <a:srgbClr val="61B230">
              <a:lumMod val="20000"/>
              <a:lumOff val="80000"/>
            </a:srgbClr>
          </a:solidFill>
          <a:ln w="12700" cap="flat" cmpd="sng" algn="ctr">
            <a:solidFill>
              <a:srgbClr val="1D1D1A"/>
            </a:solidFill>
            <a:prstDash val="sysDot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PAC</a:t>
            </a:r>
            <a:endParaRPr kumimoji="0" lang="zh-CN" altLang="en-US" sz="8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61" name="连接符: 肘形 18">
            <a:extLst>
              <a:ext uri="{FF2B5EF4-FFF2-40B4-BE49-F238E27FC236}">
                <a16:creationId xmlns:a16="http://schemas.microsoft.com/office/drawing/2014/main" id="{59BD2B48-9017-4737-3132-4CB259025B4A}"/>
              </a:ext>
            </a:extLst>
          </p:cNvPr>
          <p:cNvCxnSpPr>
            <a:cxnSpLocks/>
            <a:stCxn id="53" idx="2"/>
            <a:endCxn id="59" idx="0"/>
          </p:cNvCxnSpPr>
          <p:nvPr/>
        </p:nvCxnSpPr>
        <p:spPr>
          <a:xfrm rot="5400000">
            <a:off x="3741007" y="3100465"/>
            <a:ext cx="177886" cy="221094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62" name="连接符: 肘形 19">
            <a:extLst>
              <a:ext uri="{FF2B5EF4-FFF2-40B4-BE49-F238E27FC236}">
                <a16:creationId xmlns:a16="http://schemas.microsoft.com/office/drawing/2014/main" id="{7EF20346-01F8-5A85-2C2D-465AEF6157F3}"/>
              </a:ext>
            </a:extLst>
          </p:cNvPr>
          <p:cNvCxnSpPr>
            <a:cxnSpLocks/>
            <a:stCxn id="53" idx="2"/>
            <a:endCxn id="60" idx="0"/>
          </p:cNvCxnSpPr>
          <p:nvPr/>
        </p:nvCxnSpPr>
        <p:spPr>
          <a:xfrm rot="16200000" flipH="1">
            <a:off x="3982747" y="3079818"/>
            <a:ext cx="177886" cy="262387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sp>
        <p:nvSpPr>
          <p:cNvPr id="63" name="椭圆 62">
            <a:extLst>
              <a:ext uri="{FF2B5EF4-FFF2-40B4-BE49-F238E27FC236}">
                <a16:creationId xmlns:a16="http://schemas.microsoft.com/office/drawing/2014/main" id="{195BBC4D-3105-2388-A2EC-56592CF2E240}"/>
              </a:ext>
            </a:extLst>
          </p:cNvPr>
          <p:cNvSpPr/>
          <p:nvPr/>
        </p:nvSpPr>
        <p:spPr>
          <a:xfrm>
            <a:off x="1895943" y="3321080"/>
            <a:ext cx="255913" cy="234619"/>
          </a:xfrm>
          <a:prstGeom prst="ellipse">
            <a:avLst/>
          </a:prstGeom>
          <a:noFill/>
          <a:ln w="15875" cap="flat" cmpd="sng" algn="ctr">
            <a:solidFill>
              <a:srgbClr val="0000FF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448" name="直接箭头连接符 21">
            <a:extLst>
              <a:ext uri="{FF2B5EF4-FFF2-40B4-BE49-F238E27FC236}">
                <a16:creationId xmlns:a16="http://schemas.microsoft.com/office/drawing/2014/main" id="{5D3D1EC3-99AA-390F-6738-6743ED4AB0C1}"/>
              </a:ext>
            </a:extLst>
          </p:cNvPr>
          <p:cNvCxnSpPr>
            <a:cxnSpLocks/>
            <a:stCxn id="59" idx="1"/>
            <a:endCxn id="63" idx="6"/>
          </p:cNvCxnSpPr>
          <p:nvPr/>
        </p:nvCxnSpPr>
        <p:spPr>
          <a:xfrm flipH="1">
            <a:off x="2151856" y="3438390"/>
            <a:ext cx="1366072" cy="0"/>
          </a:xfrm>
          <a:prstGeom prst="straightConnector1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pic>
        <p:nvPicPr>
          <p:cNvPr id="449" name="图片 448">
            <a:extLst>
              <a:ext uri="{FF2B5EF4-FFF2-40B4-BE49-F238E27FC236}">
                <a16:creationId xmlns:a16="http://schemas.microsoft.com/office/drawing/2014/main" id="{E3117F7C-ED8F-1967-C605-4A6C43E2F8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074" y="3447034"/>
            <a:ext cx="403655" cy="403655"/>
          </a:xfrm>
          <a:prstGeom prst="rect">
            <a:avLst/>
          </a:prstGeom>
        </p:spPr>
      </p:pic>
      <p:cxnSp>
        <p:nvCxnSpPr>
          <p:cNvPr id="450" name="连接符: 肘形 23">
            <a:extLst>
              <a:ext uri="{FF2B5EF4-FFF2-40B4-BE49-F238E27FC236}">
                <a16:creationId xmlns:a16="http://schemas.microsoft.com/office/drawing/2014/main" id="{FEE1D9CD-F722-6CC7-A95B-B91A8B5862AA}"/>
              </a:ext>
            </a:extLst>
          </p:cNvPr>
          <p:cNvCxnSpPr>
            <a:cxnSpLocks/>
            <a:stCxn id="63" idx="0"/>
            <a:endCxn id="449" idx="0"/>
          </p:cNvCxnSpPr>
          <p:nvPr/>
        </p:nvCxnSpPr>
        <p:spPr>
          <a:xfrm rot="16200000" flipH="1" flipV="1">
            <a:off x="1311924" y="2735058"/>
            <a:ext cx="125954" cy="1297998"/>
          </a:xfrm>
          <a:prstGeom prst="bentConnector3">
            <a:avLst>
              <a:gd name="adj1" fmla="val -181495"/>
            </a:avLst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51" name="连接符: 肘形 24">
            <a:extLst>
              <a:ext uri="{FF2B5EF4-FFF2-40B4-BE49-F238E27FC236}">
                <a16:creationId xmlns:a16="http://schemas.microsoft.com/office/drawing/2014/main" id="{521634AB-759C-DFAA-2BFB-0CECE55DE203}"/>
              </a:ext>
            </a:extLst>
          </p:cNvPr>
          <p:cNvCxnSpPr>
            <a:cxnSpLocks/>
            <a:stCxn id="449" idx="2"/>
            <a:endCxn id="452" idx="4"/>
          </p:cNvCxnSpPr>
          <p:nvPr/>
        </p:nvCxnSpPr>
        <p:spPr>
          <a:xfrm rot="16200000" flipH="1">
            <a:off x="1306853" y="3269738"/>
            <a:ext cx="136097" cy="1297998"/>
          </a:xfrm>
          <a:prstGeom prst="bentConnector3">
            <a:avLst>
              <a:gd name="adj1" fmla="val 267968"/>
            </a:avLst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52" name="椭圆 451">
            <a:extLst>
              <a:ext uri="{FF2B5EF4-FFF2-40B4-BE49-F238E27FC236}">
                <a16:creationId xmlns:a16="http://schemas.microsoft.com/office/drawing/2014/main" id="{7827CCBC-B7A5-EA86-D996-C77A57D86905}"/>
              </a:ext>
            </a:extLst>
          </p:cNvPr>
          <p:cNvSpPr/>
          <p:nvPr/>
        </p:nvSpPr>
        <p:spPr>
          <a:xfrm>
            <a:off x="1895943" y="3752167"/>
            <a:ext cx="255913" cy="234619"/>
          </a:xfrm>
          <a:prstGeom prst="ellipse">
            <a:avLst/>
          </a:prstGeom>
          <a:noFill/>
          <a:ln w="15875" cap="flat" cmpd="sng" algn="ctr">
            <a:solidFill>
              <a:srgbClr val="0000FF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53" name="矩形 452">
            <a:extLst>
              <a:ext uri="{FF2B5EF4-FFF2-40B4-BE49-F238E27FC236}">
                <a16:creationId xmlns:a16="http://schemas.microsoft.com/office/drawing/2014/main" id="{6362F16F-618F-CBAA-76B7-ED2B21974915}"/>
              </a:ext>
            </a:extLst>
          </p:cNvPr>
          <p:cNvSpPr/>
          <p:nvPr/>
        </p:nvSpPr>
        <p:spPr>
          <a:xfrm>
            <a:off x="812107" y="3531628"/>
            <a:ext cx="650986" cy="337849"/>
          </a:xfrm>
          <a:prstGeom prst="rect">
            <a:avLst/>
          </a:prstGeom>
          <a:noFill/>
          <a:ln w="12700" cap="flat" cmpd="sng" algn="ctr">
            <a:noFill/>
            <a:prstDash val="sysDot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攻击发生</a:t>
            </a:r>
            <a:endParaRPr kumimoji="0" lang="en-US" altLang="zh-CN" sz="800" b="1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破坏返回地址</a:t>
            </a:r>
          </a:p>
        </p:txBody>
      </p:sp>
      <p:sp>
        <p:nvSpPr>
          <p:cNvPr id="454" name="矩形 453">
            <a:extLst>
              <a:ext uri="{FF2B5EF4-FFF2-40B4-BE49-F238E27FC236}">
                <a16:creationId xmlns:a16="http://schemas.microsoft.com/office/drawing/2014/main" id="{D564F999-FDDE-0985-805E-AC457F7E3035}"/>
              </a:ext>
            </a:extLst>
          </p:cNvPr>
          <p:cNvSpPr/>
          <p:nvPr/>
        </p:nvSpPr>
        <p:spPr>
          <a:xfrm>
            <a:off x="3519993" y="3731041"/>
            <a:ext cx="2722512" cy="276870"/>
          </a:xfrm>
          <a:prstGeom prst="rect">
            <a:avLst/>
          </a:prstGeom>
          <a:noFill/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455" name="矩形 454">
            <a:extLst>
              <a:ext uri="{FF2B5EF4-FFF2-40B4-BE49-F238E27FC236}">
                <a16:creationId xmlns:a16="http://schemas.microsoft.com/office/drawing/2014/main" id="{9410FE85-8178-2EED-1006-18E49D944E57}"/>
              </a:ext>
            </a:extLst>
          </p:cNvPr>
          <p:cNvSpPr/>
          <p:nvPr/>
        </p:nvSpPr>
        <p:spPr>
          <a:xfrm>
            <a:off x="4443317" y="3731041"/>
            <a:ext cx="1799187" cy="276870"/>
          </a:xfrm>
          <a:prstGeom prst="rect">
            <a:avLst/>
          </a:prstGeom>
          <a:noFill/>
          <a:ln w="12700" cap="flat" cmpd="sng" algn="ctr">
            <a:noFill/>
            <a:prstDash val="sysDot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LR Address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56" name="矩形 455">
            <a:extLst>
              <a:ext uri="{FF2B5EF4-FFF2-40B4-BE49-F238E27FC236}">
                <a16:creationId xmlns:a16="http://schemas.microsoft.com/office/drawing/2014/main" id="{65B3FBD1-C880-E932-5DCB-614047F15453}"/>
              </a:ext>
            </a:extLst>
          </p:cNvPr>
          <p:cNvSpPr/>
          <p:nvPr/>
        </p:nvSpPr>
        <p:spPr>
          <a:xfrm>
            <a:off x="3519993" y="3731042"/>
            <a:ext cx="402950" cy="276869"/>
          </a:xfrm>
          <a:prstGeom prst="rect">
            <a:avLst/>
          </a:prstGeom>
          <a:solidFill>
            <a:srgbClr val="666666">
              <a:lumMod val="40000"/>
              <a:lumOff val="60000"/>
            </a:srgbClr>
          </a:solidFill>
          <a:ln w="12700" cap="flat" cmpd="sng" algn="ctr">
            <a:solidFill>
              <a:srgbClr val="1D1D1A"/>
            </a:solidFill>
            <a:prstDash val="sysDot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PAC</a:t>
            </a:r>
            <a:r>
              <a:rPr kumimoji="0" lang="zh-CN" alt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？</a:t>
            </a:r>
          </a:p>
        </p:txBody>
      </p:sp>
      <p:sp>
        <p:nvSpPr>
          <p:cNvPr id="457" name="矩形 456">
            <a:extLst>
              <a:ext uri="{FF2B5EF4-FFF2-40B4-BE49-F238E27FC236}">
                <a16:creationId xmlns:a16="http://schemas.microsoft.com/office/drawing/2014/main" id="{22D4C410-D5B5-3C69-301A-7A6B558C1898}"/>
              </a:ext>
            </a:extLst>
          </p:cNvPr>
          <p:cNvSpPr/>
          <p:nvPr/>
        </p:nvSpPr>
        <p:spPr>
          <a:xfrm>
            <a:off x="4003474" y="3731042"/>
            <a:ext cx="402950" cy="276869"/>
          </a:xfrm>
          <a:prstGeom prst="rect">
            <a:avLst/>
          </a:prstGeom>
          <a:solidFill>
            <a:srgbClr val="666666">
              <a:lumMod val="40000"/>
              <a:lumOff val="60000"/>
            </a:srgbClr>
          </a:solidFill>
          <a:ln w="12700" cap="flat" cmpd="sng" algn="ctr">
            <a:solidFill>
              <a:srgbClr val="1D1D1A"/>
            </a:solidFill>
            <a:prstDash val="sysDot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8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PAC</a:t>
            </a:r>
            <a:r>
              <a:rPr kumimoji="0" lang="zh-CN" altLang="en-US" sz="8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？</a:t>
            </a:r>
          </a:p>
        </p:txBody>
      </p:sp>
      <p:sp>
        <p:nvSpPr>
          <p:cNvPr id="458" name="矩形: 圆角 31">
            <a:extLst>
              <a:ext uri="{FF2B5EF4-FFF2-40B4-BE49-F238E27FC236}">
                <a16:creationId xmlns:a16="http://schemas.microsoft.com/office/drawing/2014/main" id="{0FCF7E3E-7A09-3A4C-8F11-A329B8289804}"/>
              </a:ext>
            </a:extLst>
          </p:cNvPr>
          <p:cNvSpPr/>
          <p:nvPr/>
        </p:nvSpPr>
        <p:spPr>
          <a:xfrm>
            <a:off x="3535701" y="4225948"/>
            <a:ext cx="806804" cy="262315"/>
          </a:xfrm>
          <a:prstGeom prst="roundRect">
            <a:avLst/>
          </a:prstGeom>
          <a:noFill/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校验</a:t>
            </a: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PAC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459" name="直接箭头连接符 32">
            <a:extLst>
              <a:ext uri="{FF2B5EF4-FFF2-40B4-BE49-F238E27FC236}">
                <a16:creationId xmlns:a16="http://schemas.microsoft.com/office/drawing/2014/main" id="{573BC8E9-C293-6781-BE1F-12C5440763EA}"/>
              </a:ext>
            </a:extLst>
          </p:cNvPr>
          <p:cNvCxnSpPr>
            <a:cxnSpLocks/>
            <a:stCxn id="452" idx="6"/>
            <a:endCxn id="456" idx="1"/>
          </p:cNvCxnSpPr>
          <p:nvPr/>
        </p:nvCxnSpPr>
        <p:spPr>
          <a:xfrm>
            <a:off x="2151856" y="3869477"/>
            <a:ext cx="1368137" cy="0"/>
          </a:xfrm>
          <a:prstGeom prst="straightConnector1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60" name="椭圆 459">
            <a:extLst>
              <a:ext uri="{FF2B5EF4-FFF2-40B4-BE49-F238E27FC236}">
                <a16:creationId xmlns:a16="http://schemas.microsoft.com/office/drawing/2014/main" id="{3A121123-FF0F-740B-8B62-E871B912FC05}"/>
              </a:ext>
            </a:extLst>
          </p:cNvPr>
          <p:cNvSpPr/>
          <p:nvPr/>
        </p:nvSpPr>
        <p:spPr>
          <a:xfrm>
            <a:off x="2327990" y="4239796"/>
            <a:ext cx="255913" cy="234619"/>
          </a:xfrm>
          <a:prstGeom prst="ellipse">
            <a:avLst/>
          </a:prstGeom>
          <a:noFill/>
          <a:ln w="15875" cap="flat" cmpd="sng" algn="ctr">
            <a:solidFill>
              <a:srgbClr val="0000FF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461" name="直接箭头连接符 34">
            <a:extLst>
              <a:ext uri="{FF2B5EF4-FFF2-40B4-BE49-F238E27FC236}">
                <a16:creationId xmlns:a16="http://schemas.microsoft.com/office/drawing/2014/main" id="{B50337A4-0752-9FA3-2389-D7ECE42DC6CD}"/>
              </a:ext>
            </a:extLst>
          </p:cNvPr>
          <p:cNvCxnSpPr>
            <a:cxnSpLocks/>
            <a:stCxn id="460" idx="6"/>
            <a:endCxn id="458" idx="1"/>
          </p:cNvCxnSpPr>
          <p:nvPr/>
        </p:nvCxnSpPr>
        <p:spPr>
          <a:xfrm>
            <a:off x="2583903" y="4357106"/>
            <a:ext cx="951798" cy="0"/>
          </a:xfrm>
          <a:prstGeom prst="straightConnector1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62" name="连接符: 肘形 35">
            <a:extLst>
              <a:ext uri="{FF2B5EF4-FFF2-40B4-BE49-F238E27FC236}">
                <a16:creationId xmlns:a16="http://schemas.microsoft.com/office/drawing/2014/main" id="{9520E75E-C33D-9358-493F-371CAC81AF25}"/>
              </a:ext>
            </a:extLst>
          </p:cNvPr>
          <p:cNvCxnSpPr>
            <a:cxnSpLocks/>
            <a:stCxn id="457" idx="2"/>
            <a:endCxn id="458" idx="0"/>
          </p:cNvCxnSpPr>
          <p:nvPr/>
        </p:nvCxnSpPr>
        <p:spPr>
          <a:xfrm rot="5400000">
            <a:off x="3963008" y="3984006"/>
            <a:ext cx="218037" cy="265846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63" name="连接符: 肘形 36">
            <a:extLst>
              <a:ext uri="{FF2B5EF4-FFF2-40B4-BE49-F238E27FC236}">
                <a16:creationId xmlns:a16="http://schemas.microsoft.com/office/drawing/2014/main" id="{B960BCFB-A860-DA0A-A370-543B358E6C26}"/>
              </a:ext>
            </a:extLst>
          </p:cNvPr>
          <p:cNvCxnSpPr>
            <a:cxnSpLocks/>
            <a:stCxn id="456" idx="2"/>
            <a:endCxn id="458" idx="0"/>
          </p:cNvCxnSpPr>
          <p:nvPr/>
        </p:nvCxnSpPr>
        <p:spPr>
          <a:xfrm rot="16200000" flipH="1">
            <a:off x="3721267" y="4008111"/>
            <a:ext cx="218037" cy="217635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64" name="连接符: 肘形 37">
            <a:extLst>
              <a:ext uri="{FF2B5EF4-FFF2-40B4-BE49-F238E27FC236}">
                <a16:creationId xmlns:a16="http://schemas.microsoft.com/office/drawing/2014/main" id="{12D7181A-042F-25A6-CCD5-9D1C4215E445}"/>
              </a:ext>
            </a:extLst>
          </p:cNvPr>
          <p:cNvCxnSpPr>
            <a:cxnSpLocks/>
            <a:stCxn id="455" idx="2"/>
            <a:endCxn id="458" idx="3"/>
          </p:cNvCxnSpPr>
          <p:nvPr/>
        </p:nvCxnSpPr>
        <p:spPr>
          <a:xfrm rot="5400000">
            <a:off x="4668111" y="3682305"/>
            <a:ext cx="349195" cy="1000406"/>
          </a:xfrm>
          <a:prstGeom prst="bentConnector2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65" name="连接符: 肘形 38">
            <a:extLst>
              <a:ext uri="{FF2B5EF4-FFF2-40B4-BE49-F238E27FC236}">
                <a16:creationId xmlns:a16="http://schemas.microsoft.com/office/drawing/2014/main" id="{D1050A07-C52A-855C-D163-07F5DED479F0}"/>
              </a:ext>
            </a:extLst>
          </p:cNvPr>
          <p:cNvCxnSpPr>
            <a:cxnSpLocks/>
            <a:stCxn id="54" idx="3"/>
            <a:endCxn id="458" idx="2"/>
          </p:cNvCxnSpPr>
          <p:nvPr/>
        </p:nvCxnSpPr>
        <p:spPr>
          <a:xfrm flipH="1">
            <a:off x="3939103" y="3124258"/>
            <a:ext cx="2446098" cy="1364005"/>
          </a:xfrm>
          <a:prstGeom prst="bentConnector4">
            <a:avLst>
              <a:gd name="adj1" fmla="val -9345"/>
              <a:gd name="adj2" fmla="val 116759"/>
            </a:avLst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66" name="矩形 465">
            <a:extLst>
              <a:ext uri="{FF2B5EF4-FFF2-40B4-BE49-F238E27FC236}">
                <a16:creationId xmlns:a16="http://schemas.microsoft.com/office/drawing/2014/main" id="{352B7C34-0991-1A8D-4064-F4E7DA232012}"/>
              </a:ext>
            </a:extLst>
          </p:cNvPr>
          <p:cNvSpPr/>
          <p:nvPr/>
        </p:nvSpPr>
        <p:spPr>
          <a:xfrm>
            <a:off x="5421868" y="2662839"/>
            <a:ext cx="963333" cy="285314"/>
          </a:xfrm>
          <a:prstGeom prst="rect">
            <a:avLst/>
          </a:prstGeom>
          <a:noFill/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Context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467" name="连接符: 肘形 40">
            <a:extLst>
              <a:ext uri="{FF2B5EF4-FFF2-40B4-BE49-F238E27FC236}">
                <a16:creationId xmlns:a16="http://schemas.microsoft.com/office/drawing/2014/main" id="{64DD0114-C380-01DE-FD02-E07386111285}"/>
              </a:ext>
            </a:extLst>
          </p:cNvPr>
          <p:cNvCxnSpPr>
            <a:cxnSpLocks/>
            <a:stCxn id="466" idx="1"/>
            <a:endCxn id="53" idx="3"/>
          </p:cNvCxnSpPr>
          <p:nvPr/>
        </p:nvCxnSpPr>
        <p:spPr>
          <a:xfrm rot="10800000" flipV="1">
            <a:off x="4343900" y="2805495"/>
            <a:ext cx="1077969" cy="178139"/>
          </a:xfrm>
          <a:prstGeom prst="bentConnector3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468" name="连接符: 肘形 41">
            <a:extLst>
              <a:ext uri="{FF2B5EF4-FFF2-40B4-BE49-F238E27FC236}">
                <a16:creationId xmlns:a16="http://schemas.microsoft.com/office/drawing/2014/main" id="{66C45D59-0796-CD09-0DE9-3888E3DB23C8}"/>
              </a:ext>
            </a:extLst>
          </p:cNvPr>
          <p:cNvCxnSpPr>
            <a:cxnSpLocks/>
            <a:stCxn id="54" idx="1"/>
            <a:endCxn id="53" idx="3"/>
          </p:cNvCxnSpPr>
          <p:nvPr/>
        </p:nvCxnSpPr>
        <p:spPr>
          <a:xfrm rot="10800000">
            <a:off x="4343900" y="2983636"/>
            <a:ext cx="1077969" cy="140623"/>
          </a:xfrm>
          <a:prstGeom prst="bentConnector3">
            <a:avLst/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sp>
        <p:nvSpPr>
          <p:cNvPr id="469" name="矩形 468">
            <a:extLst>
              <a:ext uri="{FF2B5EF4-FFF2-40B4-BE49-F238E27FC236}">
                <a16:creationId xmlns:a16="http://schemas.microsoft.com/office/drawing/2014/main" id="{6126942D-3D69-8C26-09A9-A5E13C9AD7E6}"/>
              </a:ext>
            </a:extLst>
          </p:cNvPr>
          <p:cNvSpPr/>
          <p:nvPr/>
        </p:nvSpPr>
        <p:spPr>
          <a:xfrm>
            <a:off x="5416808" y="4290485"/>
            <a:ext cx="963333" cy="285314"/>
          </a:xfrm>
          <a:prstGeom prst="rect">
            <a:avLst/>
          </a:prstGeom>
          <a:noFill/>
          <a:ln w="12700" cap="flat" cmpd="sng" algn="ctr">
            <a:solidFill>
              <a:srgbClr val="1D1D1A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78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Context</a:t>
            </a:r>
            <a:endParaRPr kumimoji="0" lang="zh-CN" altLang="en-US" sz="1000" b="0" i="0" u="none" strike="noStrike" kern="0" cap="none" spc="0" normalizeH="0" baseline="0" noProof="0" dirty="0">
              <a:ln>
                <a:noFill/>
              </a:ln>
              <a:solidFill>
                <a:srgbClr val="1D1D1A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470" name="连接符: 肘形 43">
            <a:extLst>
              <a:ext uri="{FF2B5EF4-FFF2-40B4-BE49-F238E27FC236}">
                <a16:creationId xmlns:a16="http://schemas.microsoft.com/office/drawing/2014/main" id="{76DCF71F-D08A-5AA2-D25C-96820B0615AD}"/>
              </a:ext>
            </a:extLst>
          </p:cNvPr>
          <p:cNvCxnSpPr>
            <a:cxnSpLocks/>
            <a:stCxn id="469" idx="1"/>
            <a:endCxn id="458" idx="3"/>
          </p:cNvCxnSpPr>
          <p:nvPr/>
        </p:nvCxnSpPr>
        <p:spPr>
          <a:xfrm rot="10800000">
            <a:off x="4342506" y="4357106"/>
            <a:ext cx="1074303" cy="76036"/>
          </a:xfrm>
          <a:prstGeom prst="bentConnector3">
            <a:avLst>
              <a:gd name="adj1" fmla="val 6721"/>
            </a:avLst>
          </a:prstGeom>
          <a:noFill/>
          <a:ln w="6350" cap="flat" cmpd="sng" algn="ctr">
            <a:solidFill>
              <a:srgbClr val="1D1D1A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045" name="p7_application_heading">
            <a:extLst>
              <a:ext uri="{FF2B5EF4-FFF2-40B4-BE49-F238E27FC236}">
                <a16:creationId xmlns:a16="http://schemas.microsoft.com/office/drawing/2014/main" id="{E7B335A8-5829-4682-ACEE-00A098AB046E}"/>
              </a:ext>
            </a:extLst>
          </p:cNvPr>
          <p:cNvSpPr>
            <a:spLocks noGrp="1"/>
          </p:cNvSpPr>
          <p:nvPr/>
        </p:nvSpPr>
        <p:spPr>
          <a:xfrm>
            <a:off x="419100" y="5248275"/>
            <a:ext cx="110490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00" b="1">
                <a:solidFill>
                  <a:srgbClr val="285EA8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1800" b="1" dirty="0">
                <a:solidFill>
                  <a:srgbClr val="285EA8"/>
                </a:solidFill>
                <a:latin typeface="微软雅黑"/>
                <a:ea typeface="微软雅黑"/>
                <a:cs typeface="微软雅黑"/>
              </a:rPr>
              <a:t>启用条件</a:t>
            </a:r>
            <a:endParaRPr sz="1800" b="1" dirty="0">
              <a:solidFill>
                <a:srgbClr val="285EA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48" name="p7_failure_effect">
            <a:extLst>
              <a:ext uri="{FF2B5EF4-FFF2-40B4-BE49-F238E27FC236}">
                <a16:creationId xmlns:a16="http://schemas.microsoft.com/office/drawing/2014/main" id="{AAA7EB3A-A104-4301-9649-DEDC371054F4}"/>
              </a:ext>
            </a:extLst>
          </p:cNvPr>
          <p:cNvSpPr>
            <a:spLocks noGrp="1"/>
          </p:cNvSpPr>
          <p:nvPr/>
        </p:nvSpPr>
        <p:spPr>
          <a:xfrm>
            <a:off x="419100" y="5649765"/>
            <a:ext cx="10429875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需要支持</a:t>
            </a:r>
            <a:r>
              <a:rPr sz="1425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 PAC </a:t>
            </a:r>
            <a:r>
              <a:rPr sz="1425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的</a:t>
            </a:r>
            <a:r>
              <a:rPr sz="1425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 ARM64 </a:t>
            </a:r>
            <a:r>
              <a:rPr sz="1425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硬件</a:t>
            </a:r>
            <a:r>
              <a:rPr lang="zh-CN" altLang="en-US" sz="1425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（如鸿蒙设备）</a:t>
            </a:r>
            <a:r>
              <a:rPr sz="1425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，</a:t>
            </a:r>
            <a:r>
              <a:rPr sz="1425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并在编译与构建时启用相应保护</a:t>
            </a:r>
            <a:r>
              <a:rPr sz="1425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236892498"/>
      </p:ext>
    </p:ext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v4_s6_id7">
            <a:extLst>
              <a:ext uri="{FF2B5EF4-FFF2-40B4-BE49-F238E27FC236}">
                <a16:creationId xmlns:a16="http://schemas.microsoft.com/office/drawing/2014/main" id="{58482A09-01DA-4E2C-BD98-5540CAC95A0B}"/>
              </a:ext>
            </a:extLst>
          </p:cNvPr>
          <p:cNvSpPr>
            <a:spLocks noGrp="1"/>
          </p:cNvSpPr>
          <p:nvPr/>
        </p:nvSpPr>
        <p:spPr>
          <a:xfrm>
            <a:off x="361950" y="228600"/>
            <a:ext cx="11430000" cy="5715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algn="l" defTabSz="914112">
              <a:buNone/>
              <a:defRPr sz="24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代码混淆：增加逆向分析成本</a:t>
            </a:r>
          </a:p>
        </p:txBody>
      </p:sp>
      <p:sp>
        <p:nvSpPr>
          <p:cNvPr id="503" name="p8_subtitle">
            <a:extLst>
              <a:ext uri="{FF2B5EF4-FFF2-40B4-BE49-F238E27FC236}">
                <a16:creationId xmlns:a16="http://schemas.microsoft.com/office/drawing/2014/main" id="{34BA5D27-2E7A-495E-817A-283D38DC1C32}"/>
              </a:ext>
            </a:extLst>
          </p:cNvPr>
          <p:cNvSpPr>
            <a:spLocks noGrp="1"/>
          </p:cNvSpPr>
          <p:nvPr/>
        </p:nvSpPr>
        <p:spPr>
          <a:xfrm>
            <a:off x="323850" y="923925"/>
            <a:ext cx="5476537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r>
              <a:rPr sz="1875" b="1" dirty="0" err="1">
                <a:solidFill>
                  <a:srgbClr val="285EA8"/>
                </a:solidFill>
                <a:latin typeface="微软雅黑"/>
                <a:ea typeface="微软雅黑"/>
              </a:rPr>
              <a:t>仓颉代码混淆工具</a:t>
            </a:r>
            <a:endParaRPr sz="1875" b="1" dirty="0">
              <a:solidFill>
                <a:srgbClr val="285EA8"/>
              </a:solidFill>
              <a:latin typeface="微软雅黑"/>
              <a:ea typeface="微软雅黑"/>
            </a:endParaRPr>
          </a:p>
        </p:txBody>
      </p:sp>
      <p:sp>
        <p:nvSpPr>
          <p:cNvPr id="505" name="p8_right_heading">
            <a:extLst>
              <a:ext uri="{FF2B5EF4-FFF2-40B4-BE49-F238E27FC236}">
                <a16:creationId xmlns:a16="http://schemas.microsoft.com/office/drawing/2014/main" id="{4146271A-B75F-4D46-AB30-85B8B0410CE7}"/>
              </a:ext>
            </a:extLst>
          </p:cNvPr>
          <p:cNvSpPr>
            <a:spLocks noGrp="1"/>
          </p:cNvSpPr>
          <p:nvPr/>
        </p:nvSpPr>
        <p:spPr>
          <a:xfrm>
            <a:off x="6096000" y="923925"/>
            <a:ext cx="576262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r>
              <a:rPr sz="1875" b="1" dirty="0" err="1">
                <a:solidFill>
                  <a:srgbClr val="285EA8"/>
                </a:solidFill>
                <a:latin typeface="微软雅黑"/>
                <a:ea typeface="微软雅黑"/>
              </a:rPr>
              <a:t>仓颉与</a:t>
            </a:r>
            <a:r>
              <a:rPr sz="1875" b="1" dirty="0">
                <a:solidFill>
                  <a:srgbClr val="285EA8"/>
                </a:solidFill>
                <a:latin typeface="微软雅黑"/>
                <a:ea typeface="微软雅黑"/>
              </a:rPr>
              <a:t> </a:t>
            </a:r>
            <a:r>
              <a:rPr sz="1875" b="1" dirty="0" err="1">
                <a:solidFill>
                  <a:srgbClr val="285EA8"/>
                </a:solidFill>
                <a:latin typeface="微软雅黑"/>
                <a:ea typeface="微软雅黑"/>
              </a:rPr>
              <a:t>ProGuard</a:t>
            </a:r>
            <a:r>
              <a:rPr sz="1875" b="1" dirty="0">
                <a:solidFill>
                  <a:srgbClr val="285EA8"/>
                </a:solidFill>
                <a:latin typeface="微软雅黑"/>
                <a:ea typeface="微软雅黑"/>
              </a:rPr>
              <a:t> </a:t>
            </a:r>
            <a:r>
              <a:rPr sz="1875" b="1" dirty="0" err="1">
                <a:solidFill>
                  <a:srgbClr val="285EA8"/>
                </a:solidFill>
                <a:latin typeface="微软雅黑"/>
                <a:ea typeface="微软雅黑"/>
              </a:rPr>
              <a:t>的能力对比</a:t>
            </a:r>
            <a:endParaRPr sz="1875" b="1" dirty="0">
              <a:solidFill>
                <a:srgbClr val="285EA8"/>
              </a:solidFill>
              <a:latin typeface="微软雅黑"/>
              <a:ea typeface="微软雅黑"/>
            </a:endParaRPr>
          </a:p>
        </p:txBody>
      </p:sp>
      <p:graphicFrame>
        <p:nvGraphicFramePr>
          <p:cNvPr id="508" name="表格 507"/>
          <p:cNvGraphicFramePr/>
          <p:nvPr>
            <p:extLst>
              <p:ext uri="{D42A27DB-BD31-4B8C-83A1-F6EECF244321}">
                <p14:modId xmlns:p14="http://schemas.microsoft.com/office/powerpoint/2010/main" val="2321279215"/>
              </p:ext>
            </p:extLst>
          </p:nvPr>
        </p:nvGraphicFramePr>
        <p:xfrm>
          <a:off x="6096000" y="1400175"/>
          <a:ext cx="5762625" cy="4489450"/>
        </p:xfrm>
        <a:graphic>
          <a:graphicData uri="http://schemas.openxmlformats.org/drawingml/2006/table">
            <a:tbl>
              <a:tblPr/>
              <a:tblGrid>
                <a:gridCol w="1092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780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 dirty="0" err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对比项</a:t>
                      </a:r>
                      <a:endParaRPr sz="1350" b="1" dirty="0">
                        <a:solidFill>
                          <a:srgbClr val="FFFFFF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7150" marR="57150" marT="9525" marB="9525" anchor="ctr">
                    <a:solidFill>
                      <a:srgbClr val="285E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仓颉原生混淆</a:t>
                      </a:r>
                    </a:p>
                  </a:txBody>
                  <a:tcPr marL="57150" marR="57150" marT="9525" marB="9525" anchor="ctr">
                    <a:solidFill>
                      <a:srgbClr val="285EA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3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ProGuard</a:t>
                      </a:r>
                    </a:p>
                  </a:txBody>
                  <a:tcPr marL="57150" marR="57150" marT="9525" marB="9525" anchor="ctr">
                    <a:solidFill>
                      <a:srgbClr val="285EA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名称混淆</a:t>
                      </a:r>
                    </a:p>
                  </a:txBody>
                  <a:tcPr marL="57150" marR="57150" marT="9525" marB="9525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dirty="0" err="1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随机名称替换</a:t>
                      </a:r>
                      <a:r>
                        <a:rPr lang="zh-CN" altLang="en-US" sz="1200" dirty="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，</a:t>
                      </a:r>
                      <a:r>
                        <a:rPr sz="1200" dirty="0" err="1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可指定映射</a:t>
                      </a:r>
                      <a:endParaRPr sz="1200" dirty="0">
                        <a:solidFill>
                          <a:srgbClr val="172334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7150" marR="57150" marT="9525" marB="9525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类与成员短名替换</a:t>
                      </a:r>
                    </a:p>
                  </a:txBody>
                  <a:tcPr marL="57150" marR="57150" marT="9525" marB="9525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字符串混淆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字符串编码与解码</a:t>
                      </a:r>
                    </a:p>
                  </a:txBody>
                  <a:tcPr marL="57150" marR="57150" marT="9525" marB="9525" anchor="ctr">
                    <a:solidFill>
                      <a:srgbClr val="CAE8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类名字符串适配</a:t>
                      </a:r>
                    </a:p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非通用字符串加密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常量混淆</a:t>
                      </a:r>
                    </a:p>
                  </a:txBody>
                  <a:tcPr marL="57150" marR="57150" marT="9525" marB="9525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等效算术改写</a:t>
                      </a:r>
                    </a:p>
                  </a:txBody>
                  <a:tcPr marL="57150" marR="57150" marT="9525" marB="9525" anchor="ctr">
                    <a:solidFill>
                      <a:srgbClr val="CAE8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dirty="0" err="1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无对应专用混淆功能</a:t>
                      </a:r>
                      <a:endParaRPr sz="1200" dirty="0">
                        <a:solidFill>
                          <a:srgbClr val="172334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7150" marR="57150" marT="9525" marB="9525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控制流平坦化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支持</a:t>
                      </a:r>
                    </a:p>
                  </a:txBody>
                  <a:tcPr marL="57150" marR="57150" marT="9525" marB="9525" anchor="ctr">
                    <a:solidFill>
                      <a:srgbClr val="CAE8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无对应专用混淆功能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虚假控制流</a:t>
                      </a:r>
                    </a:p>
                  </a:txBody>
                  <a:tcPr marL="57150" marR="57150" marT="9525" marB="9525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支持</a:t>
                      </a:r>
                    </a:p>
                  </a:txBody>
                  <a:tcPr marL="57150" marR="57150" marT="9525" marB="9525" anchor="ctr">
                    <a:solidFill>
                      <a:srgbClr val="CAE8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无对应专用混淆功能</a:t>
                      </a:r>
                    </a:p>
                  </a:txBody>
                  <a:tcPr marL="57150" marR="57150" marT="9525" marB="9525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函数重排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改变函数排列顺序</a:t>
                      </a:r>
                    </a:p>
                  </a:txBody>
                  <a:tcPr marL="57150" marR="57150" marT="9525" marB="9525" anchor="ctr">
                    <a:solidFill>
                      <a:srgbClr val="CAE8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无对应专用混淆功能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符号映射</a:t>
                      </a:r>
                    </a:p>
                  </a:txBody>
                  <a:tcPr marL="57150" marR="57150" marT="9525" marB="9525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dirty="0" err="1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自定义映射</a:t>
                      </a:r>
                      <a:r>
                        <a:rPr lang="zh-CN" altLang="en-US" sz="1200" dirty="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，</a:t>
                      </a:r>
                      <a:r>
                        <a:rPr sz="1200" dirty="0" err="1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支持跨包映射导入</a:t>
                      </a:r>
                      <a:endParaRPr sz="1200" dirty="0">
                        <a:solidFill>
                          <a:srgbClr val="172334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7150" marR="57150" marT="9525" marB="9525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-applymapping</a:t>
                      </a:r>
                    </a:p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-printmapping</a:t>
                      </a:r>
                    </a:p>
                  </a:txBody>
                  <a:tcPr marL="57150" marR="57150" marT="9525" marB="9525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保留规则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dirty="0" err="1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符号精确匹配</a:t>
                      </a:r>
                      <a:r>
                        <a:rPr lang="zh-CN" altLang="en-US" sz="1200" dirty="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，</a:t>
                      </a:r>
                      <a:r>
                        <a:rPr sz="1200" dirty="0" err="1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支持通配符</a:t>
                      </a:r>
                      <a:endParaRPr sz="1200" dirty="0">
                        <a:solidFill>
                          <a:srgbClr val="172334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-keep 等规则</a:t>
                      </a:r>
                    </a:p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按类、成员匹配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路径与行号</a:t>
                      </a:r>
                    </a:p>
                  </a:txBody>
                  <a:tcPr marL="57150" marR="57150" marT="9525" marB="9525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dirty="0" err="1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路径替换为</a:t>
                      </a:r>
                      <a:r>
                        <a:rPr sz="1200" dirty="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SOURCE</a:t>
                      </a:r>
                      <a:r>
                        <a:rPr lang="zh-CN" altLang="en-US" sz="1200" dirty="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，</a:t>
                      </a:r>
                      <a:r>
                        <a:rPr sz="1200" dirty="0" err="1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行号可置</a:t>
                      </a:r>
                      <a:r>
                        <a:rPr sz="1200" dirty="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 0</a:t>
                      </a:r>
                    </a:p>
                  </a:txBody>
                  <a:tcPr marL="57150" marR="57150" marT="9525" marB="9525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源文件属性可替换</a:t>
                      </a:r>
                    </a:p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行号可保留或移除</a:t>
                      </a:r>
                    </a:p>
                  </a:txBody>
                  <a:tcPr marL="57150" marR="57150" marT="9525" marB="9525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对外接口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dirty="0" err="1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可混淆导出符号</a:t>
                      </a:r>
                      <a:r>
                        <a:rPr lang="zh-CN" altLang="en-US" sz="120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，</a:t>
                      </a:r>
                      <a:r>
                        <a:rPr sz="120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跨包保持映射一致</a:t>
                      </a:r>
                      <a:endParaRPr sz="1200" dirty="0">
                        <a:solidFill>
                          <a:srgbClr val="172334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-keep 保留入口</a:t>
                      </a:r>
                    </a:p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及公开 API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随机种子</a:t>
                      </a:r>
                    </a:p>
                  </a:txBody>
                  <a:tcPr marL="57150" marR="57150" marT="9525" marB="9525" anchor="ctr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支持 --obf-seed</a:t>
                      </a:r>
                    </a:p>
                  </a:txBody>
                  <a:tcPr marL="57150" marR="57150" marT="9525" marB="9525" anchor="ctr">
                    <a:solidFill>
                      <a:srgbClr val="CAE8D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无对应随机种子选项</a:t>
                      </a:r>
                    </a:p>
                  </a:txBody>
                  <a:tcPr marL="57150" marR="57150" marT="9525" marB="9525" anchor="ctr">
                    <a:solidFill>
                      <a:srgbClr val="F2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名称字典</a:t>
                      </a: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不支持自定义名称字典</a:t>
                      </a:r>
                    </a:p>
                  </a:txBody>
                  <a:tcPr marL="57150" marR="57150" marT="9525" marB="9525" anchor="ctr">
                    <a:solidFill>
                      <a:srgbClr val="F5D0D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ts val="1275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dirty="0" err="1">
                          <a:solidFill>
                            <a:srgbClr val="172334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支持类、成员及包名字典</a:t>
                      </a:r>
                      <a:endParaRPr sz="1200" dirty="0">
                        <a:solidFill>
                          <a:srgbClr val="172334"/>
                        </a:solidFill>
                        <a:latin typeface="微软雅黑"/>
                        <a:ea typeface="微软雅黑"/>
                        <a:cs typeface="微软雅黑"/>
                      </a:endParaRPr>
                    </a:p>
                  </a:txBody>
                  <a:tcPr marL="57150" marR="57150" marT="9525" marB="9525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7" name="v4_s8_id57">
            <a:extLst>
              <a:ext uri="{FF2B5EF4-FFF2-40B4-BE49-F238E27FC236}">
                <a16:creationId xmlns:a16="http://schemas.microsoft.com/office/drawing/2014/main" id="{189A4B25-9A09-4991-AFC0-D6966B19C090}"/>
              </a:ext>
            </a:extLst>
          </p:cNvPr>
          <p:cNvSpPr/>
          <p:nvPr/>
        </p:nvSpPr>
        <p:spPr>
          <a:xfrm>
            <a:off x="3519673" y="4486612"/>
            <a:ext cx="2077478" cy="1963370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Text" lastClr="000000">
                <a:lumMod val="95000"/>
                <a:lumOff val="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7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58" name="v4_s8_id58">
            <a:extLst>
              <a:ext uri="{FF2B5EF4-FFF2-40B4-BE49-F238E27FC236}">
                <a16:creationId xmlns:a16="http://schemas.microsoft.com/office/drawing/2014/main" id="{BFF15CD5-F06E-465A-8123-63707218F64E}"/>
              </a:ext>
            </a:extLst>
          </p:cNvPr>
          <p:cNvSpPr/>
          <p:nvPr/>
        </p:nvSpPr>
        <p:spPr>
          <a:xfrm>
            <a:off x="455843" y="4486612"/>
            <a:ext cx="1504199" cy="1963370"/>
          </a:xfrm>
          <a:prstGeom prst="roundRect">
            <a:avLst/>
          </a:prstGeom>
          <a:solidFill>
            <a:sysClr val="window" lastClr="FFFFFF">
              <a:lumMod val="95000"/>
            </a:sysClr>
          </a:solidFill>
          <a:ln w="12700" cap="flat" cmpd="sng" algn="ctr">
            <a:solidFill>
              <a:sysClr val="windowText" lastClr="000000">
                <a:lumMod val="95000"/>
                <a:lumOff val="5000"/>
              </a:sys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7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60" name="v4_s8_id60">
            <a:extLst>
              <a:ext uri="{FF2B5EF4-FFF2-40B4-BE49-F238E27FC236}">
                <a16:creationId xmlns:a16="http://schemas.microsoft.com/office/drawing/2014/main" id="{F8082B62-FC9D-478B-9C4B-266B53FE3727}"/>
              </a:ext>
            </a:extLst>
          </p:cNvPr>
          <p:cNvSpPr/>
          <p:nvPr/>
        </p:nvSpPr>
        <p:spPr>
          <a:xfrm>
            <a:off x="604248" y="5552102"/>
            <a:ext cx="1643456" cy="73985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14478">
              <a:defRPr/>
            </a:pPr>
            <a:r>
              <a:rPr lang="zh-CN" altLang="en-US" sz="104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函数名：</a:t>
            </a:r>
            <a:r>
              <a:rPr lang="en-US" altLang="zh-CN" sz="104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foo</a:t>
            </a:r>
          </a:p>
          <a:p>
            <a:pPr defTabSz="914478">
              <a:defRPr/>
            </a:pPr>
            <a:r>
              <a:rPr lang="zh-CN" altLang="en-US" sz="104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行号：</a:t>
            </a:r>
            <a:r>
              <a:rPr lang="en-US" altLang="zh-CN" sz="104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10</a:t>
            </a:r>
          </a:p>
          <a:p>
            <a:pPr defTabSz="914478">
              <a:defRPr/>
            </a:pPr>
            <a:r>
              <a:rPr lang="zh-CN" altLang="en-US" sz="104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路径：</a:t>
            </a:r>
            <a:r>
              <a:rPr lang="en-US" altLang="zh-CN" sz="104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mod1/</a:t>
            </a:r>
            <a:r>
              <a:rPr lang="en-US" altLang="zh-CN" sz="1040" kern="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packA</a:t>
            </a:r>
            <a:endParaRPr lang="en-US" altLang="zh-CN" sz="1040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defTabSz="914478">
              <a:defRPr/>
            </a:pPr>
            <a:r>
              <a:rPr lang="zh-CN" altLang="en-US" sz="104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特征数据：</a:t>
            </a:r>
            <a:r>
              <a:rPr lang="en-US" altLang="zh-CN" sz="104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0x1337</a:t>
            </a:r>
          </a:p>
          <a:p>
            <a:pPr defTabSz="914478">
              <a:defRPr/>
            </a:pPr>
            <a:r>
              <a:rPr lang="zh-CN" altLang="en-US" sz="104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特征字符串：“</a:t>
            </a:r>
            <a:r>
              <a:rPr lang="en-US" altLang="zh-CN" sz="104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hello</a:t>
            </a:r>
            <a:r>
              <a:rPr lang="zh-CN" altLang="en-US" sz="104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</a:p>
        </p:txBody>
      </p:sp>
      <p:sp>
        <p:nvSpPr>
          <p:cNvPr id="61" name="v4_s8_id61">
            <a:extLst>
              <a:ext uri="{FF2B5EF4-FFF2-40B4-BE49-F238E27FC236}">
                <a16:creationId xmlns:a16="http://schemas.microsoft.com/office/drawing/2014/main" id="{8B75050F-686D-4F19-A024-47CE22CFACC4}"/>
              </a:ext>
            </a:extLst>
          </p:cNvPr>
          <p:cNvSpPr/>
          <p:nvPr/>
        </p:nvSpPr>
        <p:spPr>
          <a:xfrm>
            <a:off x="4277225" y="4608163"/>
            <a:ext cx="315844" cy="9404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78">
              <a:defRPr/>
            </a:pPr>
            <a:endParaRPr lang="zh-CN" altLang="en-US" sz="832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v4_s8_id62">
            <a:extLst>
              <a:ext uri="{FF2B5EF4-FFF2-40B4-BE49-F238E27FC236}">
                <a16:creationId xmlns:a16="http://schemas.microsoft.com/office/drawing/2014/main" id="{E13D01E7-1DD6-401F-AF16-9D1E1D864A50}"/>
              </a:ext>
            </a:extLst>
          </p:cNvPr>
          <p:cNvSpPr/>
          <p:nvPr/>
        </p:nvSpPr>
        <p:spPr>
          <a:xfrm>
            <a:off x="3851008" y="4971380"/>
            <a:ext cx="315844" cy="9404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78">
              <a:defRPr/>
            </a:pPr>
            <a:endParaRPr lang="zh-CN" altLang="en-US" sz="832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v4_s8_id63">
            <a:extLst>
              <a:ext uri="{FF2B5EF4-FFF2-40B4-BE49-F238E27FC236}">
                <a16:creationId xmlns:a16="http://schemas.microsoft.com/office/drawing/2014/main" id="{95AFC6E1-F38C-4B52-9669-8F3FD29345B9}"/>
              </a:ext>
            </a:extLst>
          </p:cNvPr>
          <p:cNvSpPr/>
          <p:nvPr/>
        </p:nvSpPr>
        <p:spPr>
          <a:xfrm>
            <a:off x="4277225" y="4971380"/>
            <a:ext cx="315844" cy="9404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78">
              <a:defRPr/>
            </a:pPr>
            <a:endParaRPr lang="zh-CN" altLang="en-US" sz="832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v4_s8_id64">
            <a:extLst>
              <a:ext uri="{FF2B5EF4-FFF2-40B4-BE49-F238E27FC236}">
                <a16:creationId xmlns:a16="http://schemas.microsoft.com/office/drawing/2014/main" id="{14C1EEA8-B3C1-4DF4-BD17-8B1864FE659F}"/>
              </a:ext>
            </a:extLst>
          </p:cNvPr>
          <p:cNvSpPr/>
          <p:nvPr/>
        </p:nvSpPr>
        <p:spPr>
          <a:xfrm>
            <a:off x="4659642" y="4971380"/>
            <a:ext cx="315844" cy="9404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78">
              <a:defRPr/>
            </a:pPr>
            <a:endParaRPr lang="zh-CN" altLang="en-US" sz="832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v4_s8_id65">
            <a:extLst>
              <a:ext uri="{FF2B5EF4-FFF2-40B4-BE49-F238E27FC236}">
                <a16:creationId xmlns:a16="http://schemas.microsoft.com/office/drawing/2014/main" id="{DC9AE885-E1F5-4D0F-B9A6-DBFAF4C37183}"/>
              </a:ext>
            </a:extLst>
          </p:cNvPr>
          <p:cNvSpPr/>
          <p:nvPr/>
        </p:nvSpPr>
        <p:spPr>
          <a:xfrm>
            <a:off x="5042059" y="4971380"/>
            <a:ext cx="315844" cy="9404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78">
              <a:defRPr/>
            </a:pPr>
            <a:endParaRPr lang="zh-CN" altLang="en-US" sz="832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v4_s8_id66">
            <a:extLst>
              <a:ext uri="{FF2B5EF4-FFF2-40B4-BE49-F238E27FC236}">
                <a16:creationId xmlns:a16="http://schemas.microsoft.com/office/drawing/2014/main" id="{64C4EEF3-171A-47AA-ADA5-DD7532CD549E}"/>
              </a:ext>
            </a:extLst>
          </p:cNvPr>
          <p:cNvSpPr/>
          <p:nvPr/>
        </p:nvSpPr>
        <p:spPr>
          <a:xfrm>
            <a:off x="4277225" y="5233575"/>
            <a:ext cx="315844" cy="9404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78">
              <a:defRPr/>
            </a:pPr>
            <a:endParaRPr lang="zh-CN" altLang="en-US" sz="832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v4_s8_id67">
            <a:extLst>
              <a:ext uri="{FF2B5EF4-FFF2-40B4-BE49-F238E27FC236}">
                <a16:creationId xmlns:a16="http://schemas.microsoft.com/office/drawing/2014/main" id="{A02CF655-BCE5-48B7-8138-8CF2903A27A0}"/>
              </a:ext>
            </a:extLst>
          </p:cNvPr>
          <p:cNvSpPr/>
          <p:nvPr/>
        </p:nvSpPr>
        <p:spPr>
          <a:xfrm>
            <a:off x="4659642" y="5227398"/>
            <a:ext cx="315844" cy="9404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78">
              <a:defRPr/>
            </a:pPr>
            <a:endParaRPr lang="zh-CN" altLang="en-US" sz="832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v4_s8_id68">
            <a:extLst>
              <a:ext uri="{FF2B5EF4-FFF2-40B4-BE49-F238E27FC236}">
                <a16:creationId xmlns:a16="http://schemas.microsoft.com/office/drawing/2014/main" id="{84A35E85-8A0B-4ED8-8410-F8A80280F68F}"/>
              </a:ext>
            </a:extLst>
          </p:cNvPr>
          <p:cNvSpPr/>
          <p:nvPr/>
        </p:nvSpPr>
        <p:spPr>
          <a:xfrm>
            <a:off x="4277225" y="5422107"/>
            <a:ext cx="315844" cy="9404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78">
              <a:defRPr/>
            </a:pPr>
            <a:endParaRPr lang="zh-CN" altLang="en-US" sz="832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v4_s8_id69">
            <a:extLst>
              <a:ext uri="{FF2B5EF4-FFF2-40B4-BE49-F238E27FC236}">
                <a16:creationId xmlns:a16="http://schemas.microsoft.com/office/drawing/2014/main" id="{C5BCE14A-88E7-4FFA-A884-45C4A5A096CB}"/>
              </a:ext>
            </a:extLst>
          </p:cNvPr>
          <p:cNvSpPr/>
          <p:nvPr/>
        </p:nvSpPr>
        <p:spPr>
          <a:xfrm>
            <a:off x="962936" y="4572936"/>
            <a:ext cx="315844" cy="9404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78">
              <a:defRPr/>
            </a:pPr>
            <a:endParaRPr lang="zh-CN" altLang="en-US" sz="832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v4_s8_id70">
            <a:extLst>
              <a:ext uri="{FF2B5EF4-FFF2-40B4-BE49-F238E27FC236}">
                <a16:creationId xmlns:a16="http://schemas.microsoft.com/office/drawing/2014/main" id="{BDE8F84F-05F6-4E4D-9BB9-19B008AE91E8}"/>
              </a:ext>
            </a:extLst>
          </p:cNvPr>
          <p:cNvSpPr/>
          <p:nvPr/>
        </p:nvSpPr>
        <p:spPr>
          <a:xfrm>
            <a:off x="731153" y="4951970"/>
            <a:ext cx="315844" cy="9404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78">
              <a:defRPr/>
            </a:pPr>
            <a:endParaRPr lang="zh-CN" altLang="en-US" sz="832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v4_s8_id71">
            <a:extLst>
              <a:ext uri="{FF2B5EF4-FFF2-40B4-BE49-F238E27FC236}">
                <a16:creationId xmlns:a16="http://schemas.microsoft.com/office/drawing/2014/main" id="{0F26C82A-C47F-4678-9E2E-C994D47B3350}"/>
              </a:ext>
            </a:extLst>
          </p:cNvPr>
          <p:cNvSpPr/>
          <p:nvPr/>
        </p:nvSpPr>
        <p:spPr>
          <a:xfrm>
            <a:off x="1183678" y="4960850"/>
            <a:ext cx="315844" cy="9404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78">
              <a:defRPr/>
            </a:pPr>
            <a:endParaRPr lang="zh-CN" altLang="en-US" sz="832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v4_s8_id72">
            <a:extLst>
              <a:ext uri="{FF2B5EF4-FFF2-40B4-BE49-F238E27FC236}">
                <a16:creationId xmlns:a16="http://schemas.microsoft.com/office/drawing/2014/main" id="{140915ED-BD23-4580-80BE-1FBE9D4EF635}"/>
              </a:ext>
            </a:extLst>
          </p:cNvPr>
          <p:cNvSpPr/>
          <p:nvPr/>
        </p:nvSpPr>
        <p:spPr>
          <a:xfrm>
            <a:off x="962936" y="5348533"/>
            <a:ext cx="315844" cy="94048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78">
              <a:defRPr/>
            </a:pPr>
            <a:endParaRPr lang="zh-CN" altLang="en-US" sz="832" kern="0" dirty="0">
              <a:solidFill>
                <a:srgbClr val="1D1D1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v4_s8_id73">
            <a:extLst>
              <a:ext uri="{FF2B5EF4-FFF2-40B4-BE49-F238E27FC236}">
                <a16:creationId xmlns:a16="http://schemas.microsoft.com/office/drawing/2014/main" id="{942FB368-3945-4925-B049-2DCC6651859B}"/>
              </a:ext>
            </a:extLst>
          </p:cNvPr>
          <p:cNvSpPr/>
          <p:nvPr/>
        </p:nvSpPr>
        <p:spPr>
          <a:xfrm>
            <a:off x="2311048" y="4918909"/>
            <a:ext cx="839076" cy="287944"/>
          </a:xfrm>
          <a:prstGeom prst="roundRect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14478">
              <a:defRPr/>
            </a:pPr>
            <a:r>
              <a:rPr lang="zh-CN" altLang="en-US" sz="104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混淆器</a:t>
            </a:r>
          </a:p>
        </p:txBody>
      </p:sp>
      <p:cxnSp>
        <p:nvCxnSpPr>
          <p:cNvPr id="74" name="连接符: 肘形 73">
            <a:extLst>
              <a:ext uri="{FF2B5EF4-FFF2-40B4-BE49-F238E27FC236}">
                <a16:creationId xmlns:a16="http://schemas.microsoft.com/office/drawing/2014/main" id="{4F4CAD7D-9292-483B-AEC1-D72407E8040E}"/>
              </a:ext>
            </a:extLst>
          </p:cNvPr>
          <p:cNvCxnSpPr>
            <a:cxnSpLocks/>
            <a:stCxn id="69" idx="2"/>
            <a:endCxn id="70" idx="0"/>
          </p:cNvCxnSpPr>
          <p:nvPr/>
        </p:nvCxnSpPr>
        <p:spPr>
          <a:xfrm rot="5400000">
            <a:off x="862474" y="4693585"/>
            <a:ext cx="284986" cy="231783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75" name="连接符: 肘形 74">
            <a:extLst>
              <a:ext uri="{FF2B5EF4-FFF2-40B4-BE49-F238E27FC236}">
                <a16:creationId xmlns:a16="http://schemas.microsoft.com/office/drawing/2014/main" id="{721DCBFD-D6EA-4812-A236-6003D72F1AAF}"/>
              </a:ext>
            </a:extLst>
          </p:cNvPr>
          <p:cNvCxnSpPr>
            <a:cxnSpLocks/>
            <a:stCxn id="69" idx="2"/>
            <a:endCxn id="71" idx="0"/>
          </p:cNvCxnSpPr>
          <p:nvPr/>
        </p:nvCxnSpPr>
        <p:spPr>
          <a:xfrm rot="16200000" flipH="1">
            <a:off x="1084296" y="4703546"/>
            <a:ext cx="293867" cy="220742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76" name="连接符: 肘形 75">
            <a:extLst>
              <a:ext uri="{FF2B5EF4-FFF2-40B4-BE49-F238E27FC236}">
                <a16:creationId xmlns:a16="http://schemas.microsoft.com/office/drawing/2014/main" id="{A5391727-B2BE-4463-BF09-B5F8C4E6FDF2}"/>
              </a:ext>
            </a:extLst>
          </p:cNvPr>
          <p:cNvCxnSpPr>
            <a:cxnSpLocks/>
            <a:stCxn id="70" idx="2"/>
            <a:endCxn id="72" idx="0"/>
          </p:cNvCxnSpPr>
          <p:nvPr/>
        </p:nvCxnSpPr>
        <p:spPr>
          <a:xfrm rot="16200000" flipH="1">
            <a:off x="853709" y="5081384"/>
            <a:ext cx="302515" cy="231783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77" name="连接符: 肘形 76">
            <a:extLst>
              <a:ext uri="{FF2B5EF4-FFF2-40B4-BE49-F238E27FC236}">
                <a16:creationId xmlns:a16="http://schemas.microsoft.com/office/drawing/2014/main" id="{1A3B86C3-879B-471E-9826-3458E673CDF6}"/>
              </a:ext>
            </a:extLst>
          </p:cNvPr>
          <p:cNvCxnSpPr>
            <a:cxnSpLocks/>
            <a:stCxn id="71" idx="2"/>
            <a:endCxn id="72" idx="0"/>
          </p:cNvCxnSpPr>
          <p:nvPr/>
        </p:nvCxnSpPr>
        <p:spPr>
          <a:xfrm rot="5400000">
            <a:off x="1084412" y="5091344"/>
            <a:ext cx="293635" cy="220742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78" name="连接符: 肘形 77">
            <a:extLst>
              <a:ext uri="{FF2B5EF4-FFF2-40B4-BE49-F238E27FC236}">
                <a16:creationId xmlns:a16="http://schemas.microsoft.com/office/drawing/2014/main" id="{3DA09368-512C-4B3B-9DC4-2583E8AD0E31}"/>
              </a:ext>
            </a:extLst>
          </p:cNvPr>
          <p:cNvCxnSpPr>
            <a:cxnSpLocks/>
            <a:stCxn id="61" idx="2"/>
            <a:endCxn id="64" idx="0"/>
          </p:cNvCxnSpPr>
          <p:nvPr/>
        </p:nvCxnSpPr>
        <p:spPr>
          <a:xfrm rot="16200000" flipH="1">
            <a:off x="4491770" y="4645586"/>
            <a:ext cx="269170" cy="382417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79" name="连接符: 肘形 78">
            <a:extLst>
              <a:ext uri="{FF2B5EF4-FFF2-40B4-BE49-F238E27FC236}">
                <a16:creationId xmlns:a16="http://schemas.microsoft.com/office/drawing/2014/main" id="{929140E3-32F7-440A-9FD8-B9DBFAFA8308}"/>
              </a:ext>
            </a:extLst>
          </p:cNvPr>
          <p:cNvCxnSpPr>
            <a:cxnSpLocks/>
            <a:stCxn id="61" idx="2"/>
            <a:endCxn id="63" idx="0"/>
          </p:cNvCxnSpPr>
          <p:nvPr/>
        </p:nvCxnSpPr>
        <p:spPr>
          <a:xfrm rot="5400000">
            <a:off x="4300562" y="4836795"/>
            <a:ext cx="269170" cy="13208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80" name="连接符: 肘形 79">
            <a:extLst>
              <a:ext uri="{FF2B5EF4-FFF2-40B4-BE49-F238E27FC236}">
                <a16:creationId xmlns:a16="http://schemas.microsoft.com/office/drawing/2014/main" id="{BABC495E-8971-4447-AF84-E48307B67498}"/>
              </a:ext>
            </a:extLst>
          </p:cNvPr>
          <p:cNvCxnSpPr>
            <a:cxnSpLocks/>
            <a:stCxn id="61" idx="2"/>
            <a:endCxn id="62" idx="0"/>
          </p:cNvCxnSpPr>
          <p:nvPr/>
        </p:nvCxnSpPr>
        <p:spPr>
          <a:xfrm rot="5400000">
            <a:off x="4087454" y="4623687"/>
            <a:ext cx="269170" cy="426217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81" name="连接符: 肘形 80">
            <a:extLst>
              <a:ext uri="{FF2B5EF4-FFF2-40B4-BE49-F238E27FC236}">
                <a16:creationId xmlns:a16="http://schemas.microsoft.com/office/drawing/2014/main" id="{D4A62AC2-DAA0-4C6C-840C-A0FFDBDB3929}"/>
              </a:ext>
            </a:extLst>
          </p:cNvPr>
          <p:cNvCxnSpPr>
            <a:cxnSpLocks/>
            <a:stCxn id="61" idx="2"/>
            <a:endCxn id="65" idx="0"/>
          </p:cNvCxnSpPr>
          <p:nvPr/>
        </p:nvCxnSpPr>
        <p:spPr>
          <a:xfrm rot="16200000" flipH="1">
            <a:off x="4682979" y="4454378"/>
            <a:ext cx="269170" cy="764835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82" name="连接符: 肘形 81">
            <a:extLst>
              <a:ext uri="{FF2B5EF4-FFF2-40B4-BE49-F238E27FC236}">
                <a16:creationId xmlns:a16="http://schemas.microsoft.com/office/drawing/2014/main" id="{60A1825A-C250-42A4-B00A-D9150F13DE8C}"/>
              </a:ext>
            </a:extLst>
          </p:cNvPr>
          <p:cNvCxnSpPr>
            <a:cxnSpLocks/>
            <a:stCxn id="64" idx="2"/>
            <a:endCxn id="66" idx="0"/>
          </p:cNvCxnSpPr>
          <p:nvPr/>
        </p:nvCxnSpPr>
        <p:spPr>
          <a:xfrm rot="5400000">
            <a:off x="4542283" y="4958293"/>
            <a:ext cx="168146" cy="382417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83" name="连接符: 肘形 82">
            <a:extLst>
              <a:ext uri="{FF2B5EF4-FFF2-40B4-BE49-F238E27FC236}">
                <a16:creationId xmlns:a16="http://schemas.microsoft.com/office/drawing/2014/main" id="{23B03056-1A58-4CB3-986D-1DE9826213CD}"/>
              </a:ext>
            </a:extLst>
          </p:cNvPr>
          <p:cNvCxnSpPr>
            <a:cxnSpLocks/>
            <a:stCxn id="64" idx="2"/>
            <a:endCxn id="67" idx="0"/>
          </p:cNvCxnSpPr>
          <p:nvPr/>
        </p:nvCxnSpPr>
        <p:spPr>
          <a:xfrm rot="5400000">
            <a:off x="4736579" y="5146414"/>
            <a:ext cx="161970" cy="13208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84" name="连接符: 肘形 83">
            <a:extLst>
              <a:ext uri="{FF2B5EF4-FFF2-40B4-BE49-F238E27FC236}">
                <a16:creationId xmlns:a16="http://schemas.microsoft.com/office/drawing/2014/main" id="{91728CA5-2496-4764-9168-B6CC4F074A42}"/>
              </a:ext>
            </a:extLst>
          </p:cNvPr>
          <p:cNvCxnSpPr>
            <a:cxnSpLocks/>
            <a:stCxn id="62" idx="2"/>
            <a:endCxn id="61" idx="1"/>
          </p:cNvCxnSpPr>
          <p:nvPr/>
        </p:nvCxnSpPr>
        <p:spPr>
          <a:xfrm rot="5400000" flipH="1" flipV="1">
            <a:off x="3937956" y="4726161"/>
            <a:ext cx="410242" cy="268295"/>
          </a:xfrm>
          <a:prstGeom prst="bentConnector4">
            <a:avLst>
              <a:gd name="adj1" fmla="val -57952"/>
              <a:gd name="adj2" fmla="val -100256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85" name="连接符: 肘形 84">
            <a:extLst>
              <a:ext uri="{FF2B5EF4-FFF2-40B4-BE49-F238E27FC236}">
                <a16:creationId xmlns:a16="http://schemas.microsoft.com/office/drawing/2014/main" id="{8EE2A13D-A1D4-4867-AC6B-444A0EE9493E}"/>
              </a:ext>
            </a:extLst>
          </p:cNvPr>
          <p:cNvCxnSpPr>
            <a:cxnSpLocks/>
            <a:stCxn id="65" idx="2"/>
            <a:endCxn id="61" idx="3"/>
          </p:cNvCxnSpPr>
          <p:nvPr/>
        </p:nvCxnSpPr>
        <p:spPr>
          <a:xfrm rot="5400000" flipH="1">
            <a:off x="4691403" y="4556852"/>
            <a:ext cx="410242" cy="606913"/>
          </a:xfrm>
          <a:prstGeom prst="bentConnector4">
            <a:avLst>
              <a:gd name="adj1" fmla="val -57952"/>
              <a:gd name="adj2" fmla="val -4798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86" name="连接符: 肘形 85">
            <a:extLst>
              <a:ext uri="{FF2B5EF4-FFF2-40B4-BE49-F238E27FC236}">
                <a16:creationId xmlns:a16="http://schemas.microsoft.com/office/drawing/2014/main" id="{AC814474-5B14-4E80-98E5-0A25A870E2A0}"/>
              </a:ext>
            </a:extLst>
          </p:cNvPr>
          <p:cNvCxnSpPr>
            <a:cxnSpLocks/>
            <a:stCxn id="67" idx="2"/>
            <a:endCxn id="61" idx="3"/>
          </p:cNvCxnSpPr>
          <p:nvPr/>
        </p:nvCxnSpPr>
        <p:spPr>
          <a:xfrm rot="5400000" flipH="1">
            <a:off x="4372187" y="4876070"/>
            <a:ext cx="666259" cy="224495"/>
          </a:xfrm>
          <a:prstGeom prst="bentConnector4">
            <a:avLst>
              <a:gd name="adj1" fmla="val -35683"/>
              <a:gd name="adj2" fmla="val -298722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87" name="连接符: 肘形 86">
            <a:extLst>
              <a:ext uri="{FF2B5EF4-FFF2-40B4-BE49-F238E27FC236}">
                <a16:creationId xmlns:a16="http://schemas.microsoft.com/office/drawing/2014/main" id="{1A31ABE0-4A68-4272-817D-22F0D2445F31}"/>
              </a:ext>
            </a:extLst>
          </p:cNvPr>
          <p:cNvCxnSpPr>
            <a:cxnSpLocks/>
            <a:stCxn id="66" idx="2"/>
            <a:endCxn id="68" idx="0"/>
          </p:cNvCxnSpPr>
          <p:nvPr/>
        </p:nvCxnSpPr>
        <p:spPr>
          <a:xfrm rot="5400000">
            <a:off x="4387904" y="5374865"/>
            <a:ext cx="94484" cy="13208"/>
          </a:xfrm>
          <a:prstGeom prst="bentConnector3">
            <a:avLst>
              <a:gd name="adj1" fmla="val 50000"/>
            </a:avLst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88" name="v4_s8_id88">
            <a:extLst>
              <a:ext uri="{FF2B5EF4-FFF2-40B4-BE49-F238E27FC236}">
                <a16:creationId xmlns:a16="http://schemas.microsoft.com/office/drawing/2014/main" id="{C791402A-1110-48D1-AE1F-8E4D4FCF2E48}"/>
              </a:ext>
            </a:extLst>
          </p:cNvPr>
          <p:cNvSpPr/>
          <p:nvPr/>
        </p:nvSpPr>
        <p:spPr>
          <a:xfrm>
            <a:off x="3714447" y="5552102"/>
            <a:ext cx="1882704" cy="739853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14478">
              <a:defRPr/>
            </a:pPr>
            <a:r>
              <a:rPr lang="zh-CN" altLang="en-US" sz="104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函数名：</a:t>
            </a:r>
            <a:r>
              <a:rPr lang="en-US" altLang="zh-CN" sz="104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a0</a:t>
            </a:r>
          </a:p>
          <a:p>
            <a:pPr defTabSz="914478">
              <a:defRPr/>
            </a:pPr>
            <a:r>
              <a:rPr lang="zh-CN" altLang="en-US" sz="104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行号：</a:t>
            </a:r>
            <a:r>
              <a:rPr lang="en-US" altLang="zh-CN" sz="104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  <a:p>
            <a:pPr defTabSz="914478">
              <a:defRPr/>
            </a:pPr>
            <a:r>
              <a:rPr lang="zh-CN" altLang="en-US" sz="104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路径：</a:t>
            </a:r>
            <a:r>
              <a:rPr lang="en-US" altLang="zh-CN" sz="104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SOURCE</a:t>
            </a:r>
          </a:p>
          <a:p>
            <a:pPr defTabSz="914478">
              <a:defRPr/>
            </a:pPr>
            <a:r>
              <a:rPr lang="zh-CN" altLang="en-US" sz="104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特征数据：</a:t>
            </a:r>
            <a:r>
              <a:rPr lang="en-US" altLang="zh-CN" sz="104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0xae10</a:t>
            </a:r>
            <a:r>
              <a:rPr lang="zh-CN" altLang="en-US" sz="104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104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0x23ac</a:t>
            </a:r>
          </a:p>
          <a:p>
            <a:pPr defTabSz="914478">
              <a:defRPr/>
            </a:pPr>
            <a:r>
              <a:rPr lang="zh-CN" altLang="en-US" sz="104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特征字符串：“</a:t>
            </a:r>
            <a:r>
              <a:rPr lang="en-US" altLang="zh-CN" sz="1040" kern="0" dirty="0" err="1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rejvo</a:t>
            </a:r>
            <a:r>
              <a:rPr lang="zh-CN" altLang="en-US" sz="104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</a:p>
        </p:txBody>
      </p:sp>
      <p:sp>
        <p:nvSpPr>
          <p:cNvPr id="89" name="v4_s8_id89">
            <a:extLst>
              <a:ext uri="{FF2B5EF4-FFF2-40B4-BE49-F238E27FC236}">
                <a16:creationId xmlns:a16="http://schemas.microsoft.com/office/drawing/2014/main" id="{BEADE8F6-3405-40AD-B1DC-89FFEB2AA00B}"/>
              </a:ext>
            </a:extLst>
          </p:cNvPr>
          <p:cNvSpPr/>
          <p:nvPr/>
        </p:nvSpPr>
        <p:spPr>
          <a:xfrm>
            <a:off x="2473997" y="5693692"/>
            <a:ext cx="513180" cy="430054"/>
          </a:xfrm>
          <a:prstGeom prst="foldedCorner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>
              <a:defRPr/>
            </a:pPr>
            <a:r>
              <a:rPr lang="zh-CN" altLang="en-US" sz="1040" kern="0" dirty="0">
                <a:solidFill>
                  <a:prstClr val="black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配置文件</a:t>
            </a:r>
          </a:p>
        </p:txBody>
      </p:sp>
      <p:cxnSp>
        <p:nvCxnSpPr>
          <p:cNvPr id="90" name="直接箭头连接符 89">
            <a:extLst>
              <a:ext uri="{FF2B5EF4-FFF2-40B4-BE49-F238E27FC236}">
                <a16:creationId xmlns:a16="http://schemas.microsoft.com/office/drawing/2014/main" id="{A0763003-4B1B-4BD8-8B41-28B6432A4C53}"/>
              </a:ext>
            </a:extLst>
          </p:cNvPr>
          <p:cNvCxnSpPr>
            <a:cxnSpLocks/>
            <a:stCxn id="89" idx="0"/>
            <a:endCxn id="73" idx="2"/>
          </p:cNvCxnSpPr>
          <p:nvPr/>
        </p:nvCxnSpPr>
        <p:spPr>
          <a:xfrm flipV="1">
            <a:off x="2730586" y="5206853"/>
            <a:ext cx="0" cy="486839"/>
          </a:xfrm>
          <a:prstGeom prst="straightConnector1">
            <a:avLst/>
          </a:prstGeom>
          <a:noFill/>
          <a:ln w="6350" cap="flat" cmpd="sng" algn="ctr">
            <a:solidFill>
              <a:sysClr val="windowText" lastClr="000000"/>
            </a:solidFill>
            <a:prstDash val="solid"/>
            <a:miter lim="800000"/>
            <a:tailEnd type="triangle"/>
          </a:ln>
          <a:effectLst/>
        </p:spPr>
      </p:cxnSp>
      <p:sp>
        <p:nvSpPr>
          <p:cNvPr id="91" name="v4_s8_id91">
            <a:extLst>
              <a:ext uri="{FF2B5EF4-FFF2-40B4-BE49-F238E27FC236}">
                <a16:creationId xmlns:a16="http://schemas.microsoft.com/office/drawing/2014/main" id="{B6F3DD84-CE09-45A0-9248-9516996D0422}"/>
              </a:ext>
            </a:extLst>
          </p:cNvPr>
          <p:cNvSpPr/>
          <p:nvPr/>
        </p:nvSpPr>
        <p:spPr>
          <a:xfrm>
            <a:off x="2022628" y="4906376"/>
            <a:ext cx="246654" cy="322877"/>
          </a:xfrm>
          <a:prstGeom prst="rightArrow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7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92" name="v4_s8_id92">
            <a:extLst>
              <a:ext uri="{FF2B5EF4-FFF2-40B4-BE49-F238E27FC236}">
                <a16:creationId xmlns:a16="http://schemas.microsoft.com/office/drawing/2014/main" id="{BE2E9137-ED40-4551-BEF4-CA04CF4AB278}"/>
              </a:ext>
            </a:extLst>
          </p:cNvPr>
          <p:cNvSpPr/>
          <p:nvPr/>
        </p:nvSpPr>
        <p:spPr>
          <a:xfrm>
            <a:off x="3215780" y="4906376"/>
            <a:ext cx="246654" cy="322877"/>
          </a:xfrm>
          <a:prstGeom prst="rightArrow">
            <a:avLst/>
          </a:prstGeom>
          <a:noFill/>
          <a:ln w="12700" cap="flat" cmpd="sng" algn="ctr">
            <a:solidFill>
              <a:sysClr val="windowText" lastClr="00000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72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  <p:sp>
        <p:nvSpPr>
          <p:cNvPr id="93" name="v4_s8_id93">
            <a:extLst>
              <a:ext uri="{FF2B5EF4-FFF2-40B4-BE49-F238E27FC236}">
                <a16:creationId xmlns:a16="http://schemas.microsoft.com/office/drawing/2014/main" id="{06B507E6-54D9-42E1-9B58-BCA62EDD07A5}"/>
              </a:ext>
            </a:extLst>
          </p:cNvPr>
          <p:cNvSpPr/>
          <p:nvPr/>
        </p:nvSpPr>
        <p:spPr>
          <a:xfrm>
            <a:off x="361950" y="4319780"/>
            <a:ext cx="1643456" cy="25701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478">
              <a:defRPr/>
            </a:pPr>
            <a:r>
              <a:rPr lang="zh-CN" altLang="en-US" sz="104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混淆前二进制</a:t>
            </a:r>
          </a:p>
        </p:txBody>
      </p:sp>
      <p:sp>
        <p:nvSpPr>
          <p:cNvPr id="94" name="v4_s8_id94">
            <a:extLst>
              <a:ext uri="{FF2B5EF4-FFF2-40B4-BE49-F238E27FC236}">
                <a16:creationId xmlns:a16="http://schemas.microsoft.com/office/drawing/2014/main" id="{07BA1569-1DAE-4D39-9FB0-F48B330CEF95}"/>
              </a:ext>
            </a:extLst>
          </p:cNvPr>
          <p:cNvSpPr/>
          <p:nvPr/>
        </p:nvSpPr>
        <p:spPr>
          <a:xfrm>
            <a:off x="3736683" y="4319780"/>
            <a:ext cx="1643456" cy="257017"/>
          </a:xfrm>
          <a:prstGeom prst="rect">
            <a:avLst/>
          </a:prstGeom>
          <a:noFill/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14478">
              <a:defRPr/>
            </a:pPr>
            <a:r>
              <a:rPr lang="zh-CN" altLang="en-US" sz="104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混淆后二进制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44543351-533B-99A2-7875-6253A1C9D7F8}"/>
              </a:ext>
            </a:extLst>
          </p:cNvPr>
          <p:cNvSpPr/>
          <p:nvPr/>
        </p:nvSpPr>
        <p:spPr>
          <a:xfrm>
            <a:off x="323513" y="1389703"/>
            <a:ext cx="5476874" cy="2677208"/>
          </a:xfrm>
          <a:prstGeom prst="rect">
            <a:avLst/>
          </a:prstGeom>
          <a:solidFill>
            <a:srgbClr val="E0E0E0"/>
          </a:solidFill>
        </p:spPr>
        <p:txBody>
          <a:bodyPr wrap="square">
            <a:spAutoFit/>
          </a:bodyPr>
          <a:lstStyle/>
          <a:p>
            <a:pPr defTabSz="914478">
              <a:defRPr/>
            </a:pPr>
            <a:r>
              <a:rPr lang="zh-CN" altLang="en-US" sz="1600" b="1" kern="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混淆技术与配置能力</a:t>
            </a:r>
            <a:endParaRPr lang="en-US" altLang="zh-CN" sz="1600" b="1" kern="0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  <a:p>
            <a:pPr marL="171450" indent="-171450" defTabSz="914478">
              <a:lnSpc>
                <a:spcPct val="12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外形混淆</a:t>
            </a:r>
            <a:r>
              <a:rPr lang="zh-CN" altLang="en-US" sz="16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：替换程序符号、路径和行号，调整函数排列，减少可直接识别的源码特征；</a:t>
            </a:r>
          </a:p>
          <a:p>
            <a:pPr marL="171450" indent="-171450" defTabSz="914478">
              <a:lnSpc>
                <a:spcPct val="12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常量与字符串混淆</a:t>
            </a:r>
            <a:r>
              <a:rPr lang="zh-CN" altLang="en-US" sz="16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：将常量运算改写为等效运算序列，对字符串进行编码与解码，增加特征数据的识别难度；</a:t>
            </a:r>
          </a:p>
          <a:p>
            <a:pPr marL="171450" indent="-171450" defTabSz="914478">
              <a:lnSpc>
                <a:spcPct val="12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虚假控制流与控制流平坦化</a:t>
            </a:r>
            <a:r>
              <a:rPr lang="zh-CN" altLang="en-US" sz="16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：加入虚假分支，改写控制流结构，增加程序执行逻辑的分析难度；</a:t>
            </a:r>
          </a:p>
          <a:p>
            <a:pPr marL="171450" indent="-171450" defTabSz="914478">
              <a:lnSpc>
                <a:spcPct val="120000"/>
              </a:lnSpc>
              <a:buFont typeface="Wingdings" panose="05000000000000000000" pitchFamily="2" charset="2"/>
              <a:buChar char="l"/>
              <a:defRPr/>
            </a:pPr>
            <a:r>
              <a:rPr lang="zh-CN" altLang="en-US" sz="1600" b="1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细粒度配置</a:t>
            </a:r>
            <a:r>
              <a:rPr lang="zh-CN" altLang="en-US" sz="1600" kern="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：按需组合混淆功能，通过保留规则和映射配置，兼顾保护需求、兼容性与运行开销。</a:t>
            </a:r>
          </a:p>
        </p:txBody>
      </p:sp>
      <p:sp>
        <p:nvSpPr>
          <p:cNvPr id="2044" name="p8_advantage_legend">
            <a:extLst>
              <a:ext uri="{FF2B5EF4-FFF2-40B4-BE49-F238E27FC236}">
                <a16:creationId xmlns:a16="http://schemas.microsoft.com/office/drawing/2014/main" id="{E45AF887-FB9F-4086-A9F9-DB22BCA6723A}"/>
              </a:ext>
            </a:extLst>
          </p:cNvPr>
          <p:cNvSpPr>
            <a:spLocks noGrp="1"/>
          </p:cNvSpPr>
          <p:nvPr/>
        </p:nvSpPr>
        <p:spPr>
          <a:xfrm>
            <a:off x="6096000" y="6115712"/>
            <a:ext cx="1333500" cy="238125"/>
          </a:xfrm>
          <a:prstGeom prst="rect">
            <a:avLst/>
          </a:prstGeom>
          <a:solidFill>
            <a:srgbClr val="CAE8D0"/>
          </a:solidFill>
          <a:ln w="0">
            <a:noFill/>
          </a:ln>
        </p:spPr>
        <p:txBody>
          <a:bodyPr wrap="none" lIns="76200" tIns="28575" rIns="47625" bIns="0">
            <a:noAutofit/>
          </a:bodyPr>
          <a:lstStyle/>
          <a:p>
            <a:pPr>
              <a:defRPr sz="105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5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仓颉功能优势</a:t>
            </a:r>
          </a:p>
        </p:txBody>
      </p:sp>
      <p:sp>
        <p:nvSpPr>
          <p:cNvPr id="2045" name="p8_gap_legend">
            <a:extLst>
              <a:ext uri="{FF2B5EF4-FFF2-40B4-BE49-F238E27FC236}">
                <a16:creationId xmlns:a16="http://schemas.microsoft.com/office/drawing/2014/main" id="{167092BF-085E-4D6A-8B35-95D6DCA65917}"/>
              </a:ext>
            </a:extLst>
          </p:cNvPr>
          <p:cNvSpPr>
            <a:spLocks noGrp="1"/>
          </p:cNvSpPr>
          <p:nvPr/>
        </p:nvSpPr>
        <p:spPr>
          <a:xfrm>
            <a:off x="7562850" y="6115712"/>
            <a:ext cx="1066800" cy="238125"/>
          </a:xfrm>
          <a:prstGeom prst="rect">
            <a:avLst/>
          </a:prstGeom>
          <a:solidFill>
            <a:srgbClr val="F5D0D3"/>
          </a:solidFill>
          <a:ln w="0">
            <a:noFill/>
          </a:ln>
        </p:spPr>
        <p:txBody>
          <a:bodyPr wrap="none" lIns="76200" tIns="28575" rIns="47625" bIns="0">
            <a:noAutofit/>
          </a:bodyPr>
          <a:lstStyle/>
          <a:p>
            <a:pPr>
              <a:defRPr sz="105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05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配置缺项</a:t>
            </a:r>
          </a:p>
        </p:txBody>
      </p:sp>
    </p:spTree>
    <p:extLst>
      <p:ext uri="{BB962C8B-B14F-4D97-AF65-F5344CB8AC3E}">
        <p14:creationId xmlns:p14="http://schemas.microsoft.com/office/powerpoint/2010/main" val="26786404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87FEF-4CF1-F4FC-C1CE-CEC96422D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fca_title">
            <a:extLst>
              <a:ext uri="{FF2B5EF4-FFF2-40B4-BE49-F238E27FC236}">
                <a16:creationId xmlns:a16="http://schemas.microsoft.com/office/drawing/2014/main" id="{E243B76C-B8B3-7A5C-E835-7DFE098C187C}"/>
              </a:ext>
            </a:extLst>
          </p:cNvPr>
          <p:cNvSpPr>
            <a:spLocks noGrp="1"/>
          </p:cNvSpPr>
          <p:nvPr/>
        </p:nvSpPr>
        <p:spPr>
          <a:xfrm>
            <a:off x="361950" y="228600"/>
            <a:ext cx="114300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7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7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仓颉</a:t>
            </a:r>
            <a:r>
              <a:rPr lang="zh-CN" altLang="en-US" sz="2700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安全：助力科蓝</a:t>
            </a:r>
            <a:r>
              <a:rPr sz="2700" b="1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获金融科技产品认证</a:t>
            </a:r>
            <a:endParaRPr sz="2700" b="1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4" name="cfca_source">
            <a:extLst>
              <a:ext uri="{FF2B5EF4-FFF2-40B4-BE49-F238E27FC236}">
                <a16:creationId xmlns:a16="http://schemas.microsoft.com/office/drawing/2014/main" id="{29956192-884B-80FE-8F33-70C270796FBD}"/>
              </a:ext>
            </a:extLst>
          </p:cNvPr>
          <p:cNvSpPr>
            <a:spLocks noGrp="1"/>
          </p:cNvSpPr>
          <p:nvPr/>
        </p:nvSpPr>
        <p:spPr>
          <a:xfrm>
            <a:off x="5753569" y="6432505"/>
            <a:ext cx="9271447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275" b="0">
                <a:solidFill>
                  <a:srgbClr val="555555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275" b="0">
                <a:solidFill>
                  <a:srgbClr val="55555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 dirty="0" err="1">
                <a:solidFill>
                  <a:srgbClr val="555555"/>
                </a:solidFill>
                <a:latin typeface="微软雅黑"/>
                <a:ea typeface="微软雅黑"/>
                <a:cs typeface="微软雅黑"/>
                <a:hlinkClick r:id="rId3"/>
              </a:rPr>
              <a:t>来源：CFCA《科蓝软件</a:t>
            </a:r>
            <a:r>
              <a:rPr sz="1275" b="0" dirty="0">
                <a:solidFill>
                  <a:srgbClr val="555555"/>
                </a:solidFill>
                <a:latin typeface="微软雅黑"/>
                <a:ea typeface="微软雅黑"/>
                <a:cs typeface="微软雅黑"/>
                <a:hlinkClick r:id="rId3"/>
              </a:rPr>
              <a:t> </a:t>
            </a:r>
            <a:r>
              <a:rPr sz="1275" b="0" dirty="0" err="1">
                <a:solidFill>
                  <a:srgbClr val="555555"/>
                </a:solidFill>
                <a:latin typeface="微软雅黑"/>
                <a:ea typeface="微软雅黑"/>
                <a:cs typeface="微软雅黑"/>
                <a:hlinkClick r:id="rId3"/>
              </a:rPr>
              <a:t>sMFA</a:t>
            </a:r>
            <a:r>
              <a:rPr sz="1275" b="0" dirty="0">
                <a:solidFill>
                  <a:srgbClr val="555555"/>
                </a:solidFill>
                <a:latin typeface="微软雅黑"/>
                <a:ea typeface="微软雅黑"/>
                <a:cs typeface="微软雅黑"/>
                <a:hlinkClick r:id="rId3"/>
              </a:rPr>
              <a:t> </a:t>
            </a:r>
            <a:r>
              <a:rPr sz="1275" b="0" dirty="0" err="1">
                <a:solidFill>
                  <a:srgbClr val="555555"/>
                </a:solidFill>
                <a:latin typeface="微软雅黑"/>
                <a:ea typeface="微软雅黑"/>
                <a:cs typeface="微软雅黑"/>
                <a:hlinkClick r:id="rId3"/>
              </a:rPr>
              <a:t>组件通过</a:t>
            </a:r>
            <a:r>
              <a:rPr sz="1275" b="0" dirty="0">
                <a:solidFill>
                  <a:srgbClr val="555555"/>
                </a:solidFill>
                <a:latin typeface="微软雅黑"/>
                <a:ea typeface="微软雅黑"/>
                <a:cs typeface="微软雅黑"/>
                <a:hlinkClick r:id="rId3"/>
              </a:rPr>
              <a:t> CFCA </a:t>
            </a:r>
            <a:r>
              <a:rPr sz="1275" b="0" dirty="0" err="1">
                <a:solidFill>
                  <a:srgbClr val="555555"/>
                </a:solidFill>
                <a:latin typeface="微软雅黑"/>
                <a:ea typeface="微软雅黑"/>
                <a:cs typeface="微软雅黑"/>
                <a:hlinkClick r:id="rId3"/>
              </a:rPr>
              <a:t>安全评测</a:t>
            </a:r>
            <a:r>
              <a:rPr sz="1275" b="0" dirty="0">
                <a:solidFill>
                  <a:srgbClr val="555555"/>
                </a:solidFill>
                <a:latin typeface="微软雅黑"/>
                <a:ea typeface="微软雅黑"/>
                <a:cs typeface="微软雅黑"/>
                <a:hlinkClick r:id="rId3"/>
              </a:rPr>
              <a:t>》 · 2024 </a:t>
            </a:r>
            <a:r>
              <a:rPr sz="1275" b="0" dirty="0" err="1">
                <a:solidFill>
                  <a:srgbClr val="555555"/>
                </a:solidFill>
                <a:latin typeface="微软雅黑"/>
                <a:ea typeface="微软雅黑"/>
                <a:cs typeface="微软雅黑"/>
                <a:hlinkClick r:id="rId3"/>
              </a:rPr>
              <a:t>年</a:t>
            </a:r>
            <a:r>
              <a:rPr sz="1275" b="0" dirty="0">
                <a:solidFill>
                  <a:srgbClr val="555555"/>
                </a:solidFill>
                <a:latin typeface="微软雅黑"/>
                <a:ea typeface="微软雅黑"/>
                <a:cs typeface="微软雅黑"/>
                <a:hlinkClick r:id="rId3"/>
              </a:rPr>
              <a:t> 6 </a:t>
            </a:r>
            <a:r>
              <a:rPr sz="1275" b="0" dirty="0" err="1">
                <a:solidFill>
                  <a:srgbClr val="555555"/>
                </a:solidFill>
                <a:latin typeface="微软雅黑"/>
                <a:ea typeface="微软雅黑"/>
                <a:cs typeface="微软雅黑"/>
                <a:hlinkClick r:id="rId3"/>
              </a:rPr>
              <a:t>月</a:t>
            </a:r>
            <a:endParaRPr sz="1275" b="0" dirty="0">
              <a:solidFill>
                <a:srgbClr val="555555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5" name="cfca_certificate">
            <a:extLst>
              <a:ext uri="{FF2B5EF4-FFF2-40B4-BE49-F238E27FC236}">
                <a16:creationId xmlns:a16="http://schemas.microsoft.com/office/drawing/2014/main" id="{4B47E266-ED60-47B2-171B-550C0F3C96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8096250" y="3905250"/>
            <a:ext cx="3762375" cy="2117680"/>
          </a:xfrm>
          <a:prstGeom prst="rect">
            <a:avLst/>
          </a:prstGeom>
        </p:spPr>
      </p:pic>
      <p:sp>
        <p:nvSpPr>
          <p:cNvPr id="6" name="v4_s11_id36">
            <a:extLst>
              <a:ext uri="{FF2B5EF4-FFF2-40B4-BE49-F238E27FC236}">
                <a16:creationId xmlns:a16="http://schemas.microsoft.com/office/drawing/2014/main" id="{F9B682F1-364D-AC31-D949-B7E1DCC47193}"/>
              </a:ext>
            </a:extLst>
          </p:cNvPr>
          <p:cNvSpPr/>
          <p:nvPr/>
        </p:nvSpPr>
        <p:spPr>
          <a:xfrm>
            <a:off x="1127137" y="1402018"/>
            <a:ext cx="2076874" cy="172406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v4_s11_id57">
            <a:extLst>
              <a:ext uri="{FF2B5EF4-FFF2-40B4-BE49-F238E27FC236}">
                <a16:creationId xmlns:a16="http://schemas.microsoft.com/office/drawing/2014/main" id="{F2CCF780-D830-9D7B-7895-79D242BE5E57}"/>
              </a:ext>
            </a:extLst>
          </p:cNvPr>
          <p:cNvSpPr/>
          <p:nvPr/>
        </p:nvSpPr>
        <p:spPr>
          <a:xfrm>
            <a:off x="1127137" y="4126168"/>
            <a:ext cx="2076874" cy="172406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ctr"/>
            <a:endParaRPr lang="en-US" altLang="zh-CN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estore_first_label">
            <a:extLst>
              <a:ext uri="{FF2B5EF4-FFF2-40B4-BE49-F238E27FC236}">
                <a16:creationId xmlns:a16="http://schemas.microsoft.com/office/drawing/2014/main" id="{FAE1AF83-AEFC-AF83-B98A-C49A9588F093}"/>
              </a:ext>
            </a:extLst>
          </p:cNvPr>
          <p:cNvSpPr>
            <a:spLocks noGrp="1"/>
          </p:cNvSpPr>
          <p:nvPr/>
        </p:nvSpPr>
        <p:spPr>
          <a:xfrm>
            <a:off x="1162050" y="1914525"/>
            <a:ext cx="201930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025" b="1">
                <a:solidFill>
                  <a:srgbClr val="285EA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025" b="1">
                <a:solidFill>
                  <a:srgbClr val="285EA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85EA8"/>
                </a:solidFill>
                <a:latin typeface="微软雅黑"/>
                <a:ea typeface="微软雅黑"/>
                <a:cs typeface="微软雅黑"/>
              </a:rPr>
              <a:t>首个获证</a:t>
            </a:r>
          </a:p>
          <a:p>
            <a:pPr algn="ctr">
              <a:defRPr sz="2025" b="1">
                <a:solidFill>
                  <a:srgbClr val="285EA8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285EA8"/>
                </a:solidFill>
                <a:latin typeface="微软雅黑"/>
                <a:ea typeface="微软雅黑"/>
                <a:cs typeface="微软雅黑"/>
              </a:rPr>
              <a:t>鸿蒙原生应用</a:t>
            </a:r>
          </a:p>
        </p:txBody>
      </p:sp>
      <p:sp>
        <p:nvSpPr>
          <p:cNvPr id="9" name="restore_second_label">
            <a:extLst>
              <a:ext uri="{FF2B5EF4-FFF2-40B4-BE49-F238E27FC236}">
                <a16:creationId xmlns:a16="http://schemas.microsoft.com/office/drawing/2014/main" id="{0C225814-2043-6CF5-4B23-2ADE18623610}"/>
              </a:ext>
            </a:extLst>
          </p:cNvPr>
          <p:cNvSpPr>
            <a:spLocks noGrp="1"/>
          </p:cNvSpPr>
          <p:nvPr/>
        </p:nvSpPr>
        <p:spPr>
          <a:xfrm>
            <a:off x="1162050" y="4657725"/>
            <a:ext cx="2019300" cy="809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175" b="1">
                <a:solidFill>
                  <a:srgbClr val="285EA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175" b="1">
                <a:solidFill>
                  <a:srgbClr val="285EA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85EA8"/>
                </a:solidFill>
                <a:latin typeface="微软雅黑"/>
                <a:ea typeface="微软雅黑"/>
                <a:cs typeface="微软雅黑"/>
              </a:rPr>
              <a:t>仓颉</a:t>
            </a:r>
          </a:p>
          <a:p>
            <a:pPr algn="ctr">
              <a:defRPr sz="2175" b="1">
                <a:solidFill>
                  <a:srgbClr val="285EA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85EA8"/>
                </a:solidFill>
                <a:latin typeface="微软雅黑"/>
                <a:ea typeface="微软雅黑"/>
                <a:cs typeface="微软雅黑"/>
              </a:rPr>
              <a:t>安全能力</a:t>
            </a:r>
          </a:p>
        </p:txBody>
      </p:sp>
      <p:sp>
        <p:nvSpPr>
          <p:cNvPr id="10" name="restore_second_heading">
            <a:extLst>
              <a:ext uri="{FF2B5EF4-FFF2-40B4-BE49-F238E27FC236}">
                <a16:creationId xmlns:a16="http://schemas.microsoft.com/office/drawing/2014/main" id="{8895A663-BE90-E051-1F8A-971F8C025434}"/>
              </a:ext>
            </a:extLst>
          </p:cNvPr>
          <p:cNvSpPr>
            <a:spLocks noGrp="1"/>
          </p:cNvSpPr>
          <p:nvPr/>
        </p:nvSpPr>
        <p:spPr>
          <a:xfrm>
            <a:off x="3533775" y="4238625"/>
            <a:ext cx="776287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1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仓颉安全能力助力获证</a:t>
            </a:r>
          </a:p>
        </p:txBody>
      </p:sp>
      <p:sp>
        <p:nvSpPr>
          <p:cNvPr id="11" name="restore_second_body">
            <a:extLst>
              <a:ext uri="{FF2B5EF4-FFF2-40B4-BE49-F238E27FC236}">
                <a16:creationId xmlns:a16="http://schemas.microsoft.com/office/drawing/2014/main" id="{F0668701-A7E8-D69F-F8C4-A24389F6B658}"/>
              </a:ext>
            </a:extLst>
          </p:cNvPr>
          <p:cNvSpPr>
            <a:spLocks noGrp="1"/>
          </p:cNvSpPr>
          <p:nvPr/>
        </p:nvSpPr>
        <p:spPr>
          <a:xfrm>
            <a:off x="3533775" y="4683615"/>
            <a:ext cx="4438248" cy="1524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lnSpc>
                <a:spcPts val="2475"/>
              </a:lnSpc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代码混淆增加逆向分析成本，内存安全机制降低内存破坏风险</a:t>
            </a:r>
            <a:r>
              <a:rPr sz="1725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>
              <a:lnSpc>
                <a:spcPts val="2475"/>
              </a:lnSpc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配合组件与接口防护，为科蓝</a:t>
            </a:r>
            <a:r>
              <a:rPr sz="1725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725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sMFA</a:t>
            </a:r>
            <a:r>
              <a:rPr sz="1725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725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获证提供支持</a:t>
            </a:r>
            <a:r>
              <a:rPr sz="1725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12" name="restore_caption">
            <a:extLst>
              <a:ext uri="{FF2B5EF4-FFF2-40B4-BE49-F238E27FC236}">
                <a16:creationId xmlns:a16="http://schemas.microsoft.com/office/drawing/2014/main" id="{2F370D27-36BD-EF39-F724-515CC9A74FB3}"/>
              </a:ext>
            </a:extLst>
          </p:cNvPr>
          <p:cNvSpPr>
            <a:spLocks noGrp="1"/>
          </p:cNvSpPr>
          <p:nvPr/>
        </p:nvSpPr>
        <p:spPr>
          <a:xfrm>
            <a:off x="8096250" y="6143625"/>
            <a:ext cx="3762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35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35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检测报告与金融科技产品认证证书</a:t>
            </a:r>
          </a:p>
        </p:txBody>
      </p:sp>
      <p:sp>
        <p:nvSpPr>
          <p:cNvPr id="13" name="extra_first_heading">
            <a:extLst>
              <a:ext uri="{FF2B5EF4-FFF2-40B4-BE49-F238E27FC236}">
                <a16:creationId xmlns:a16="http://schemas.microsoft.com/office/drawing/2014/main" id="{45BE64C4-B70B-ECE2-516A-22C7B0ABD144}"/>
              </a:ext>
            </a:extLst>
          </p:cNvPr>
          <p:cNvSpPr>
            <a:spLocks noGrp="1"/>
          </p:cNvSpPr>
          <p:nvPr/>
        </p:nvSpPr>
        <p:spPr>
          <a:xfrm>
            <a:off x="3533775" y="1562100"/>
            <a:ext cx="4333875" cy="4095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1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1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首个获证的鸿蒙原生应用</a:t>
            </a:r>
          </a:p>
        </p:txBody>
      </p:sp>
      <p:sp>
        <p:nvSpPr>
          <p:cNvPr id="14" name="extra_first_body">
            <a:extLst>
              <a:ext uri="{FF2B5EF4-FFF2-40B4-BE49-F238E27FC236}">
                <a16:creationId xmlns:a16="http://schemas.microsoft.com/office/drawing/2014/main" id="{910F071A-466D-8973-45BF-431A7DE167FC}"/>
              </a:ext>
            </a:extLst>
          </p:cNvPr>
          <p:cNvSpPr>
            <a:spLocks noGrp="1"/>
          </p:cNvSpPr>
          <p:nvPr/>
        </p:nvSpPr>
        <p:spPr>
          <a:xfrm>
            <a:off x="3533775" y="2016615"/>
            <a:ext cx="4438248" cy="1619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lnSpc>
                <a:spcPts val="2475"/>
              </a:lnSpc>
              <a:defRPr sz="17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2024 </a:t>
            </a:r>
            <a:r>
              <a:rPr sz="1725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年</a:t>
            </a:r>
            <a:r>
              <a:rPr sz="1725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 6 </a:t>
            </a:r>
            <a:r>
              <a:rPr sz="1725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月，科蓝</a:t>
            </a:r>
            <a:r>
              <a:rPr sz="1725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 </a:t>
            </a:r>
            <a:r>
              <a:rPr sz="1725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sMFA通过</a:t>
            </a:r>
            <a:r>
              <a:rPr sz="1725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 CFCA </a:t>
            </a:r>
            <a:r>
              <a:rPr sz="1725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安全评测，获得北京国家金融科技认证中心认证。成为首个完成该检测认证的鸿蒙原生应用</a:t>
            </a:r>
            <a:r>
              <a:rPr sz="1725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15" name="extra_caption">
            <a:extLst>
              <a:ext uri="{FF2B5EF4-FFF2-40B4-BE49-F238E27FC236}">
                <a16:creationId xmlns:a16="http://schemas.microsoft.com/office/drawing/2014/main" id="{74D61B70-97F4-C7A6-35DF-B622D56BF619}"/>
              </a:ext>
            </a:extLst>
          </p:cNvPr>
          <p:cNvSpPr>
            <a:spLocks noGrp="1"/>
          </p:cNvSpPr>
          <p:nvPr/>
        </p:nvSpPr>
        <p:spPr>
          <a:xfrm>
            <a:off x="8096250" y="3609975"/>
            <a:ext cx="3762375" cy="2667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35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35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555555"/>
                </a:solidFill>
                <a:latin typeface="微软雅黑"/>
                <a:ea typeface="微软雅黑"/>
                <a:cs typeface="微软雅黑"/>
              </a:rPr>
              <a:t>CFCA 金融科技产品认证检测报告</a:t>
            </a:r>
          </a:p>
        </p:txBody>
      </p:sp>
      <p:pic>
        <p:nvPicPr>
          <p:cNvPr id="16" name="cfca_extra_report">
            <a:extLst>
              <a:ext uri="{FF2B5EF4-FFF2-40B4-BE49-F238E27FC236}">
                <a16:creationId xmlns:a16="http://schemas.microsoft.com/office/drawing/2014/main" id="{76535C29-3FEE-CF1D-198C-CDDF9297DF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/>
        </p:blipFill>
        <p:spPr>
          <a:xfrm>
            <a:off x="8096250" y="1381132"/>
            <a:ext cx="3762375" cy="2117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657903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4_s9_id2">
            <a:extLst>
              <a:ext uri="{FF2B5EF4-FFF2-40B4-BE49-F238E27FC236}">
                <a16:creationId xmlns:a16="http://schemas.microsoft.com/office/drawing/2014/main" id="{DE989A6C-F68F-4F46-88D7-CDAF14D99587}"/>
              </a:ext>
            </a:extLst>
          </p:cNvPr>
          <p:cNvSpPr/>
          <p:nvPr/>
        </p:nvSpPr>
        <p:spPr>
          <a:xfrm>
            <a:off x="361950" y="228600"/>
            <a:ext cx="11430000" cy="5715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algn="l" defTabSz="914112">
              <a:buNone/>
              <a:defRPr sz="255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255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第三方评测：仓颉多项安全能力表现良好</a:t>
            </a:r>
          </a:p>
        </p:txBody>
      </p:sp>
      <p:sp>
        <p:nvSpPr>
          <p:cNvPr id="18" name="内容占位符 2">
            <a:extLst>
              <a:ext uri="{FF2B5EF4-FFF2-40B4-BE49-F238E27FC236}">
                <a16:creationId xmlns:a16="http://schemas.microsoft.com/office/drawing/2014/main" id="{B2C5531E-EF45-862C-D7F2-7673DA3F295F}"/>
              </a:ext>
            </a:extLst>
          </p:cNvPr>
          <p:cNvSpPr txBox="1"/>
          <p:nvPr/>
        </p:nvSpPr>
        <p:spPr>
          <a:xfrm>
            <a:off x="423406" y="988831"/>
            <a:ext cx="11345188" cy="830673"/>
          </a:xfrm>
          <a:prstGeom prst="rect">
            <a:avLst/>
          </a:prstGeom>
          <a:solidFill>
            <a:srgbClr val="D4F1F5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279" tIns="45640" rIns="91279" bIns="45640" anchor="ctr" anchorCtr="0"/>
          <a:lstStyle>
            <a:defPPr>
              <a:defRPr lang="zh-CN"/>
            </a:defPPr>
            <a:lvl1pPr marL="171450" marR="0" lvl="0" indent="-171450" defTabSz="913399" fontAlgn="auto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l"/>
              <a:tabLst>
                <a:tab pos="0" algn="l"/>
              </a:tabLst>
              <a:defRPr kumimoji="0" sz="1600" b="1" i="0" u="none" strike="noStrike" kern="0" cap="none" spc="0" normalizeH="0" baseline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defRPr>
            </a:lvl1pPr>
          </a:lstStyle>
          <a:p>
            <a:pPr marL="0" indent="0">
              <a:buNone/>
            </a:pPr>
            <a:r>
              <a:rPr lang="zh-CN" altLang="en-US" b="0" dirty="0"/>
              <a:t>通过外部合作项目，引入法国</a:t>
            </a:r>
            <a:r>
              <a:rPr lang="en-US" altLang="zh-CN" b="0" dirty="0"/>
              <a:t>SERMA</a:t>
            </a:r>
            <a:r>
              <a:rPr lang="zh-CN" altLang="en-US" b="0" dirty="0"/>
              <a:t>测试团队，从第三方安全视角对仓颉、</a:t>
            </a:r>
            <a:r>
              <a:rPr lang="en-US" altLang="zh-CN" b="0" dirty="0" err="1"/>
              <a:t>kotlin</a:t>
            </a:r>
            <a:r>
              <a:rPr lang="zh-CN" altLang="en-US" b="0" dirty="0"/>
              <a:t>、</a:t>
            </a:r>
            <a:r>
              <a:rPr lang="en-US" altLang="zh-CN" b="0" dirty="0"/>
              <a:t>Swift</a:t>
            </a:r>
            <a:r>
              <a:rPr lang="zh-CN" altLang="en-US" b="0" dirty="0"/>
              <a:t>、</a:t>
            </a:r>
            <a:r>
              <a:rPr lang="en-US" altLang="zh-CN" b="0" dirty="0"/>
              <a:t>Rust</a:t>
            </a:r>
            <a:r>
              <a:rPr lang="zh-CN" altLang="en-US" b="0" dirty="0"/>
              <a:t>进行对比测试，分析仓颉安全能力现状，识别不足</a:t>
            </a:r>
            <a:endParaRPr lang="en-US" altLang="zh-CN" b="0" dirty="0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FADAB3E-DB04-06E8-F510-8A51E11BFE37}"/>
              </a:ext>
            </a:extLst>
          </p:cNvPr>
          <p:cNvSpPr/>
          <p:nvPr/>
        </p:nvSpPr>
        <p:spPr>
          <a:xfrm>
            <a:off x="423406" y="1944275"/>
            <a:ext cx="4546599" cy="659226"/>
          </a:xfrm>
          <a:prstGeom prst="rect">
            <a:avLst/>
          </a:prstGeom>
          <a:solidFill>
            <a:srgbClr val="E0E0E0"/>
          </a:solidFill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1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</a:t>
            </a:r>
            <a:r>
              <a:rPr kumimoji="1" lang="zh-CN" altLang="en-US" sz="1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、测试结论：仓颉在字符串编码安全、数值计算安全、代码混淆等方面优于业界主流应用编程语言。</a:t>
            </a:r>
            <a:endParaRPr lang="zh-CN" altLang="en-US" sz="1400" dirty="0">
              <a:solidFill>
                <a:srgbClr val="1D1D1A"/>
              </a:solidFill>
              <a:latin typeface="Calibri" panose="020F0502020204030204"/>
            </a:endParaRPr>
          </a:p>
        </p:txBody>
      </p:sp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A0A8CB75-4035-66C7-3C45-4AF7FDFE73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1676941"/>
              </p:ext>
            </p:extLst>
          </p:nvPr>
        </p:nvGraphicFramePr>
        <p:xfrm>
          <a:off x="423406" y="2799384"/>
          <a:ext cx="4546600" cy="3331175"/>
        </p:xfrm>
        <a:graphic>
          <a:graphicData uri="http://schemas.openxmlformats.org/drawingml/2006/table">
            <a:tbl>
              <a:tblPr/>
              <a:tblGrid>
                <a:gridCol w="1622425">
                  <a:extLst>
                    <a:ext uri="{9D8B030D-6E8A-4147-A177-3AD203B41FA5}">
                      <a16:colId xmlns:a16="http://schemas.microsoft.com/office/drawing/2014/main" val="3646550064"/>
                    </a:ext>
                  </a:extLst>
                </a:gridCol>
                <a:gridCol w="522287">
                  <a:extLst>
                    <a:ext uri="{9D8B030D-6E8A-4147-A177-3AD203B41FA5}">
                      <a16:colId xmlns:a16="http://schemas.microsoft.com/office/drawing/2014/main" val="3454536877"/>
                    </a:ext>
                  </a:extLst>
                </a:gridCol>
                <a:gridCol w="506413">
                  <a:extLst>
                    <a:ext uri="{9D8B030D-6E8A-4147-A177-3AD203B41FA5}">
                      <a16:colId xmlns:a16="http://schemas.microsoft.com/office/drawing/2014/main" val="4210711758"/>
                    </a:ext>
                  </a:extLst>
                </a:gridCol>
                <a:gridCol w="600486">
                  <a:extLst>
                    <a:ext uri="{9D8B030D-6E8A-4147-A177-3AD203B41FA5}">
                      <a16:colId xmlns:a16="http://schemas.microsoft.com/office/drawing/2014/main" val="1367817787"/>
                    </a:ext>
                  </a:extLst>
                </a:gridCol>
                <a:gridCol w="722812">
                  <a:extLst>
                    <a:ext uri="{9D8B030D-6E8A-4147-A177-3AD203B41FA5}">
                      <a16:colId xmlns:a16="http://schemas.microsoft.com/office/drawing/2014/main" val="1138043105"/>
                    </a:ext>
                  </a:extLst>
                </a:gridCol>
                <a:gridCol w="572177">
                  <a:extLst>
                    <a:ext uri="{9D8B030D-6E8A-4147-A177-3AD203B41FA5}">
                      <a16:colId xmlns:a16="http://schemas.microsoft.com/office/drawing/2014/main" val="1530588071"/>
                    </a:ext>
                  </a:extLst>
                </a:gridCol>
              </a:tblGrid>
              <a:tr h="29090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1000" b="1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Security Feature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A3A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1000" b="1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Swift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A3A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1000" b="1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Kotlin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A3A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1000" b="1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Rust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A3A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sz="1000" b="1" u="none" strike="noStrike" dirty="0" err="1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Cangjie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A3A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000" b="1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用例总数</a:t>
                      </a:r>
                      <a:endParaRPr lang="zh-CN" alt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A3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50951526"/>
                  </a:ext>
                </a:extLst>
              </a:tr>
              <a:tr h="29090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Language Design Security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B230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329193"/>
                  </a:ext>
                </a:extLst>
              </a:tr>
              <a:tr h="29090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Computing Safety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12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19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B230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23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2487488"/>
                  </a:ext>
                </a:extLst>
              </a:tr>
              <a:tr h="29090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Resource Safety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B230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B230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B230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695340"/>
                  </a:ext>
                </a:extLst>
              </a:tr>
              <a:tr h="29090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Memory Safety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8.5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8.5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B230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B230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4536379"/>
                  </a:ext>
                </a:extLst>
              </a:tr>
              <a:tr h="29090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Business Logic Security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B230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B230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15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7207511"/>
                  </a:ext>
                </a:extLst>
              </a:tr>
              <a:tr h="29090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Type Safety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B230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B230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B230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16672342"/>
                  </a:ext>
                </a:extLst>
              </a:tr>
              <a:tr h="42208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Concurrency Safety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EDB7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EDB7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EDB7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0694638"/>
                  </a:ext>
                </a:extLst>
              </a:tr>
              <a:tr h="29090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Exception Safety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B230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B230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5869797"/>
                  </a:ext>
                </a:extLst>
              </a:tr>
              <a:tr h="29090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Asset Security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5.5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B230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9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295375"/>
                  </a:ext>
                </a:extLst>
              </a:tr>
              <a:tr h="29090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000" u="none" strike="noStrike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Binary Protection</a:t>
                      </a:r>
                      <a:endParaRPr lang="en-US" sz="1000" b="0" i="0" u="none" strike="noStrike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6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61B230">
                        <a:lumMod val="60000"/>
                        <a:lumOff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7563698"/>
                  </a:ext>
                </a:extLst>
              </a:tr>
            </a:tbl>
          </a:graphicData>
        </a:graphic>
      </p:graphicFrame>
      <p:sp>
        <p:nvSpPr>
          <p:cNvPr id="21" name="矩形 20">
            <a:extLst>
              <a:ext uri="{FF2B5EF4-FFF2-40B4-BE49-F238E27FC236}">
                <a16:creationId xmlns:a16="http://schemas.microsoft.com/office/drawing/2014/main" id="{47367145-E5D4-136B-FD0C-844F2FB2FA7B}"/>
              </a:ext>
            </a:extLst>
          </p:cNvPr>
          <p:cNvSpPr/>
          <p:nvPr/>
        </p:nvSpPr>
        <p:spPr>
          <a:xfrm>
            <a:off x="5134383" y="1944275"/>
            <a:ext cx="6634211" cy="659226"/>
          </a:xfrm>
          <a:prstGeom prst="rect">
            <a:avLst/>
          </a:prstGeom>
          <a:solidFill>
            <a:srgbClr val="E0E0E0"/>
          </a:solidFill>
        </p:spPr>
        <p:txBody>
          <a:bodyPr wrap="square">
            <a:noAutofit/>
          </a:bodyPr>
          <a:lstStyle/>
          <a:p>
            <a:pPr>
              <a:lnSpc>
                <a:spcPct val="120000"/>
              </a:lnSpc>
            </a:pPr>
            <a:r>
              <a:rPr kumimoji="1" lang="en-US" altLang="zh-CN" sz="1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2</a:t>
            </a:r>
            <a:r>
              <a:rPr kumimoji="1" lang="zh-CN" altLang="en-US" sz="1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、测试分析：仓颉共计</a:t>
            </a:r>
            <a:r>
              <a:rPr kumimoji="1" lang="en-US" altLang="zh-CN" sz="1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6</a:t>
            </a:r>
            <a:r>
              <a:rPr kumimoji="1" lang="zh-CN" altLang="en-US" sz="1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个用例失败，</a:t>
            </a:r>
            <a:r>
              <a:rPr kumimoji="1" lang="en-US" altLang="zh-CN" sz="1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7</a:t>
            </a:r>
            <a:r>
              <a:rPr kumimoji="1" lang="zh-CN" altLang="en-US" sz="1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个用例部分通过，其中输入流处理、</a:t>
            </a:r>
            <a:r>
              <a:rPr kumimoji="1" lang="en-US" altLang="zh-CN" sz="1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MIN</a:t>
            </a:r>
            <a:r>
              <a:rPr kumimoji="1" lang="zh-CN" altLang="en-US" sz="1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和</a:t>
            </a:r>
            <a:r>
              <a:rPr kumimoji="1" lang="en-US" altLang="zh-CN" sz="1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MAX</a:t>
            </a:r>
            <a:r>
              <a:rPr kumimoji="1" lang="zh-CN" altLang="en-US" sz="14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实现方式、数据类型转换导致精度丢失、常量混淆和栈保护可优化</a:t>
            </a:r>
            <a:endParaRPr lang="zh-CN" altLang="en-US" sz="1400" dirty="0">
              <a:solidFill>
                <a:srgbClr val="1D1D1A"/>
              </a:solidFill>
              <a:latin typeface="Calibri" panose="020F0502020204030204"/>
            </a:endParaRPr>
          </a:p>
        </p:txBody>
      </p:sp>
      <p:graphicFrame>
        <p:nvGraphicFramePr>
          <p:cNvPr id="22" name="表格 21">
            <a:extLst>
              <a:ext uri="{FF2B5EF4-FFF2-40B4-BE49-F238E27FC236}">
                <a16:creationId xmlns:a16="http://schemas.microsoft.com/office/drawing/2014/main" id="{826D4AED-66C6-AD87-529C-4CF4A2CCB2F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0195127"/>
              </p:ext>
            </p:extLst>
          </p:nvPr>
        </p:nvGraphicFramePr>
        <p:xfrm>
          <a:off x="5134383" y="2799384"/>
          <a:ext cx="6634211" cy="3331175"/>
        </p:xfrm>
        <a:graphic>
          <a:graphicData uri="http://schemas.openxmlformats.org/drawingml/2006/table">
            <a:tbl>
              <a:tblPr/>
              <a:tblGrid>
                <a:gridCol w="1884726">
                  <a:extLst>
                    <a:ext uri="{9D8B030D-6E8A-4147-A177-3AD203B41FA5}">
                      <a16:colId xmlns:a16="http://schemas.microsoft.com/office/drawing/2014/main" val="3352410884"/>
                    </a:ext>
                  </a:extLst>
                </a:gridCol>
                <a:gridCol w="827314">
                  <a:extLst>
                    <a:ext uri="{9D8B030D-6E8A-4147-A177-3AD203B41FA5}">
                      <a16:colId xmlns:a16="http://schemas.microsoft.com/office/drawing/2014/main" val="2134019468"/>
                    </a:ext>
                  </a:extLst>
                </a:gridCol>
                <a:gridCol w="2168434">
                  <a:extLst>
                    <a:ext uri="{9D8B030D-6E8A-4147-A177-3AD203B41FA5}">
                      <a16:colId xmlns:a16="http://schemas.microsoft.com/office/drawing/2014/main" val="3806089806"/>
                    </a:ext>
                  </a:extLst>
                </a:gridCol>
                <a:gridCol w="1753737">
                  <a:extLst>
                    <a:ext uri="{9D8B030D-6E8A-4147-A177-3AD203B41FA5}">
                      <a16:colId xmlns:a16="http://schemas.microsoft.com/office/drawing/2014/main" val="1781027063"/>
                    </a:ext>
                  </a:extLst>
                </a:gridCol>
              </a:tblGrid>
              <a:tr h="162373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000" b="1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问题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A3A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涉及用例个数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A3A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000" b="1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分析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A3A3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000" b="1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建议</a:t>
                      </a:r>
                      <a:endParaRPr lang="en-US" sz="1000" b="1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3A3A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3576955"/>
                  </a:ext>
                </a:extLst>
              </a:tr>
              <a:tr h="47412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zh-CN" alt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命令行输入</a:t>
                      </a:r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“bad\x00string”，</a:t>
                      </a:r>
                      <a:r>
                        <a:rPr lang="zh-CN" alt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仓颉获取</a:t>
                      </a: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字节，</a:t>
                      </a:r>
                      <a:r>
                        <a:rPr lang="en-US" sz="1000" u="none" strike="noStrike" dirty="0" err="1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swift、</a:t>
                      </a:r>
                      <a:r>
                        <a:rPr lang="en-US" altLang="zh-CN" sz="1000" u="none" strike="noStrike" dirty="0" err="1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Kotlin</a:t>
                      </a:r>
                      <a:r>
                        <a:rPr lang="zh-CN" alt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获取</a:t>
                      </a: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11</a:t>
                      </a:r>
                      <a:r>
                        <a:rPr lang="zh-CN" alt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字节，</a:t>
                      </a: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Java</a:t>
                      </a:r>
                      <a:r>
                        <a:rPr lang="zh-CN" alt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获取</a:t>
                      </a: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10</a:t>
                      </a:r>
                      <a:r>
                        <a:rPr lang="zh-CN" alt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字节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zh-CN" alt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实现</a:t>
                      </a: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bug</a:t>
                      </a:r>
                      <a:r>
                        <a:rPr lang="zh-CN" alt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，与仓颉语言库</a:t>
                      </a: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API</a:t>
                      </a:r>
                      <a:r>
                        <a:rPr lang="zh-CN" alt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描述不相符“读取到字符，返回 </a:t>
                      </a: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?String</a:t>
                      </a:r>
                      <a:r>
                        <a:rPr lang="zh-CN" alt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，结果不包含末尾换行符”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修复</a:t>
                      </a:r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bug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163938"/>
                  </a:ext>
                </a:extLst>
              </a:tr>
              <a:tr h="47412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MIN</a:t>
                      </a:r>
                      <a:r>
                        <a:rPr lang="zh-CN" alt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和</a:t>
                      </a: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MAX</a:t>
                      </a:r>
                      <a:r>
                        <a:rPr lang="zh-CN" alt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</a:t>
                      </a: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prop</a:t>
                      </a:r>
                      <a:r>
                        <a:rPr lang="zh-CN" alt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，实现上是一个函数，无法按</a:t>
                      </a: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constant</a:t>
                      </a:r>
                      <a:r>
                        <a:rPr lang="zh-CN" alt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的方式去预期结果，导致</a:t>
                      </a: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</a:t>
                      </a:r>
                      <a:r>
                        <a:rPr lang="zh-CN" alt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个用例失败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0.5*3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zh-CN" alt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对于普通研发者，认为</a:t>
                      </a: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MIN</a:t>
                      </a:r>
                      <a:r>
                        <a:rPr lang="zh-CN" alt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和</a:t>
                      </a: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MAX</a:t>
                      </a:r>
                      <a:r>
                        <a:rPr lang="zh-CN" alt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是一个</a:t>
                      </a: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constant</a:t>
                      </a:r>
                      <a:r>
                        <a:rPr lang="zh-CN" alt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，而不是一个</a:t>
                      </a: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prop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zh-CN" alt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建议将</a:t>
                      </a: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MIN</a:t>
                      </a:r>
                      <a:r>
                        <a:rPr lang="zh-CN" alt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和</a:t>
                      </a: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MAX</a:t>
                      </a:r>
                      <a:r>
                        <a:rPr lang="zh-CN" alt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改为</a:t>
                      </a: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constant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6011284"/>
                  </a:ext>
                </a:extLst>
              </a:tr>
              <a:tr h="32402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左移超出范围时，编译未告警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0.5*1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仓颉在左移超出宽度时编译告警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7716885"/>
                  </a:ext>
                </a:extLst>
              </a:tr>
              <a:tr h="47412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Float64</a:t>
                      </a:r>
                      <a:r>
                        <a:rPr lang="zh-CN" alt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转</a:t>
                      </a:r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Float32，Float32</a:t>
                      </a:r>
                      <a:r>
                        <a:rPr lang="zh-CN" alt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转</a:t>
                      </a:r>
                      <a:r>
                        <a:rPr 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Float16</a:t>
                      </a:r>
                      <a:r>
                        <a:rPr lang="zh-CN" alt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没有编译告警，</a:t>
                      </a: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Swift</a:t>
                      </a:r>
                      <a:r>
                        <a:rPr lang="zh-CN" alt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和</a:t>
                      </a: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Kotlin</a:t>
                      </a:r>
                      <a:r>
                        <a:rPr lang="zh-CN" alt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有编译告警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zh-CN" alt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精度丢失场景未给出编译告警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zh-CN" alt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建议对精度丢失的场景给出编译告警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0042283"/>
                  </a:ext>
                </a:extLst>
              </a:tr>
              <a:tr h="47412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zh-CN" alt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常量混淆和符号混淆部分用例失败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0.5*2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zh-CN" alt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常量混淆与代码优化冲突，部分符号由于对外导出无法混淆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zh-CN" alt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常量混淆优化为全局变量与其他变量运算防止被优化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0933987"/>
                  </a:ext>
                </a:extLst>
              </a:tr>
              <a:tr h="47412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zh-CN" alt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花指令、调用图混淆、</a:t>
                      </a: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VMP</a:t>
                      </a:r>
                      <a:r>
                        <a:rPr lang="zh-CN" alt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用例失败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2+0.5*3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zh-CN" alt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花指令、调用图、</a:t>
                      </a:r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VMP</a:t>
                      </a:r>
                      <a:r>
                        <a:rPr lang="zh-CN" alt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暂无外部诉求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-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4051261"/>
                  </a:ext>
                </a:extLst>
              </a:tr>
              <a:tr h="47412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栈保护用例失败，对比</a:t>
                      </a:r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Rust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支持，</a:t>
                      </a:r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Swift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和</a:t>
                      </a:r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Kotlin</a:t>
                      </a:r>
                      <a:r>
                        <a:rPr lang="zh-CN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不支持</a:t>
                      </a:r>
                      <a:endParaRPr 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zh-CN" alt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仓颉作为内存安全语言对栈保护诉求不强烈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fontAlgn="ctr"/>
                      <a:r>
                        <a:rPr lang="en-US" altLang="zh-CN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FFI</a:t>
                      </a:r>
                      <a:r>
                        <a:rPr lang="zh-CN" altLang="en-US" sz="1000" u="none" strike="noStrike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场景有实际诉求，建议支持栈保护，默认不开启</a:t>
                      </a:r>
                      <a:endParaRPr lang="en-US" altLang="zh-CN" sz="1000" b="0" i="0" u="none" strike="noStrike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6350" marR="6350" marT="6350" marB="0" anchor="ctr">
                    <a:lnL w="12700" cmpd="sng">
                      <a:solidFill>
                        <a:srgbClr val="666666"/>
                      </a:solidFill>
                    </a:lnL>
                    <a:lnR w="12700" cmpd="sng">
                      <a:solidFill>
                        <a:srgbClr val="666666"/>
                      </a:solidFill>
                    </a:lnR>
                    <a:lnT w="12700" cmpd="sng">
                      <a:solidFill>
                        <a:srgbClr val="666666"/>
                      </a:solidFill>
                    </a:lnT>
                    <a:lnB w="12700" cmpd="sng">
                      <a:solidFill>
                        <a:srgbClr val="666666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9084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73835480"/>
      </p:ext>
    </p:extLst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组合 43">
            <a:extLst>
              <a:ext uri="{FF2B5EF4-FFF2-40B4-BE49-F238E27FC236}">
                <a16:creationId xmlns:a16="http://schemas.microsoft.com/office/drawing/2014/main" id="{4891849D-6D82-FD66-00E6-007B5FE66176}"/>
              </a:ext>
            </a:extLst>
          </p:cNvPr>
          <p:cNvGrpSpPr/>
          <p:nvPr/>
        </p:nvGrpSpPr>
        <p:grpSpPr>
          <a:xfrm>
            <a:off x="577863" y="1479016"/>
            <a:ext cx="5568109" cy="5053528"/>
            <a:chOff x="577863" y="1110716"/>
            <a:chExt cx="5568109" cy="5053528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7DBDAF19-E778-4A43-8264-F7EEBE4C8B49}"/>
                </a:ext>
              </a:extLst>
            </p:cNvPr>
            <p:cNvGrpSpPr/>
            <p:nvPr/>
          </p:nvGrpSpPr>
          <p:grpSpPr>
            <a:xfrm>
              <a:off x="577863" y="1110716"/>
              <a:ext cx="5568109" cy="5053528"/>
              <a:chOff x="317991" y="1110716"/>
              <a:chExt cx="5568109" cy="5053528"/>
            </a:xfrm>
          </p:grpSpPr>
          <p:sp>
            <p:nvSpPr>
              <p:cNvPr id="5" name="v4_s5_id5">
                <a:extLst>
                  <a:ext uri="{FF2B5EF4-FFF2-40B4-BE49-F238E27FC236}">
                    <a16:creationId xmlns:a16="http://schemas.microsoft.com/office/drawing/2014/main" id="{12B0C22E-401C-4213-956E-3C02BEF0AF54}"/>
                  </a:ext>
                </a:extLst>
              </p:cNvPr>
              <p:cNvSpPr/>
              <p:nvPr/>
            </p:nvSpPr>
            <p:spPr bwMode="auto">
              <a:xfrm>
                <a:off x="898092" y="4609080"/>
                <a:ext cx="2142406" cy="314397"/>
              </a:xfrm>
              <a:prstGeom prst="roundRect">
                <a:avLst/>
              </a:prstGeom>
              <a:solidFill>
                <a:srgbClr val="00B0F0"/>
              </a:solidFill>
              <a:ln w="9525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 defTabSz="9144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CC9900"/>
                  </a:buClr>
                  <a:defRPr/>
                </a:pPr>
                <a:r>
                  <a:rPr lang="en-US" altLang="zh-CN" sz="1400" b="1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CJPM</a:t>
                </a:r>
                <a:endParaRPr lang="en-US" altLang="zh-CN" sz="14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6" name="v4_s5_id6">
                <a:extLst>
                  <a:ext uri="{FF2B5EF4-FFF2-40B4-BE49-F238E27FC236}">
                    <a16:creationId xmlns:a16="http://schemas.microsoft.com/office/drawing/2014/main" id="{2EC2D183-2AA7-48A6-85DE-264200E8BCC7}"/>
                  </a:ext>
                </a:extLst>
              </p:cNvPr>
              <p:cNvSpPr/>
              <p:nvPr/>
            </p:nvSpPr>
            <p:spPr>
              <a:xfrm>
                <a:off x="2261154" y="1134818"/>
                <a:ext cx="674569" cy="338554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 marL="0" marR="0" lvl="0" indent="0" algn="ctr" defTabSz="9144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b="1" dirty="0">
                    <a:solidFill>
                      <a:srgbClr val="1D1D1A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编译</a:t>
                </a: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7" name="v4_s5_id7">
                <a:extLst>
                  <a:ext uri="{FF2B5EF4-FFF2-40B4-BE49-F238E27FC236}">
                    <a16:creationId xmlns:a16="http://schemas.microsoft.com/office/drawing/2014/main" id="{0E980273-764E-4AB0-B459-AAAE9D230908}"/>
                  </a:ext>
                </a:extLst>
              </p:cNvPr>
              <p:cNvSpPr/>
              <p:nvPr/>
            </p:nvSpPr>
            <p:spPr>
              <a:xfrm>
                <a:off x="5064108" y="1115518"/>
                <a:ext cx="821992" cy="338554"/>
              </a:xfrm>
              <a:prstGeom prst="rect">
                <a:avLst/>
              </a:prstGeom>
            </p:spPr>
            <p:txBody>
              <a:bodyPr vert="horz" wrap="square" anchor="ctr">
                <a:spAutoFit/>
              </a:bodyPr>
              <a:lstStyle/>
              <a:p>
                <a:pPr marL="0" marR="0" lvl="0" indent="0" algn="ctr" defTabSz="9144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b="1" dirty="0">
                    <a:solidFill>
                      <a:srgbClr val="1D1D1A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运行</a:t>
                </a: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cxnSp>
            <p:nvCxnSpPr>
              <p:cNvPr id="8" name="直接连接符 7">
                <a:extLst>
                  <a:ext uri="{FF2B5EF4-FFF2-40B4-BE49-F238E27FC236}">
                    <a16:creationId xmlns:a16="http://schemas.microsoft.com/office/drawing/2014/main" id="{4C47C701-C74B-445C-BB10-4706A4F5A586}"/>
                  </a:ext>
                </a:extLst>
              </p:cNvPr>
              <p:cNvCxnSpPr/>
              <p:nvPr/>
            </p:nvCxnSpPr>
            <p:spPr>
              <a:xfrm>
                <a:off x="317991" y="2758960"/>
                <a:ext cx="5568109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v4_s5_id9">
                <a:extLst>
                  <a:ext uri="{FF2B5EF4-FFF2-40B4-BE49-F238E27FC236}">
                    <a16:creationId xmlns:a16="http://schemas.microsoft.com/office/drawing/2014/main" id="{2B4A1A2F-77D3-4A41-8D2C-763880AA5493}"/>
                  </a:ext>
                </a:extLst>
              </p:cNvPr>
              <p:cNvSpPr/>
              <p:nvPr/>
            </p:nvSpPr>
            <p:spPr>
              <a:xfrm>
                <a:off x="317991" y="1553981"/>
                <a:ext cx="448268" cy="92333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b="1" noProof="0" dirty="0">
                    <a:solidFill>
                      <a:srgbClr val="1D1D1A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开发者</a:t>
                </a:r>
                <a:endParaRPr kumimoji="0" lang="zh-CN" altLang="en-US" b="1" i="0" u="none" strike="noStrike" kern="120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10" name="v4_s5_id10">
                <a:extLst>
                  <a:ext uri="{FF2B5EF4-FFF2-40B4-BE49-F238E27FC236}">
                    <a16:creationId xmlns:a16="http://schemas.microsoft.com/office/drawing/2014/main" id="{301E3AA0-FAB9-4A59-ADB2-15F9518EE535}"/>
                  </a:ext>
                </a:extLst>
              </p:cNvPr>
              <p:cNvSpPr/>
              <p:nvPr/>
            </p:nvSpPr>
            <p:spPr>
              <a:xfrm>
                <a:off x="355206" y="3624430"/>
                <a:ext cx="448268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44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b="1" noProof="0" dirty="0">
                    <a:solidFill>
                      <a:srgbClr val="1D1D1A"/>
                    </a:solidFill>
                    <a:latin typeface="华文新魏" panose="02010800040101010101" pitchFamily="2" charset="-122"/>
                    <a:ea typeface="华文新魏" panose="02010800040101010101" pitchFamily="2" charset="-122"/>
                  </a:rPr>
                  <a:t>仓颉</a:t>
                </a:r>
                <a:endParaRPr kumimoji="0" lang="zh-CN" altLang="en-US" b="1" i="0" u="none" strike="noStrike" kern="120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华文新魏" panose="02010800040101010101" pitchFamily="2" charset="-122"/>
                  <a:ea typeface="华文新魏" panose="02010800040101010101" pitchFamily="2" charset="-122"/>
                </a:endParaRPr>
              </a:p>
            </p:txBody>
          </p:sp>
          <p:sp>
            <p:nvSpPr>
              <p:cNvPr id="11" name="v4_s5_id11">
                <a:extLst>
                  <a:ext uri="{FF2B5EF4-FFF2-40B4-BE49-F238E27FC236}">
                    <a16:creationId xmlns:a16="http://schemas.microsoft.com/office/drawing/2014/main" id="{A593D22B-8969-4353-AF31-EB50D5B015E8}"/>
                  </a:ext>
                </a:extLst>
              </p:cNvPr>
              <p:cNvSpPr/>
              <p:nvPr/>
            </p:nvSpPr>
            <p:spPr>
              <a:xfrm>
                <a:off x="1045847" y="1110716"/>
                <a:ext cx="674569" cy="338554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 marL="0" marR="0" lvl="0" indent="0" algn="ctr" defTabSz="9144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b="1" dirty="0">
                    <a:solidFill>
                      <a:srgbClr val="1D1D1A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编码</a:t>
                </a: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cxnSp>
            <p:nvCxnSpPr>
              <p:cNvPr id="12" name="直接连接符 11">
                <a:extLst>
                  <a:ext uri="{FF2B5EF4-FFF2-40B4-BE49-F238E27FC236}">
                    <a16:creationId xmlns:a16="http://schemas.microsoft.com/office/drawing/2014/main" id="{933F6205-1AB5-4ED0-A687-1E78C053BB3D}"/>
                  </a:ext>
                </a:extLst>
              </p:cNvPr>
              <p:cNvCxnSpPr/>
              <p:nvPr/>
            </p:nvCxnSpPr>
            <p:spPr>
              <a:xfrm>
                <a:off x="1981969" y="1187561"/>
                <a:ext cx="38211" cy="4079039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>
                <a:extLst>
                  <a:ext uri="{FF2B5EF4-FFF2-40B4-BE49-F238E27FC236}">
                    <a16:creationId xmlns:a16="http://schemas.microsoft.com/office/drawing/2014/main" id="{ED65F32E-8198-4280-BDDE-4F3094601D15}"/>
                  </a:ext>
                </a:extLst>
              </p:cNvPr>
              <p:cNvCxnSpPr/>
              <p:nvPr/>
            </p:nvCxnSpPr>
            <p:spPr>
              <a:xfrm>
                <a:off x="4604302" y="1187562"/>
                <a:ext cx="38211" cy="4079039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直接连接符 13">
                <a:extLst>
                  <a:ext uri="{FF2B5EF4-FFF2-40B4-BE49-F238E27FC236}">
                    <a16:creationId xmlns:a16="http://schemas.microsoft.com/office/drawing/2014/main" id="{6DE4471F-A420-49E6-8898-6214B26EDF53}"/>
                  </a:ext>
                </a:extLst>
              </p:cNvPr>
              <p:cNvCxnSpPr/>
              <p:nvPr/>
            </p:nvCxnSpPr>
            <p:spPr>
              <a:xfrm>
                <a:off x="3218180" y="1187562"/>
                <a:ext cx="38211" cy="4079039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" name="v4_s5_id15">
                <a:extLst>
                  <a:ext uri="{FF2B5EF4-FFF2-40B4-BE49-F238E27FC236}">
                    <a16:creationId xmlns:a16="http://schemas.microsoft.com/office/drawing/2014/main" id="{C838C8F1-85BA-4B5E-A797-E5A2955F4256}"/>
                  </a:ext>
                </a:extLst>
              </p:cNvPr>
              <p:cNvSpPr/>
              <p:nvPr/>
            </p:nvSpPr>
            <p:spPr>
              <a:xfrm>
                <a:off x="3662631" y="1134371"/>
                <a:ext cx="674569" cy="338554"/>
              </a:xfrm>
              <a:prstGeom prst="rect">
                <a:avLst/>
              </a:prstGeom>
            </p:spPr>
            <p:txBody>
              <a:bodyPr wrap="square" anchor="ctr">
                <a:spAutoFit/>
              </a:bodyPr>
              <a:lstStyle/>
              <a:p>
                <a:pPr marL="0" marR="0" lvl="0" indent="0" algn="ctr" defTabSz="914478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zh-CN" altLang="en-US" sz="1600" b="1" dirty="0">
                    <a:solidFill>
                      <a:srgbClr val="1D1D1A"/>
                    </a:solidFill>
                    <a:latin typeface="楷体" panose="02010609060101010101" pitchFamily="49" charset="-122"/>
                    <a:ea typeface="楷体" panose="02010609060101010101" pitchFamily="49" charset="-122"/>
                  </a:rPr>
                  <a:t>测试</a:t>
                </a:r>
                <a:endParaRPr kumimoji="0" lang="zh-CN" altLang="en-US" sz="1600" b="1" i="0" u="none" strike="noStrike" kern="120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楷体" panose="02010609060101010101" pitchFamily="49" charset="-122"/>
                  <a:ea typeface="楷体" panose="02010609060101010101" pitchFamily="49" charset="-122"/>
                </a:endParaRPr>
              </a:p>
            </p:txBody>
          </p:sp>
          <p:sp>
            <p:nvSpPr>
              <p:cNvPr id="16" name="v4_s5_id16">
                <a:extLst>
                  <a:ext uri="{FF2B5EF4-FFF2-40B4-BE49-F238E27FC236}">
                    <a16:creationId xmlns:a16="http://schemas.microsoft.com/office/drawing/2014/main" id="{97A1C803-B3DA-4AFF-BA9D-259EB40C0BFE}"/>
                  </a:ext>
                </a:extLst>
              </p:cNvPr>
              <p:cNvSpPr/>
              <p:nvPr/>
            </p:nvSpPr>
            <p:spPr bwMode="auto">
              <a:xfrm>
                <a:off x="900740" y="1719970"/>
                <a:ext cx="842903" cy="594735"/>
              </a:xfrm>
              <a:prstGeom prst="roundRect">
                <a:avLst/>
              </a:prstGeom>
              <a:noFill/>
              <a:ln w="9525">
                <a:solidFill>
                  <a:schemeClr val="tx1"/>
                </a:solidFill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CC9900"/>
                  </a:buClr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开发者代码</a:t>
                </a:r>
              </a:p>
            </p:txBody>
          </p:sp>
          <p:sp>
            <p:nvSpPr>
              <p:cNvPr id="17" name="v4_s5_id17">
                <a:extLst>
                  <a:ext uri="{FF2B5EF4-FFF2-40B4-BE49-F238E27FC236}">
                    <a16:creationId xmlns:a16="http://schemas.microsoft.com/office/drawing/2014/main" id="{1FAFB2B2-F68A-4013-8610-8D80B31E397D}"/>
                  </a:ext>
                </a:extLst>
              </p:cNvPr>
              <p:cNvSpPr/>
              <p:nvPr/>
            </p:nvSpPr>
            <p:spPr bwMode="auto">
              <a:xfrm>
                <a:off x="2214713" y="1719970"/>
                <a:ext cx="842903" cy="594735"/>
              </a:xfrm>
              <a:prstGeom prst="roundRect">
                <a:avLst/>
              </a:prstGeom>
              <a:noFill/>
              <a:ln w="9525">
                <a:solidFill>
                  <a:schemeClr val="tx1"/>
                </a:solidFill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CC9900"/>
                  </a:buClr>
                  <a:buSzTx/>
                  <a:buFontTx/>
                  <a:buNone/>
                  <a:tabLst/>
                  <a:defRPr/>
                </a:pPr>
                <a:r>
                  <a:rPr lang="zh-CN" altLang="en-US" sz="1400" b="1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汇编</a:t>
                </a:r>
                <a:endParaRPr lang="en-US" altLang="zh-CN" sz="1400" b="1" dirty="0"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CC9900"/>
                  </a:buClr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代码</a:t>
                </a:r>
              </a:p>
            </p:txBody>
          </p:sp>
          <p:sp>
            <p:nvSpPr>
              <p:cNvPr id="18" name="v4_s5_id18">
                <a:extLst>
                  <a:ext uri="{FF2B5EF4-FFF2-40B4-BE49-F238E27FC236}">
                    <a16:creationId xmlns:a16="http://schemas.microsoft.com/office/drawing/2014/main" id="{EC3BCED4-8D13-430D-B681-7DC7C8A49FB7}"/>
                  </a:ext>
                </a:extLst>
              </p:cNvPr>
              <p:cNvSpPr/>
              <p:nvPr/>
            </p:nvSpPr>
            <p:spPr bwMode="auto">
              <a:xfrm>
                <a:off x="3547924" y="1719970"/>
                <a:ext cx="842903" cy="594735"/>
              </a:xfrm>
              <a:prstGeom prst="roundRect">
                <a:avLst/>
              </a:prstGeom>
              <a:noFill/>
              <a:ln w="9525">
                <a:solidFill>
                  <a:schemeClr val="tx1"/>
                </a:solidFill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CC9900"/>
                  </a:buClr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可执行</a:t>
                </a:r>
                <a:endPara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CC9900"/>
                  </a:buClr>
                  <a:buSzTx/>
                  <a:buFontTx/>
                  <a:buNone/>
                  <a:tabLst/>
                  <a:defRPr/>
                </a:pPr>
                <a:r>
                  <a:rPr lang="zh-CN" altLang="en-US" sz="1400" b="1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文件</a:t>
                </a:r>
                <a:endPara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9" name="v4_s5_id19">
                <a:extLst>
                  <a:ext uri="{FF2B5EF4-FFF2-40B4-BE49-F238E27FC236}">
                    <a16:creationId xmlns:a16="http://schemas.microsoft.com/office/drawing/2014/main" id="{A41675BD-0AFC-45D0-BA43-9A7AD0279646}"/>
                  </a:ext>
                </a:extLst>
              </p:cNvPr>
              <p:cNvSpPr/>
              <p:nvPr/>
            </p:nvSpPr>
            <p:spPr bwMode="auto">
              <a:xfrm>
                <a:off x="4860673" y="1719970"/>
                <a:ext cx="842903" cy="594735"/>
              </a:xfrm>
              <a:prstGeom prst="roundRect">
                <a:avLst/>
              </a:prstGeom>
              <a:noFill/>
              <a:ln w="9525">
                <a:solidFill>
                  <a:schemeClr val="tx1"/>
                </a:solidFill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CC9900"/>
                  </a:buClr>
                  <a:buSzTx/>
                  <a:buFontTx/>
                  <a:buNone/>
                  <a:tabLst/>
                  <a:defRPr/>
                </a:pPr>
                <a:r>
                  <a:rPr kumimoji="0" lang="zh-CN" altLang="en-US" sz="1400" b="1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可执行</a:t>
                </a:r>
                <a:endPara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>
                    <a:srgbClr val="CC9900"/>
                  </a:buClr>
                  <a:buSzTx/>
                  <a:buFontTx/>
                  <a:buNone/>
                  <a:tabLst/>
                  <a:defRPr/>
                </a:pPr>
                <a:r>
                  <a:rPr lang="zh-CN" altLang="en-US" sz="1400" b="1" dirty="0"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文件</a:t>
                </a:r>
                <a:endParaRPr kumimoji="0" lang="zh-CN" altLang="en-US" sz="1400" b="1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20" name="v4_s5_id20">
                <a:extLst>
                  <a:ext uri="{FF2B5EF4-FFF2-40B4-BE49-F238E27FC236}">
                    <a16:creationId xmlns:a16="http://schemas.microsoft.com/office/drawing/2014/main" id="{07B4CF21-62B2-4666-9C1E-1033D803822D}"/>
                  </a:ext>
                </a:extLst>
              </p:cNvPr>
              <p:cNvSpPr/>
              <p:nvPr/>
            </p:nvSpPr>
            <p:spPr bwMode="auto">
              <a:xfrm>
                <a:off x="2214713" y="3032088"/>
                <a:ext cx="842903" cy="611152"/>
              </a:xfrm>
              <a:prstGeom prst="roundRect">
                <a:avLst/>
              </a:prstGeom>
              <a:solidFill>
                <a:srgbClr val="00B0F0"/>
              </a:solidFill>
              <a:ln w="9525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 defTabSz="9144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CC9900"/>
                  </a:buClr>
                  <a:defRPr/>
                </a:pPr>
                <a:r>
                  <a:rPr lang="zh-CN" altLang="en-US" sz="14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语言库</a:t>
                </a:r>
              </a:p>
            </p:txBody>
          </p:sp>
          <p:sp>
            <p:nvSpPr>
              <p:cNvPr id="21" name="v4_s5_id21">
                <a:extLst>
                  <a:ext uri="{FF2B5EF4-FFF2-40B4-BE49-F238E27FC236}">
                    <a16:creationId xmlns:a16="http://schemas.microsoft.com/office/drawing/2014/main" id="{8944F0CD-0F21-425C-B525-75A87DA3595C}"/>
                  </a:ext>
                </a:extLst>
              </p:cNvPr>
              <p:cNvSpPr/>
              <p:nvPr/>
            </p:nvSpPr>
            <p:spPr bwMode="auto">
              <a:xfrm>
                <a:off x="2205195" y="3708139"/>
                <a:ext cx="842903" cy="384654"/>
              </a:xfrm>
              <a:prstGeom prst="roundRect">
                <a:avLst/>
              </a:prstGeom>
              <a:solidFill>
                <a:srgbClr val="00B0F0"/>
              </a:solidFill>
              <a:ln w="9525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 defTabSz="9144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CC9900"/>
                  </a:buClr>
                  <a:defRPr/>
                </a:pPr>
                <a:r>
                  <a:rPr lang="zh-CN" altLang="en-US" sz="14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运行时</a:t>
                </a:r>
              </a:p>
            </p:txBody>
          </p:sp>
          <p:sp>
            <p:nvSpPr>
              <p:cNvPr id="22" name="v4_s5_id22">
                <a:extLst>
                  <a:ext uri="{FF2B5EF4-FFF2-40B4-BE49-F238E27FC236}">
                    <a16:creationId xmlns:a16="http://schemas.microsoft.com/office/drawing/2014/main" id="{2DB4B713-F4F5-4469-A9C0-54AA97360A9D}"/>
                  </a:ext>
                </a:extLst>
              </p:cNvPr>
              <p:cNvSpPr/>
              <p:nvPr/>
            </p:nvSpPr>
            <p:spPr bwMode="auto">
              <a:xfrm>
                <a:off x="2197595" y="4136718"/>
                <a:ext cx="842903" cy="384654"/>
              </a:xfrm>
              <a:prstGeom prst="roundRect">
                <a:avLst/>
              </a:prstGeom>
              <a:solidFill>
                <a:srgbClr val="00B0F0"/>
              </a:solidFill>
              <a:ln w="9525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 defTabSz="9144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CC9900"/>
                  </a:buClr>
                  <a:defRPr/>
                </a:pPr>
                <a:r>
                  <a:rPr lang="en-US" altLang="zh-CN" sz="14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CJC</a:t>
                </a:r>
                <a:endParaRPr lang="zh-CN" altLang="en-US" sz="14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23" name="v4_s5_id23">
                <a:extLst>
                  <a:ext uri="{FF2B5EF4-FFF2-40B4-BE49-F238E27FC236}">
                    <a16:creationId xmlns:a16="http://schemas.microsoft.com/office/drawing/2014/main" id="{BC999B1A-BF69-48FE-B172-497631E5B908}"/>
                  </a:ext>
                </a:extLst>
              </p:cNvPr>
              <p:cNvSpPr/>
              <p:nvPr/>
            </p:nvSpPr>
            <p:spPr bwMode="auto">
              <a:xfrm>
                <a:off x="900740" y="3710078"/>
                <a:ext cx="842903" cy="321868"/>
              </a:xfrm>
              <a:prstGeom prst="roundRect">
                <a:avLst/>
              </a:prstGeom>
              <a:solidFill>
                <a:srgbClr val="92D050"/>
              </a:solidFill>
              <a:ln w="9525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 defTabSz="9144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CC9900"/>
                  </a:buClr>
                  <a:defRPr/>
                </a:pPr>
                <a:r>
                  <a:rPr lang="en-US" altLang="zh-CN" sz="14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IDE</a:t>
                </a:r>
              </a:p>
            </p:txBody>
          </p:sp>
          <p:sp>
            <p:nvSpPr>
              <p:cNvPr id="24" name="v4_s5_id24">
                <a:extLst>
                  <a:ext uri="{FF2B5EF4-FFF2-40B4-BE49-F238E27FC236}">
                    <a16:creationId xmlns:a16="http://schemas.microsoft.com/office/drawing/2014/main" id="{D38D5BD6-49C4-4D9E-B21A-9B9D55FC09CE}"/>
                  </a:ext>
                </a:extLst>
              </p:cNvPr>
              <p:cNvSpPr/>
              <p:nvPr/>
            </p:nvSpPr>
            <p:spPr bwMode="auto">
              <a:xfrm>
                <a:off x="900740" y="3021253"/>
                <a:ext cx="842903" cy="607207"/>
              </a:xfrm>
              <a:prstGeom prst="roundRect">
                <a:avLst/>
              </a:prstGeom>
              <a:solidFill>
                <a:srgbClr val="92D050"/>
              </a:solidFill>
              <a:ln w="9525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 defTabSz="9144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CC9900"/>
                  </a:buClr>
                  <a:defRPr/>
                </a:pPr>
                <a:r>
                  <a:rPr lang="zh-CN" altLang="en-US" sz="14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语言</a:t>
                </a:r>
                <a:endParaRPr lang="en-US" altLang="zh-CN" sz="14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 lvl="0" algn="ctr" defTabSz="9144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CC9900"/>
                  </a:buClr>
                  <a:defRPr/>
                </a:pPr>
                <a:r>
                  <a:rPr lang="zh-CN" altLang="en-US" sz="14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定义</a:t>
                </a:r>
              </a:p>
            </p:txBody>
          </p:sp>
          <p:sp>
            <p:nvSpPr>
              <p:cNvPr id="25" name="v4_s5_id25">
                <a:extLst>
                  <a:ext uri="{FF2B5EF4-FFF2-40B4-BE49-F238E27FC236}">
                    <a16:creationId xmlns:a16="http://schemas.microsoft.com/office/drawing/2014/main" id="{EE63DA81-6823-4EDA-B386-B5F70C81AF2A}"/>
                  </a:ext>
                </a:extLst>
              </p:cNvPr>
              <p:cNvSpPr/>
              <p:nvPr/>
            </p:nvSpPr>
            <p:spPr bwMode="auto">
              <a:xfrm>
                <a:off x="900740" y="4136748"/>
                <a:ext cx="842903" cy="376697"/>
              </a:xfrm>
              <a:prstGeom prst="roundRect">
                <a:avLst/>
              </a:prstGeom>
              <a:solidFill>
                <a:srgbClr val="92D050"/>
              </a:solidFill>
              <a:ln w="9525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 defTabSz="9144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CC9900"/>
                  </a:buClr>
                  <a:defRPr/>
                </a:pPr>
                <a:r>
                  <a:rPr lang="en-US" altLang="zh-CN" sz="14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CJ-Lint</a:t>
                </a:r>
              </a:p>
            </p:txBody>
          </p:sp>
          <p:sp>
            <p:nvSpPr>
              <p:cNvPr id="26" name="v4_s5_id26">
                <a:extLst>
                  <a:ext uri="{FF2B5EF4-FFF2-40B4-BE49-F238E27FC236}">
                    <a16:creationId xmlns:a16="http://schemas.microsoft.com/office/drawing/2014/main" id="{FB4C3A7A-FC39-48BF-80AF-2142A8C86671}"/>
                  </a:ext>
                </a:extLst>
              </p:cNvPr>
              <p:cNvSpPr/>
              <p:nvPr/>
            </p:nvSpPr>
            <p:spPr bwMode="auto">
              <a:xfrm>
                <a:off x="3543239" y="3751516"/>
                <a:ext cx="842903" cy="558069"/>
              </a:xfrm>
              <a:prstGeom prst="roundRect">
                <a:avLst/>
              </a:prstGeom>
              <a:solidFill>
                <a:srgbClr val="92D050"/>
              </a:solidFill>
              <a:ln w="9525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 defTabSz="9144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CC9900"/>
                  </a:buClr>
                  <a:defRPr/>
                </a:pPr>
                <a:r>
                  <a:rPr lang="zh-CN" altLang="en-US" sz="14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调试</a:t>
                </a:r>
                <a:endParaRPr lang="en-US" altLang="zh-CN" sz="14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 lvl="0" algn="ctr" defTabSz="9144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CC9900"/>
                  </a:buClr>
                  <a:defRPr/>
                </a:pPr>
                <a:r>
                  <a:rPr lang="zh-CN" altLang="en-US" sz="14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服务</a:t>
                </a:r>
              </a:p>
            </p:txBody>
          </p:sp>
          <p:sp>
            <p:nvSpPr>
              <p:cNvPr id="27" name="v4_s5_id27">
                <a:extLst>
                  <a:ext uri="{FF2B5EF4-FFF2-40B4-BE49-F238E27FC236}">
                    <a16:creationId xmlns:a16="http://schemas.microsoft.com/office/drawing/2014/main" id="{B9626217-2C90-41C5-8F8A-EDC33D03ACD7}"/>
                  </a:ext>
                </a:extLst>
              </p:cNvPr>
              <p:cNvSpPr/>
              <p:nvPr/>
            </p:nvSpPr>
            <p:spPr bwMode="auto">
              <a:xfrm>
                <a:off x="3543239" y="3031846"/>
                <a:ext cx="842903" cy="558069"/>
              </a:xfrm>
              <a:prstGeom prst="roundRect">
                <a:avLst/>
              </a:prstGeom>
              <a:solidFill>
                <a:srgbClr val="92D050"/>
              </a:solidFill>
              <a:ln w="9525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 defTabSz="9144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CC9900"/>
                  </a:buClr>
                  <a:defRPr/>
                </a:pPr>
                <a:r>
                  <a:rPr lang="zh-CN" altLang="en-US" sz="14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单元</a:t>
                </a:r>
                <a:endParaRPr lang="en-US" altLang="zh-CN" sz="14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 lvl="0" algn="ctr" defTabSz="9144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CC9900"/>
                  </a:buClr>
                  <a:defRPr/>
                </a:pPr>
                <a:r>
                  <a:rPr lang="zh-CN" altLang="en-US" sz="14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测试</a:t>
                </a:r>
              </a:p>
            </p:txBody>
          </p:sp>
          <p:sp>
            <p:nvSpPr>
              <p:cNvPr id="28" name="v4_s5_id28">
                <a:extLst>
                  <a:ext uri="{FF2B5EF4-FFF2-40B4-BE49-F238E27FC236}">
                    <a16:creationId xmlns:a16="http://schemas.microsoft.com/office/drawing/2014/main" id="{B8841B4D-942C-40B7-820E-E83D65ECACFF}"/>
                  </a:ext>
                </a:extLst>
              </p:cNvPr>
              <p:cNvSpPr/>
              <p:nvPr/>
            </p:nvSpPr>
            <p:spPr bwMode="auto">
              <a:xfrm>
                <a:off x="4860673" y="3785931"/>
                <a:ext cx="842903" cy="558069"/>
              </a:xfrm>
              <a:prstGeom prst="roundRect">
                <a:avLst/>
              </a:prstGeom>
              <a:solidFill>
                <a:schemeClr val="bg1">
                  <a:lumMod val="40000"/>
                  <a:lumOff val="60000"/>
                </a:schemeClr>
              </a:solidFill>
              <a:ln w="9525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 defTabSz="9144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CC9900"/>
                  </a:buClr>
                  <a:defRPr/>
                </a:pPr>
                <a:r>
                  <a:rPr lang="zh-CN" altLang="en-US" sz="14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升级</a:t>
                </a:r>
                <a:endParaRPr lang="en-US" altLang="zh-CN" sz="14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 lvl="0" algn="ctr" defTabSz="9144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CC9900"/>
                  </a:buClr>
                  <a:defRPr/>
                </a:pPr>
                <a:r>
                  <a:rPr lang="zh-CN" altLang="en-US" sz="14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工具</a:t>
                </a:r>
              </a:p>
            </p:txBody>
          </p:sp>
          <p:sp>
            <p:nvSpPr>
              <p:cNvPr id="29" name="v4_s5_id29">
                <a:extLst>
                  <a:ext uri="{FF2B5EF4-FFF2-40B4-BE49-F238E27FC236}">
                    <a16:creationId xmlns:a16="http://schemas.microsoft.com/office/drawing/2014/main" id="{7DC60877-83CD-44C7-8143-318A95A174DE}"/>
                  </a:ext>
                </a:extLst>
              </p:cNvPr>
              <p:cNvSpPr/>
              <p:nvPr/>
            </p:nvSpPr>
            <p:spPr bwMode="auto">
              <a:xfrm>
                <a:off x="3553732" y="4461985"/>
                <a:ext cx="842903" cy="558069"/>
              </a:xfrm>
              <a:prstGeom prst="roundRect">
                <a:avLst/>
              </a:prstGeom>
              <a:solidFill>
                <a:schemeClr val="bg1">
                  <a:lumMod val="40000"/>
                  <a:lumOff val="60000"/>
                </a:schemeClr>
              </a:solidFill>
              <a:ln w="9525">
                <a:noFill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 algn="ctr" defTabSz="9144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CC9900"/>
                  </a:buClr>
                  <a:defRPr/>
                </a:pPr>
                <a:r>
                  <a:rPr lang="zh-CN" altLang="en-US" sz="14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性能</a:t>
                </a:r>
                <a:endParaRPr lang="en-US" altLang="zh-CN" sz="1400" b="1" dirty="0">
                  <a:solidFill>
                    <a:srgbClr val="FFFFFF"/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endParaRPr>
              </a:p>
              <a:p>
                <a:pPr lvl="0" algn="ctr" defTabSz="914400" fontAlgn="base">
                  <a:spcBef>
                    <a:spcPct val="0"/>
                  </a:spcBef>
                  <a:spcAft>
                    <a:spcPct val="0"/>
                  </a:spcAft>
                  <a:buClr>
                    <a:srgbClr val="CC9900"/>
                  </a:buClr>
                  <a:defRPr/>
                </a:pPr>
                <a:r>
                  <a:rPr lang="zh-CN" altLang="en-US" sz="14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rPr>
                  <a:t>分析</a:t>
                </a:r>
              </a:p>
            </p:txBody>
          </p:sp>
          <p:sp>
            <p:nvSpPr>
              <p:cNvPr id="30" name="v4_s5_id30">
                <a:extLst>
                  <a:ext uri="{FF2B5EF4-FFF2-40B4-BE49-F238E27FC236}">
                    <a16:creationId xmlns:a16="http://schemas.microsoft.com/office/drawing/2014/main" id="{3AE3140A-FA47-4197-8A54-C14DFF6832AE}"/>
                  </a:ext>
                </a:extLst>
              </p:cNvPr>
              <p:cNvSpPr/>
              <p:nvPr/>
            </p:nvSpPr>
            <p:spPr>
              <a:xfrm>
                <a:off x="317991" y="2924964"/>
                <a:ext cx="5568109" cy="2200683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sp>
            <p:nvSpPr>
              <p:cNvPr id="31" name="v4_s5_id31">
                <a:extLst>
                  <a:ext uri="{FF2B5EF4-FFF2-40B4-BE49-F238E27FC236}">
                    <a16:creationId xmlns:a16="http://schemas.microsoft.com/office/drawing/2014/main" id="{854F6AB0-FE64-46A2-B02B-1B1E9C7D9E7B}"/>
                  </a:ext>
                </a:extLst>
              </p:cNvPr>
              <p:cNvSpPr/>
              <p:nvPr/>
            </p:nvSpPr>
            <p:spPr>
              <a:xfrm>
                <a:off x="317991" y="1486033"/>
                <a:ext cx="5568109" cy="1096676"/>
              </a:xfrm>
              <a:prstGeom prst="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32" name="组合 31">
                <a:extLst>
                  <a:ext uri="{FF2B5EF4-FFF2-40B4-BE49-F238E27FC236}">
                    <a16:creationId xmlns:a16="http://schemas.microsoft.com/office/drawing/2014/main" id="{84272066-D6D5-4A8E-9B49-56E28672C258}"/>
                  </a:ext>
                </a:extLst>
              </p:cNvPr>
              <p:cNvGrpSpPr/>
              <p:nvPr/>
            </p:nvGrpSpPr>
            <p:grpSpPr>
              <a:xfrm>
                <a:off x="417308" y="5340257"/>
                <a:ext cx="3757898" cy="823987"/>
                <a:chOff x="-176507" y="5414307"/>
                <a:chExt cx="4392874" cy="823987"/>
              </a:xfrm>
            </p:grpSpPr>
            <p:sp>
              <p:nvSpPr>
                <p:cNvPr id="39" name="v4_s5_id39">
                  <a:extLst>
                    <a:ext uri="{FF2B5EF4-FFF2-40B4-BE49-F238E27FC236}">
                      <a16:creationId xmlns:a16="http://schemas.microsoft.com/office/drawing/2014/main" id="{EB04B05E-33E6-4CAB-9FB6-267221486F8C}"/>
                    </a:ext>
                  </a:extLst>
                </p:cNvPr>
                <p:cNvSpPr txBox="1"/>
                <p:nvPr/>
              </p:nvSpPr>
              <p:spPr>
                <a:xfrm>
                  <a:off x="277220" y="5414307"/>
                  <a:ext cx="1563028" cy="24436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>
                  <a:spAutoFit/>
                </a:bodyPr>
                <a:lstStyle/>
                <a:p>
                  <a:pPr>
                    <a:lnSpc>
                      <a:spcPct val="150000"/>
                    </a:lnSpc>
                  </a:pPr>
                  <a:r>
                    <a:rPr lang="zh-CN" altLang="en-US" sz="1200" dirty="0">
                      <a:latin typeface="微软雅黑" panose="020B0503020204020204" pitchFamily="34" charset="-122"/>
                      <a:ea typeface="微软雅黑" panose="020B0503020204020204" pitchFamily="34" charset="-122"/>
                    </a:rPr>
                    <a:t>直接影响程序运行</a:t>
                  </a:r>
                  <a:endParaRPr lang="en-US" altLang="zh-CN" sz="1200" dirty="0">
                    <a:latin typeface="微软雅黑" panose="020B0503020204020204" pitchFamily="34" charset="-122"/>
                    <a:ea typeface="微软雅黑" panose="020B0503020204020204" pitchFamily="34" charset="-122"/>
                  </a:endParaRPr>
                </a:p>
              </p:txBody>
            </p:sp>
            <p:sp>
              <p:nvSpPr>
                <p:cNvPr id="40" name="v4_s5_id40">
                  <a:extLst>
                    <a:ext uri="{FF2B5EF4-FFF2-40B4-BE49-F238E27FC236}">
                      <a16:creationId xmlns:a16="http://schemas.microsoft.com/office/drawing/2014/main" id="{3EF25C03-7EBE-4D0C-BDA5-CC1CE7D7F321}"/>
                    </a:ext>
                  </a:extLst>
                </p:cNvPr>
                <p:cNvSpPr/>
                <p:nvPr/>
              </p:nvSpPr>
              <p:spPr bwMode="auto">
                <a:xfrm>
                  <a:off x="-176507" y="5484872"/>
                  <a:ext cx="414159" cy="189268"/>
                </a:xfrm>
                <a:prstGeom prst="roundRect">
                  <a:avLst/>
                </a:prstGeom>
                <a:solidFill>
                  <a:srgbClr val="00B0F0"/>
                </a:solidFill>
                <a:ln w="9525">
                  <a:noFill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 algn="ctr" defTabSz="914400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CC9900"/>
                    </a:buClr>
                    <a:defRPr/>
                  </a:pPr>
                  <a:endParaRPr lang="en-US" altLang="zh-CN" sz="14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1" name="v4_s5_id41">
                  <a:extLst>
                    <a:ext uri="{FF2B5EF4-FFF2-40B4-BE49-F238E27FC236}">
                      <a16:creationId xmlns:a16="http://schemas.microsoft.com/office/drawing/2014/main" id="{01B138DE-E68E-4DF5-8495-211D0180987E}"/>
                    </a:ext>
                  </a:extLst>
                </p:cNvPr>
                <p:cNvSpPr/>
                <p:nvPr/>
              </p:nvSpPr>
              <p:spPr bwMode="auto">
                <a:xfrm>
                  <a:off x="1933894" y="5480027"/>
                  <a:ext cx="414159" cy="189268"/>
                </a:xfrm>
                <a:prstGeom prst="roundRect">
                  <a:avLst/>
                </a:prstGeom>
                <a:solidFill>
                  <a:srgbClr val="92D050"/>
                </a:solidFill>
                <a:ln w="9525">
                  <a:noFill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 algn="ctr" defTabSz="914400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CC9900"/>
                    </a:buClr>
                    <a:defRPr/>
                  </a:pPr>
                  <a:endParaRPr lang="en-US" altLang="zh-CN" sz="14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2" name="v4_s5_id42">
                  <a:extLst>
                    <a:ext uri="{FF2B5EF4-FFF2-40B4-BE49-F238E27FC236}">
                      <a16:creationId xmlns:a16="http://schemas.microsoft.com/office/drawing/2014/main" id="{C6F7B816-B569-4E17-B6BD-CD8BC5170502}"/>
                    </a:ext>
                  </a:extLst>
                </p:cNvPr>
                <p:cNvSpPr/>
                <p:nvPr/>
              </p:nvSpPr>
              <p:spPr bwMode="auto">
                <a:xfrm>
                  <a:off x="3802208" y="6049026"/>
                  <a:ext cx="414159" cy="189268"/>
                </a:xfrm>
                <a:prstGeom prst="roundRect">
                  <a:avLst/>
                </a:prstGeom>
                <a:solidFill>
                  <a:schemeClr val="bg1">
                    <a:lumMod val="40000"/>
                    <a:lumOff val="60000"/>
                  </a:schemeClr>
                </a:solidFill>
                <a:ln w="9525">
                  <a:noFill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lvl="0" algn="ctr" defTabSz="914400" fontAlgn="base">
                    <a:spcBef>
                      <a:spcPct val="0"/>
                    </a:spcBef>
                    <a:spcAft>
                      <a:spcPct val="0"/>
                    </a:spcAft>
                    <a:buClr>
                      <a:srgbClr val="CC9900"/>
                    </a:buClr>
                    <a:defRPr/>
                  </a:pPr>
                  <a:endParaRPr lang="en-US" altLang="zh-CN" sz="1400" b="1" dirty="0">
                    <a:solidFill>
                      <a:srgbClr val="FFFFFF"/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Arial" panose="020B0604020202020204" pitchFamily="34" charset="0"/>
                  </a:endParaRPr>
                </a:p>
              </p:txBody>
            </p:sp>
          </p:grpSp>
          <p:cxnSp>
            <p:nvCxnSpPr>
              <p:cNvPr id="33" name="直接箭头连接符 32">
                <a:extLst>
                  <a:ext uri="{FF2B5EF4-FFF2-40B4-BE49-F238E27FC236}">
                    <a16:creationId xmlns:a16="http://schemas.microsoft.com/office/drawing/2014/main" id="{5207BCCD-B8C0-4E44-A339-3DB60F4C5CE0}"/>
                  </a:ext>
                </a:extLst>
              </p:cNvPr>
              <p:cNvCxnSpPr>
                <a:stCxn id="16" idx="3"/>
                <a:endCxn id="17" idx="1"/>
              </p:cNvCxnSpPr>
              <p:nvPr/>
            </p:nvCxnSpPr>
            <p:spPr>
              <a:xfrm>
                <a:off x="1743643" y="2017338"/>
                <a:ext cx="47107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箭头连接符 33">
                <a:extLst>
                  <a:ext uri="{FF2B5EF4-FFF2-40B4-BE49-F238E27FC236}">
                    <a16:creationId xmlns:a16="http://schemas.microsoft.com/office/drawing/2014/main" id="{C8DA10B0-D6B1-46C4-AFF1-968470152AA6}"/>
                  </a:ext>
                </a:extLst>
              </p:cNvPr>
              <p:cNvCxnSpPr>
                <a:stCxn id="17" idx="3"/>
                <a:endCxn id="18" idx="1"/>
              </p:cNvCxnSpPr>
              <p:nvPr/>
            </p:nvCxnSpPr>
            <p:spPr>
              <a:xfrm>
                <a:off x="3057616" y="2017338"/>
                <a:ext cx="490308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直接箭头连接符 34">
                <a:extLst>
                  <a:ext uri="{FF2B5EF4-FFF2-40B4-BE49-F238E27FC236}">
                    <a16:creationId xmlns:a16="http://schemas.microsoft.com/office/drawing/2014/main" id="{8B13C0BB-3036-4E91-9877-C4656129435F}"/>
                  </a:ext>
                </a:extLst>
              </p:cNvPr>
              <p:cNvCxnSpPr>
                <a:stCxn id="18" idx="3"/>
                <a:endCxn id="19" idx="1"/>
              </p:cNvCxnSpPr>
              <p:nvPr/>
            </p:nvCxnSpPr>
            <p:spPr>
              <a:xfrm>
                <a:off x="4390827" y="2017338"/>
                <a:ext cx="469846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肘形连接符 167">
                <a:extLst>
                  <a:ext uri="{FF2B5EF4-FFF2-40B4-BE49-F238E27FC236}">
                    <a16:creationId xmlns:a16="http://schemas.microsoft.com/office/drawing/2014/main" id="{237F2558-529C-483F-A4B3-87920F42CF58}"/>
                  </a:ext>
                </a:extLst>
              </p:cNvPr>
              <p:cNvCxnSpPr>
                <a:stCxn id="20" idx="3"/>
                <a:endCxn id="18" idx="1"/>
              </p:cNvCxnSpPr>
              <p:nvPr/>
            </p:nvCxnSpPr>
            <p:spPr>
              <a:xfrm flipV="1">
                <a:off x="3057616" y="2017338"/>
                <a:ext cx="490308" cy="1320326"/>
              </a:xfrm>
              <a:prstGeom prst="bentConnector3">
                <a:avLst>
                  <a:gd name="adj1" fmla="val 50000"/>
                </a:avLst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肘形连接符 168">
                <a:extLst>
                  <a:ext uri="{FF2B5EF4-FFF2-40B4-BE49-F238E27FC236}">
                    <a16:creationId xmlns:a16="http://schemas.microsoft.com/office/drawing/2014/main" id="{3AF95EC2-F771-4301-AC3D-E802A4ABC647}"/>
                  </a:ext>
                </a:extLst>
              </p:cNvPr>
              <p:cNvCxnSpPr>
                <a:stCxn id="21" idx="3"/>
                <a:endCxn id="18" idx="1"/>
              </p:cNvCxnSpPr>
              <p:nvPr/>
            </p:nvCxnSpPr>
            <p:spPr>
              <a:xfrm flipV="1">
                <a:off x="3048098" y="2017338"/>
                <a:ext cx="499826" cy="1883128"/>
              </a:xfrm>
              <a:prstGeom prst="bentConnector3">
                <a:avLst>
                  <a:gd name="adj1" fmla="val 50000"/>
                </a:avLst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肘形连接符 169">
                <a:extLst>
                  <a:ext uri="{FF2B5EF4-FFF2-40B4-BE49-F238E27FC236}">
                    <a16:creationId xmlns:a16="http://schemas.microsoft.com/office/drawing/2014/main" id="{E5813550-7F92-483A-85CB-09FC292708A4}"/>
                  </a:ext>
                </a:extLst>
              </p:cNvPr>
              <p:cNvCxnSpPr>
                <a:stCxn id="22" idx="3"/>
                <a:endCxn id="18" idx="1"/>
              </p:cNvCxnSpPr>
              <p:nvPr/>
            </p:nvCxnSpPr>
            <p:spPr>
              <a:xfrm flipV="1">
                <a:off x="3040498" y="2017338"/>
                <a:ext cx="507426" cy="2311707"/>
              </a:xfrm>
              <a:prstGeom prst="bentConnector3">
                <a:avLst>
                  <a:gd name="adj1" fmla="val 50000"/>
                </a:avLst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v4_s5_id39">
              <a:extLst>
                <a:ext uri="{FF2B5EF4-FFF2-40B4-BE49-F238E27FC236}">
                  <a16:creationId xmlns:a16="http://schemas.microsoft.com/office/drawing/2014/main" id="{0AAE07DD-FD3E-7B7E-B85E-235EA1DFBA48}"/>
                </a:ext>
              </a:extLst>
            </p:cNvPr>
            <p:cNvSpPr txBox="1"/>
            <p:nvPr/>
          </p:nvSpPr>
          <p:spPr>
            <a:xfrm>
              <a:off x="2894093" y="5344166"/>
              <a:ext cx="1337097" cy="244362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200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间接影响程序运行</a:t>
              </a:r>
              <a:endPara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003" name="v4_s6_id7">
            <a:extLst>
              <a:ext uri="{FF2B5EF4-FFF2-40B4-BE49-F238E27FC236}">
                <a16:creationId xmlns:a16="http://schemas.microsoft.com/office/drawing/2014/main" id="{58482A09-01DA-4E2C-BD98-5540CAC95A0B}"/>
              </a:ext>
            </a:extLst>
          </p:cNvPr>
          <p:cNvSpPr>
            <a:spLocks noGrp="1"/>
          </p:cNvSpPr>
          <p:nvPr/>
        </p:nvSpPr>
        <p:spPr>
          <a:xfrm>
            <a:off x="361950" y="228600"/>
            <a:ext cx="11430000" cy="571500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algn="l" defTabSz="914112">
              <a:buNone/>
              <a:defRPr sz="24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语言库：程序运行中的高风险环节</a:t>
            </a:r>
          </a:p>
        </p:txBody>
      </p:sp>
      <p:sp>
        <p:nvSpPr>
          <p:cNvPr id="2004" name="p10_risk_heading">
            <a:extLst>
              <a:ext uri="{FF2B5EF4-FFF2-40B4-BE49-F238E27FC236}">
                <a16:creationId xmlns:a16="http://schemas.microsoft.com/office/drawing/2014/main" id="{5569FF2C-9986-4668-AEB2-4573BE26DDB9}"/>
              </a:ext>
            </a:extLst>
          </p:cNvPr>
          <p:cNvSpPr>
            <a:spLocks noGrp="1"/>
          </p:cNvSpPr>
          <p:nvPr/>
        </p:nvSpPr>
        <p:spPr>
          <a:xfrm>
            <a:off x="6764065" y="1885950"/>
            <a:ext cx="4953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875" b="1">
                <a:solidFill>
                  <a:srgbClr val="285EA8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 dirty="0" err="1">
                <a:solidFill>
                  <a:srgbClr val="285EA8"/>
                </a:solidFill>
                <a:latin typeface="微软雅黑"/>
                <a:ea typeface="微软雅黑"/>
                <a:cs typeface="微软雅黑"/>
              </a:rPr>
              <a:t>语言库的典型风险场景</a:t>
            </a:r>
            <a:endParaRPr sz="1875" b="1" dirty="0">
              <a:solidFill>
                <a:srgbClr val="285EA8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2017" name="p10_why_priority">
            <a:extLst>
              <a:ext uri="{FF2B5EF4-FFF2-40B4-BE49-F238E27FC236}">
                <a16:creationId xmlns:a16="http://schemas.microsoft.com/office/drawing/2014/main" id="{90A34226-8979-4304-80B1-4559283ABE31}"/>
              </a:ext>
            </a:extLst>
          </p:cNvPr>
          <p:cNvSpPr>
            <a:spLocks noGrp="1"/>
          </p:cNvSpPr>
          <p:nvPr/>
        </p:nvSpPr>
        <p:spPr>
          <a:xfrm>
            <a:off x="361907" y="803864"/>
            <a:ext cx="5899193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r>
              <a:rPr lang="zh-CN" altLang="en-US" sz="1875" b="1" dirty="0">
                <a:solidFill>
                  <a:srgbClr val="285EA8"/>
                </a:solidFill>
                <a:latin typeface="微软雅黑"/>
                <a:ea typeface="微软雅黑"/>
              </a:rPr>
              <a:t>安全风险排序：语言库</a:t>
            </a:r>
            <a:r>
              <a:rPr lang="en-US" altLang="zh-CN" sz="1875" b="1" dirty="0">
                <a:solidFill>
                  <a:srgbClr val="285EA8"/>
                </a:solidFill>
                <a:latin typeface="微软雅黑"/>
                <a:ea typeface="微软雅黑"/>
              </a:rPr>
              <a:t>&gt;</a:t>
            </a:r>
            <a:r>
              <a:rPr lang="zh-CN" altLang="en-US" sz="1875" b="1" dirty="0">
                <a:solidFill>
                  <a:srgbClr val="285EA8"/>
                </a:solidFill>
                <a:latin typeface="微软雅黑"/>
                <a:ea typeface="微软雅黑"/>
              </a:rPr>
              <a:t>运行时</a:t>
            </a:r>
            <a:r>
              <a:rPr lang="en-US" altLang="zh-CN" sz="1875" b="1" dirty="0">
                <a:solidFill>
                  <a:srgbClr val="285EA8"/>
                </a:solidFill>
                <a:latin typeface="微软雅黑"/>
                <a:ea typeface="微软雅黑"/>
              </a:rPr>
              <a:t>&gt;</a:t>
            </a:r>
            <a:r>
              <a:rPr lang="zh-CN" altLang="en-US" sz="1875" b="1" dirty="0">
                <a:solidFill>
                  <a:srgbClr val="285EA8"/>
                </a:solidFill>
                <a:latin typeface="微软雅黑"/>
                <a:ea typeface="微软雅黑"/>
              </a:rPr>
              <a:t>编译器</a:t>
            </a:r>
            <a:r>
              <a:rPr lang="en-US" altLang="zh-CN" sz="1875" b="1" dirty="0">
                <a:solidFill>
                  <a:srgbClr val="285EA8"/>
                </a:solidFill>
                <a:latin typeface="微软雅黑"/>
                <a:ea typeface="微软雅黑"/>
              </a:rPr>
              <a:t>&gt;</a:t>
            </a:r>
            <a:r>
              <a:rPr lang="zh-CN" altLang="en-US" sz="1875" b="1" dirty="0">
                <a:solidFill>
                  <a:srgbClr val="285EA8"/>
                </a:solidFill>
                <a:latin typeface="微软雅黑"/>
                <a:ea typeface="微软雅黑"/>
              </a:rPr>
              <a:t>工具链</a:t>
            </a:r>
            <a:r>
              <a:rPr lang="en-US" altLang="zh-CN" sz="1875" b="1" dirty="0">
                <a:solidFill>
                  <a:srgbClr val="285EA8"/>
                </a:solidFill>
                <a:latin typeface="微软雅黑"/>
                <a:ea typeface="微软雅黑"/>
              </a:rPr>
              <a:t>&gt;Spec</a:t>
            </a:r>
            <a:endParaRPr lang="zh-CN" altLang="en-US" sz="1875" b="1" dirty="0">
              <a:solidFill>
                <a:srgbClr val="285EA8"/>
              </a:solidFill>
              <a:latin typeface="微软雅黑"/>
              <a:ea typeface="微软雅黑"/>
            </a:endParaRPr>
          </a:p>
        </p:txBody>
      </p:sp>
      <p:sp>
        <p:nvSpPr>
          <p:cNvPr id="3000" name="p10_risks_1_to_5">
            <a:extLst>
              <a:ext uri="{FF2B5EF4-FFF2-40B4-BE49-F238E27FC236}">
                <a16:creationId xmlns:a16="http://schemas.microsoft.com/office/drawing/2014/main" id="{C3F11BD3-EDC3-462E-BD9A-84FE35C983D2}"/>
              </a:ext>
            </a:extLst>
          </p:cNvPr>
          <p:cNvSpPr>
            <a:spLocks noGrp="1"/>
          </p:cNvSpPr>
          <p:nvPr/>
        </p:nvSpPr>
        <p:spPr>
          <a:xfrm>
            <a:off x="6764064" y="2257425"/>
            <a:ext cx="5289439" cy="431481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 marL="0" indent="0">
              <a:lnSpc>
                <a:spcPts val="2400"/>
              </a:lnSpc>
              <a:defRPr sz="15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1　</a:t>
            </a:r>
            <a:r>
              <a:rPr sz="1575" b="1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输入解析与反序列化</a:t>
            </a:r>
            <a:endParaRPr sz="1575" b="1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266700" indent="0">
              <a:lnSpc>
                <a:spcPts val="2400"/>
              </a:lnSpc>
              <a:defRPr sz="142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不可信数据可能触发解析缺陷、对象滥用或注入</a:t>
            </a:r>
            <a:r>
              <a:rPr sz="1425" b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 marL="0" indent="0">
              <a:lnSpc>
                <a:spcPts val="2400"/>
              </a:lnSpc>
              <a:defRPr sz="15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2　</a:t>
            </a:r>
            <a:r>
              <a:rPr sz="1575" b="1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资源耗尽与拒绝服务</a:t>
            </a:r>
            <a:endParaRPr sz="1575" b="1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266700" indent="0">
              <a:lnSpc>
                <a:spcPts val="2400"/>
              </a:lnSpc>
              <a:defRPr sz="142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超大输入、深层嵌套、压缩炸弹等</a:t>
            </a:r>
            <a:r>
              <a:rPr sz="1425" b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，</a:t>
            </a:r>
          </a:p>
          <a:p>
            <a:pPr marL="266700" indent="0">
              <a:lnSpc>
                <a:spcPts val="2400"/>
              </a:lnSpc>
              <a:defRPr sz="142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可能耗尽</a:t>
            </a:r>
            <a:r>
              <a:rPr sz="1425" b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CPU </a:t>
            </a:r>
            <a:r>
              <a:rPr sz="1425" b="0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或内存，导致服务不可用</a:t>
            </a:r>
            <a:r>
              <a:rPr sz="1425" b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 marL="0" indent="0">
              <a:lnSpc>
                <a:spcPts val="2400"/>
              </a:lnSpc>
              <a:defRPr sz="15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3　</a:t>
            </a:r>
            <a:r>
              <a:rPr sz="1575" b="1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原生库与</a:t>
            </a:r>
            <a:r>
              <a:rPr sz="1575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FFI </a:t>
            </a:r>
            <a:r>
              <a:rPr sz="1575" b="1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边界</a:t>
            </a:r>
            <a:endParaRPr sz="1575" b="1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266700" indent="0">
              <a:lnSpc>
                <a:spcPts val="2400"/>
              </a:lnSpc>
              <a:defRPr sz="142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C/C++ </a:t>
            </a:r>
            <a:r>
              <a:rPr sz="1425" b="0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依赖中的越界访问、释放后使用等</a:t>
            </a:r>
            <a:r>
              <a:rPr sz="1425" b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，</a:t>
            </a:r>
          </a:p>
          <a:p>
            <a:pPr marL="266700" indent="0">
              <a:lnSpc>
                <a:spcPts val="2400"/>
              </a:lnSpc>
              <a:defRPr sz="142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可能跨语言边界影响应用</a:t>
            </a:r>
            <a:r>
              <a:rPr sz="1425" b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 marL="0" indent="0">
              <a:lnSpc>
                <a:spcPts val="2400"/>
              </a:lnSpc>
              <a:defRPr sz="15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4　TLS </a:t>
            </a:r>
            <a:r>
              <a:rPr sz="1575" b="1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与密码接口配置</a:t>
            </a:r>
            <a:endParaRPr sz="1575" b="1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266700" indent="0">
              <a:lnSpc>
                <a:spcPts val="2400"/>
              </a:lnSpc>
              <a:defRPr sz="142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跳过证书验证、弱随机源或不当密钥管理</a:t>
            </a:r>
            <a:r>
              <a:rPr sz="1425" b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，</a:t>
            </a:r>
          </a:p>
          <a:p>
            <a:pPr marL="266700" indent="0">
              <a:lnSpc>
                <a:spcPts val="2400"/>
              </a:lnSpc>
              <a:defRPr sz="142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可能造成通信或敏感数据泄露</a:t>
            </a:r>
            <a:r>
              <a:rPr sz="1425" b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 marL="0" indent="0">
              <a:lnSpc>
                <a:spcPts val="2400"/>
              </a:lnSpc>
              <a:defRPr sz="15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5　</a:t>
            </a:r>
            <a:r>
              <a:rPr sz="1575" b="1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文件、解压与网络访问</a:t>
            </a:r>
            <a:endParaRPr sz="1575" b="1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  <a:p>
            <a:pPr marL="266700" indent="0">
              <a:lnSpc>
                <a:spcPts val="2400"/>
              </a:lnSpc>
              <a:defRPr sz="142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路径穿越、解压越出目标目录或访问内部地址</a:t>
            </a:r>
            <a:r>
              <a:rPr sz="1425" b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，</a:t>
            </a:r>
          </a:p>
          <a:p>
            <a:pPr marL="266700" indent="0">
              <a:lnSpc>
                <a:spcPts val="2400"/>
              </a:lnSpc>
              <a:defRPr sz="142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可能绕过预期的访问范围</a:t>
            </a:r>
            <a:r>
              <a:rPr sz="1425" b="0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4007" name="p10_priority_heading">
            <a:extLst>
              <a:ext uri="{FF2B5EF4-FFF2-40B4-BE49-F238E27FC236}">
                <a16:creationId xmlns:a16="http://schemas.microsoft.com/office/drawing/2014/main" id="{2572F1AB-8DAC-4275-A054-4F1A367F536B}"/>
              </a:ext>
            </a:extLst>
          </p:cNvPr>
          <p:cNvSpPr>
            <a:spLocks noGrp="1"/>
          </p:cNvSpPr>
          <p:nvPr/>
        </p:nvSpPr>
        <p:spPr>
          <a:xfrm>
            <a:off x="6764065" y="800100"/>
            <a:ext cx="49530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r>
              <a:rPr sz="1875" b="1" dirty="0" err="1">
                <a:solidFill>
                  <a:srgbClr val="285EA8"/>
                </a:solidFill>
                <a:latin typeface="微软雅黑"/>
                <a:ea typeface="微软雅黑"/>
              </a:rPr>
              <a:t>为何仍需重点关注语言库</a:t>
            </a:r>
            <a:endParaRPr sz="1875" b="1" dirty="0">
              <a:solidFill>
                <a:srgbClr val="285EA8"/>
              </a:solidFill>
              <a:latin typeface="微软雅黑"/>
              <a:ea typeface="微软雅黑"/>
            </a:endParaRPr>
          </a:p>
        </p:txBody>
      </p:sp>
      <p:sp>
        <p:nvSpPr>
          <p:cNvPr id="4008" name="p10_priority_explanation">
            <a:extLst>
              <a:ext uri="{FF2B5EF4-FFF2-40B4-BE49-F238E27FC236}">
                <a16:creationId xmlns:a16="http://schemas.microsoft.com/office/drawing/2014/main" id="{93425E3C-FC1F-44D2-AAA1-9DBADF04C092}"/>
              </a:ext>
            </a:extLst>
          </p:cNvPr>
          <p:cNvSpPr>
            <a:spLocks noGrp="1"/>
          </p:cNvSpPr>
          <p:nvPr/>
        </p:nvSpPr>
        <p:spPr>
          <a:xfrm>
            <a:off x="6764065" y="1190625"/>
            <a:ext cx="4953000" cy="523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defRPr sz="14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语言库调用频繁、输入复杂，且可能连接多层依赖</a:t>
            </a:r>
            <a:r>
              <a:rPr sz="1425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>
              <a:lnSpc>
                <a:spcPts val="2000"/>
              </a:lnSpc>
              <a:defRPr sz="142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库中的缺陷可直接影响业务数据与服务可用性</a:t>
            </a:r>
            <a:r>
              <a:rPr sz="1425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5000" name="v5_p10_transition">
            <a:extLst>
              <a:ext uri="{FF2B5EF4-FFF2-40B4-BE49-F238E27FC236}">
                <a16:creationId xmlns:a16="http://schemas.microsoft.com/office/drawing/2014/main" id="{2D0684E2-A70E-42BB-A45A-CD159DA72DFB}"/>
              </a:ext>
            </a:extLst>
          </p:cNvPr>
          <p:cNvSpPr>
            <a:spLocks noGrp="1"/>
          </p:cNvSpPr>
          <p:nvPr/>
        </p:nvSpPr>
        <p:spPr>
          <a:xfrm>
            <a:off x="571500" y="6267450"/>
            <a:ext cx="5619750" cy="276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350">
                <a:solidFill>
                  <a:srgbClr val="285EA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1350">
                <a:solidFill>
                  <a:srgbClr val="285EA8"/>
                </a:solidFill>
                <a:latin typeface="微软雅黑"/>
                <a:ea typeface="微软雅黑"/>
                <a:cs typeface="微软雅黑"/>
              </a:defRPr>
            </a:pPr>
            <a:r>
              <a:rPr sz="1350">
                <a:solidFill>
                  <a:srgbClr val="285EA8"/>
                </a:solidFill>
                <a:latin typeface="微软雅黑"/>
                <a:ea typeface="微软雅黑"/>
                <a:cs typeface="微软雅黑"/>
              </a:rPr>
              <a:t>持续扫描存量代码，在新增 PR 中及时识别安全风险。</a:t>
            </a:r>
          </a:p>
        </p:txBody>
      </p:sp>
    </p:spTree>
    <p:extLst>
      <p:ext uri="{BB962C8B-B14F-4D97-AF65-F5344CB8AC3E}">
        <p14:creationId xmlns:p14="http://schemas.microsoft.com/office/powerpoint/2010/main" val="37923134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4_s12_id3">
            <a:extLst>
              <a:ext uri="{FF2B5EF4-FFF2-40B4-BE49-F238E27FC236}">
                <a16:creationId xmlns:a16="http://schemas.microsoft.com/office/drawing/2014/main" id="{BDD97185-739B-42A0-9B72-0241CC25BF2D}"/>
              </a:ext>
            </a:extLst>
          </p:cNvPr>
          <p:cNvSpPr/>
          <p:nvPr/>
        </p:nvSpPr>
        <p:spPr>
          <a:xfrm>
            <a:off x="620797" y="5568759"/>
            <a:ext cx="3116264" cy="510158"/>
          </a:xfrm>
          <a:prstGeom prst="roundRect">
            <a:avLst/>
          </a:prstGeom>
          <a:gradFill>
            <a:gsLst>
              <a:gs pos="0">
                <a:srgbClr val="8F95FC"/>
              </a:gs>
              <a:gs pos="100000">
                <a:srgbClr val="70CBE6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v4_s12_id4">
            <a:extLst>
              <a:ext uri="{FF2B5EF4-FFF2-40B4-BE49-F238E27FC236}">
                <a16:creationId xmlns:a16="http://schemas.microsoft.com/office/drawing/2014/main" id="{309165EE-D7C5-462F-ACF5-EFAE71C7019D}"/>
              </a:ext>
            </a:extLst>
          </p:cNvPr>
          <p:cNvSpPr/>
          <p:nvPr/>
        </p:nvSpPr>
        <p:spPr>
          <a:xfrm>
            <a:off x="620797" y="1679017"/>
            <a:ext cx="3116264" cy="3623343"/>
          </a:xfrm>
          <a:custGeom>
            <a:avLst/>
            <a:gdLst/>
            <a:ahLst/>
            <a:cxnLst/>
            <a:rect l="l" t="t" r="r" b="b"/>
            <a:pathLst>
              <a:path w="753034" h="1193443">
                <a:moveTo>
                  <a:pt x="34781" y="0"/>
                </a:moveTo>
                <a:lnTo>
                  <a:pt x="718253" y="0"/>
                </a:lnTo>
                <a:cubicBezTo>
                  <a:pt x="727477" y="0"/>
                  <a:pt x="736324" y="3664"/>
                  <a:pt x="742847" y="10187"/>
                </a:cubicBezTo>
                <a:cubicBezTo>
                  <a:pt x="749370" y="16710"/>
                  <a:pt x="753034" y="25557"/>
                  <a:pt x="753034" y="34781"/>
                </a:cubicBezTo>
                <a:lnTo>
                  <a:pt x="753034" y="1158662"/>
                </a:lnTo>
                <a:cubicBezTo>
                  <a:pt x="753034" y="1177871"/>
                  <a:pt x="737462" y="1193443"/>
                  <a:pt x="718253" y="1193443"/>
                </a:cubicBezTo>
                <a:lnTo>
                  <a:pt x="34781" y="1193443"/>
                </a:lnTo>
                <a:cubicBezTo>
                  <a:pt x="15572" y="1193443"/>
                  <a:pt x="0" y="1177871"/>
                  <a:pt x="0" y="1158662"/>
                </a:cubicBezTo>
                <a:lnTo>
                  <a:pt x="0" y="34781"/>
                </a:lnTo>
                <a:cubicBezTo>
                  <a:pt x="0" y="15572"/>
                  <a:pt x="15572" y="0"/>
                  <a:pt x="34781" y="0"/>
                </a:cubicBez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8F97FC"/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AE520561-C1C2-4236-A33A-2E2F9A48ECAE}"/>
              </a:ext>
            </a:extLst>
          </p:cNvPr>
          <p:cNvGrpSpPr/>
          <p:nvPr/>
        </p:nvGrpSpPr>
        <p:grpSpPr>
          <a:xfrm>
            <a:off x="1762568" y="1363885"/>
            <a:ext cx="736873" cy="736873"/>
            <a:chOff x="1722395" y="1832933"/>
            <a:chExt cx="736873" cy="736873"/>
          </a:xfrm>
        </p:grpSpPr>
        <p:sp>
          <p:nvSpPr>
            <p:cNvPr id="7" name="v4_s12_id7">
              <a:extLst>
                <a:ext uri="{FF2B5EF4-FFF2-40B4-BE49-F238E27FC236}">
                  <a16:creationId xmlns:a16="http://schemas.microsoft.com/office/drawing/2014/main" id="{9157EC15-A6EA-4AF5-80A5-E375902684B4}"/>
                </a:ext>
              </a:extLst>
            </p:cNvPr>
            <p:cNvSpPr/>
            <p:nvPr/>
          </p:nvSpPr>
          <p:spPr>
            <a:xfrm>
              <a:off x="1722395" y="1832933"/>
              <a:ext cx="736873" cy="736873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8F95FC"/>
                </a:gs>
                <a:gs pos="100000">
                  <a:srgbClr val="70CBE6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8" name="v4_s12_id8">
              <a:extLst>
                <a:ext uri="{FF2B5EF4-FFF2-40B4-BE49-F238E27FC236}">
                  <a16:creationId xmlns:a16="http://schemas.microsoft.com/office/drawing/2014/main" id="{8312504A-EFE9-4CEB-AA97-C94F492C18F5}"/>
                </a:ext>
              </a:extLst>
            </p:cNvPr>
            <p:cNvSpPr/>
            <p:nvPr/>
          </p:nvSpPr>
          <p:spPr>
            <a:xfrm>
              <a:off x="1868617" y="2022386"/>
              <a:ext cx="444429" cy="357968"/>
            </a:xfrm>
            <a:custGeom>
              <a:avLst/>
              <a:gdLst/>
              <a:ahLst/>
              <a:cxnLst/>
              <a:rect l="l" t="t" r="r" b="b"/>
              <a:pathLst>
                <a:path w="444429" h="357968">
                  <a:moveTo>
                    <a:pt x="0" y="0"/>
                  </a:moveTo>
                  <a:lnTo>
                    <a:pt x="444429" y="0"/>
                  </a:lnTo>
                  <a:lnTo>
                    <a:pt x="444429" y="357967"/>
                  </a:lnTo>
                  <a:lnTo>
                    <a:pt x="0" y="3579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pPr algn="ctr"/>
              <a:endParaRPr lang="zh-CN" altLang="en-US"/>
            </a:p>
          </p:txBody>
        </p:sp>
      </p:grpSp>
      <p:sp>
        <p:nvSpPr>
          <p:cNvPr id="10" name="v4_s12_id10">
            <a:extLst>
              <a:ext uri="{FF2B5EF4-FFF2-40B4-BE49-F238E27FC236}">
                <a16:creationId xmlns:a16="http://schemas.microsoft.com/office/drawing/2014/main" id="{44CEB8BD-952C-44EA-B0E9-71CEE0F0F33F}"/>
              </a:ext>
            </a:extLst>
          </p:cNvPr>
          <p:cNvSpPr/>
          <p:nvPr/>
        </p:nvSpPr>
        <p:spPr>
          <a:xfrm>
            <a:off x="4421272" y="5568759"/>
            <a:ext cx="3116264" cy="510158"/>
          </a:xfrm>
          <a:prstGeom prst="roundRect">
            <a:avLst/>
          </a:prstGeom>
          <a:gradFill>
            <a:gsLst>
              <a:gs pos="0">
                <a:srgbClr val="8F95FC"/>
              </a:gs>
              <a:gs pos="100000">
                <a:srgbClr val="70CBE6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v4_s12_id11">
            <a:extLst>
              <a:ext uri="{FF2B5EF4-FFF2-40B4-BE49-F238E27FC236}">
                <a16:creationId xmlns:a16="http://schemas.microsoft.com/office/drawing/2014/main" id="{4E9250D7-9855-472D-AA37-236DDB6C9FE2}"/>
              </a:ext>
            </a:extLst>
          </p:cNvPr>
          <p:cNvSpPr/>
          <p:nvPr/>
        </p:nvSpPr>
        <p:spPr>
          <a:xfrm>
            <a:off x="4415533" y="1679016"/>
            <a:ext cx="3116264" cy="3623343"/>
          </a:xfrm>
          <a:custGeom>
            <a:avLst/>
            <a:gdLst/>
            <a:ahLst/>
            <a:cxnLst/>
            <a:rect l="l" t="t" r="r" b="b"/>
            <a:pathLst>
              <a:path w="753034" h="1193443">
                <a:moveTo>
                  <a:pt x="34781" y="0"/>
                </a:moveTo>
                <a:lnTo>
                  <a:pt x="718253" y="0"/>
                </a:lnTo>
                <a:cubicBezTo>
                  <a:pt x="727477" y="0"/>
                  <a:pt x="736324" y="3664"/>
                  <a:pt x="742847" y="10187"/>
                </a:cubicBezTo>
                <a:cubicBezTo>
                  <a:pt x="749370" y="16710"/>
                  <a:pt x="753034" y="25557"/>
                  <a:pt x="753034" y="34781"/>
                </a:cubicBezTo>
                <a:lnTo>
                  <a:pt x="753034" y="1158662"/>
                </a:lnTo>
                <a:cubicBezTo>
                  <a:pt x="753034" y="1177871"/>
                  <a:pt x="737462" y="1193443"/>
                  <a:pt x="718253" y="1193443"/>
                </a:cubicBezTo>
                <a:lnTo>
                  <a:pt x="34781" y="1193443"/>
                </a:lnTo>
                <a:cubicBezTo>
                  <a:pt x="15572" y="1193443"/>
                  <a:pt x="0" y="1177871"/>
                  <a:pt x="0" y="1158662"/>
                </a:cubicBezTo>
                <a:lnTo>
                  <a:pt x="0" y="34781"/>
                </a:lnTo>
                <a:cubicBezTo>
                  <a:pt x="0" y="15572"/>
                  <a:pt x="15572" y="0"/>
                  <a:pt x="34781" y="0"/>
                </a:cubicBez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8F97FC"/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sp>
        <p:nvSpPr>
          <p:cNvPr id="14" name="v4_s12_id14">
            <a:extLst>
              <a:ext uri="{FF2B5EF4-FFF2-40B4-BE49-F238E27FC236}">
                <a16:creationId xmlns:a16="http://schemas.microsoft.com/office/drawing/2014/main" id="{A0F7A26A-1C99-4708-83BA-C89536A9E9C1}"/>
              </a:ext>
            </a:extLst>
          </p:cNvPr>
          <p:cNvSpPr/>
          <p:nvPr/>
        </p:nvSpPr>
        <p:spPr>
          <a:xfrm>
            <a:off x="8261665" y="5568759"/>
            <a:ext cx="3116264" cy="510158"/>
          </a:xfrm>
          <a:prstGeom prst="roundRect">
            <a:avLst/>
          </a:prstGeom>
          <a:gradFill>
            <a:gsLst>
              <a:gs pos="0">
                <a:srgbClr val="8F95FC"/>
              </a:gs>
              <a:gs pos="100000">
                <a:srgbClr val="70CBE6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v4_s12_id15">
            <a:extLst>
              <a:ext uri="{FF2B5EF4-FFF2-40B4-BE49-F238E27FC236}">
                <a16:creationId xmlns:a16="http://schemas.microsoft.com/office/drawing/2014/main" id="{CCF6F3FC-47E3-4E38-AE23-E7CA8613F976}"/>
              </a:ext>
            </a:extLst>
          </p:cNvPr>
          <p:cNvSpPr/>
          <p:nvPr/>
        </p:nvSpPr>
        <p:spPr>
          <a:xfrm>
            <a:off x="8261665" y="1679017"/>
            <a:ext cx="3116264" cy="3623343"/>
          </a:xfrm>
          <a:custGeom>
            <a:avLst/>
            <a:gdLst/>
            <a:ahLst/>
            <a:cxnLst/>
            <a:rect l="l" t="t" r="r" b="b"/>
            <a:pathLst>
              <a:path w="753034" h="1193443">
                <a:moveTo>
                  <a:pt x="34781" y="0"/>
                </a:moveTo>
                <a:lnTo>
                  <a:pt x="718253" y="0"/>
                </a:lnTo>
                <a:cubicBezTo>
                  <a:pt x="727477" y="0"/>
                  <a:pt x="736324" y="3664"/>
                  <a:pt x="742847" y="10187"/>
                </a:cubicBezTo>
                <a:cubicBezTo>
                  <a:pt x="749370" y="16710"/>
                  <a:pt x="753034" y="25557"/>
                  <a:pt x="753034" y="34781"/>
                </a:cubicBezTo>
                <a:lnTo>
                  <a:pt x="753034" y="1158662"/>
                </a:lnTo>
                <a:cubicBezTo>
                  <a:pt x="753034" y="1177871"/>
                  <a:pt x="737462" y="1193443"/>
                  <a:pt x="718253" y="1193443"/>
                </a:cubicBezTo>
                <a:lnTo>
                  <a:pt x="34781" y="1193443"/>
                </a:lnTo>
                <a:cubicBezTo>
                  <a:pt x="15572" y="1193443"/>
                  <a:pt x="0" y="1177871"/>
                  <a:pt x="0" y="1158662"/>
                </a:cubicBezTo>
                <a:lnTo>
                  <a:pt x="0" y="34781"/>
                </a:lnTo>
                <a:cubicBezTo>
                  <a:pt x="0" y="15572"/>
                  <a:pt x="15572" y="0"/>
                  <a:pt x="34781" y="0"/>
                </a:cubicBezTo>
                <a:close/>
              </a:path>
            </a:pathLst>
          </a:custGeom>
          <a:solidFill>
            <a:schemeClr val="bg1"/>
          </a:solidFill>
          <a:ln w="19050" cap="sq">
            <a:solidFill>
              <a:srgbClr val="8F97FC"/>
            </a:solidFill>
            <a:prstDash val="solid"/>
            <a:miter/>
          </a:ln>
        </p:spPr>
        <p:txBody>
          <a:bodyPr/>
          <a:lstStyle/>
          <a:p>
            <a:pPr algn="ctr"/>
            <a:endParaRPr lang="zh-CN" altLang="en-US"/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9954DC4A-7E17-492E-8BBF-51ACC1E98DE0}"/>
              </a:ext>
            </a:extLst>
          </p:cNvPr>
          <p:cNvGrpSpPr/>
          <p:nvPr/>
        </p:nvGrpSpPr>
        <p:grpSpPr>
          <a:xfrm>
            <a:off x="5627194" y="1343218"/>
            <a:ext cx="736873" cy="736873"/>
            <a:chOff x="4745233" y="1793008"/>
            <a:chExt cx="736873" cy="736873"/>
          </a:xfrm>
        </p:grpSpPr>
        <p:sp>
          <p:nvSpPr>
            <p:cNvPr id="19" name="v4_s12_id19">
              <a:extLst>
                <a:ext uri="{FF2B5EF4-FFF2-40B4-BE49-F238E27FC236}">
                  <a16:creationId xmlns:a16="http://schemas.microsoft.com/office/drawing/2014/main" id="{A773F840-5562-4CCD-9032-4EAF2ADA3B5A}"/>
                </a:ext>
              </a:extLst>
            </p:cNvPr>
            <p:cNvSpPr/>
            <p:nvPr/>
          </p:nvSpPr>
          <p:spPr>
            <a:xfrm>
              <a:off x="4745233" y="1793008"/>
              <a:ext cx="736873" cy="736873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8F95FC"/>
                </a:gs>
                <a:gs pos="100000">
                  <a:srgbClr val="70CBE6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v4_s12_id20">
              <a:extLst>
                <a:ext uri="{FF2B5EF4-FFF2-40B4-BE49-F238E27FC236}">
                  <a16:creationId xmlns:a16="http://schemas.microsoft.com/office/drawing/2014/main" id="{E7068444-F9C8-4D94-9DA6-029C927EA095}"/>
                </a:ext>
              </a:extLst>
            </p:cNvPr>
            <p:cNvSpPr/>
            <p:nvPr/>
          </p:nvSpPr>
          <p:spPr>
            <a:xfrm>
              <a:off x="4926162" y="1982461"/>
              <a:ext cx="375014" cy="357968"/>
            </a:xfrm>
            <a:custGeom>
              <a:avLst/>
              <a:gdLst/>
              <a:ahLst/>
              <a:cxnLst/>
              <a:rect l="l" t="t" r="r" b="b"/>
              <a:pathLst>
                <a:path w="375014" h="357968">
                  <a:moveTo>
                    <a:pt x="0" y="0"/>
                  </a:moveTo>
                  <a:lnTo>
                    <a:pt x="375014" y="0"/>
                  </a:lnTo>
                  <a:lnTo>
                    <a:pt x="375014" y="357967"/>
                  </a:lnTo>
                  <a:lnTo>
                    <a:pt x="0" y="3579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CF2B8FDF-4BEE-4E33-9334-79761BE83A36}"/>
              </a:ext>
            </a:extLst>
          </p:cNvPr>
          <p:cNvGrpSpPr/>
          <p:nvPr/>
        </p:nvGrpSpPr>
        <p:grpSpPr>
          <a:xfrm>
            <a:off x="9451360" y="1339880"/>
            <a:ext cx="736873" cy="736873"/>
            <a:chOff x="6736532" y="2011917"/>
            <a:chExt cx="736873" cy="736873"/>
          </a:xfrm>
        </p:grpSpPr>
        <p:sp>
          <p:nvSpPr>
            <p:cNvPr id="22" name="v4_s12_id22">
              <a:extLst>
                <a:ext uri="{FF2B5EF4-FFF2-40B4-BE49-F238E27FC236}">
                  <a16:creationId xmlns:a16="http://schemas.microsoft.com/office/drawing/2014/main" id="{30CC555D-3212-4E0B-990B-249F1283122B}"/>
                </a:ext>
              </a:extLst>
            </p:cNvPr>
            <p:cNvSpPr/>
            <p:nvPr/>
          </p:nvSpPr>
          <p:spPr>
            <a:xfrm>
              <a:off x="6736532" y="2011917"/>
              <a:ext cx="736873" cy="736873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>
              <a:gsLst>
                <a:gs pos="0">
                  <a:srgbClr val="8F95FC"/>
                </a:gs>
                <a:gs pos="100000">
                  <a:srgbClr val="70CBE6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zh-CN" altLang="en-US"/>
            </a:p>
          </p:txBody>
        </p:sp>
        <p:sp>
          <p:nvSpPr>
            <p:cNvPr id="23" name="v4_s12_id23">
              <a:extLst>
                <a:ext uri="{FF2B5EF4-FFF2-40B4-BE49-F238E27FC236}">
                  <a16:creationId xmlns:a16="http://schemas.microsoft.com/office/drawing/2014/main" id="{B854973E-6D1B-4E26-BD2B-86F08B157BD2}"/>
                </a:ext>
              </a:extLst>
            </p:cNvPr>
            <p:cNvSpPr/>
            <p:nvPr/>
          </p:nvSpPr>
          <p:spPr>
            <a:xfrm>
              <a:off x="6876567" y="2201370"/>
              <a:ext cx="456803" cy="357968"/>
            </a:xfrm>
            <a:custGeom>
              <a:avLst/>
              <a:gdLst/>
              <a:ahLst/>
              <a:cxnLst/>
              <a:rect l="l" t="t" r="r" b="b"/>
              <a:pathLst>
                <a:path w="456803" h="357968">
                  <a:moveTo>
                    <a:pt x="0" y="0"/>
                  </a:moveTo>
                  <a:lnTo>
                    <a:pt x="456803" y="0"/>
                  </a:lnTo>
                  <a:lnTo>
                    <a:pt x="456803" y="357967"/>
                  </a:lnTo>
                  <a:lnTo>
                    <a:pt x="0" y="35796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011" name="ai_title">
            <a:extLst>
              <a:ext uri="{FF2B5EF4-FFF2-40B4-BE49-F238E27FC236}">
                <a16:creationId xmlns:a16="http://schemas.microsoft.com/office/drawing/2014/main" id="{ACD38C98-9877-4759-8D03-34353F80D8BB}"/>
              </a:ext>
            </a:extLst>
          </p:cNvPr>
          <p:cNvSpPr>
            <a:spLocks noGrp="1"/>
          </p:cNvSpPr>
          <p:nvPr/>
        </p:nvSpPr>
        <p:spPr>
          <a:xfrm>
            <a:off x="361950" y="228600"/>
            <a:ext cx="114300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4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>
              <a:defRPr sz="24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lang="en-US" altLang="zh-CN" sz="2400" b="1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AI</a:t>
            </a:r>
            <a:r>
              <a:rPr sz="2400" b="1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大模型辅助安全看护：存量治理与</a:t>
            </a:r>
            <a:r>
              <a:rPr sz="2400" b="1" dirty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 PR </a:t>
            </a:r>
            <a:r>
              <a:rPr sz="2400" b="1" dirty="0" err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门禁</a:t>
            </a:r>
            <a:endParaRPr sz="2400" b="1" dirty="0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5012" name="ai_intro">
            <a:extLst>
              <a:ext uri="{FF2B5EF4-FFF2-40B4-BE49-F238E27FC236}">
                <a16:creationId xmlns:a16="http://schemas.microsoft.com/office/drawing/2014/main" id="{C05EE942-6F0D-4695-90E0-5E605D8D948B}"/>
              </a:ext>
            </a:extLst>
          </p:cNvPr>
          <p:cNvSpPr>
            <a:spLocks noGrp="1"/>
          </p:cNvSpPr>
          <p:nvPr/>
        </p:nvSpPr>
        <p:spPr>
          <a:xfrm>
            <a:off x="361950" y="933450"/>
            <a:ext cx="114300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5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r>
              <a:rPr sz="1875" b="1" dirty="0" err="1">
                <a:solidFill>
                  <a:srgbClr val="285EA8"/>
                </a:solidFill>
                <a:latin typeface="微软雅黑"/>
                <a:ea typeface="微软雅黑"/>
              </a:rPr>
              <a:t>仓颉团队聚焦语言库风险，借助国外领先（SOTA）模型开展白盒扫描与持续看护。</a:t>
            </a:r>
          </a:p>
        </p:txBody>
      </p:sp>
      <p:sp>
        <p:nvSpPr>
          <p:cNvPr id="5013" name="ai_card_heading_0">
            <a:extLst>
              <a:ext uri="{FF2B5EF4-FFF2-40B4-BE49-F238E27FC236}">
                <a16:creationId xmlns:a16="http://schemas.microsoft.com/office/drawing/2014/main" id="{594F9512-E1A1-498C-AFC1-B22019ADFCE7}"/>
              </a:ext>
            </a:extLst>
          </p:cNvPr>
          <p:cNvSpPr>
            <a:spLocks noGrp="1"/>
          </p:cNvSpPr>
          <p:nvPr/>
        </p:nvSpPr>
        <p:spPr>
          <a:xfrm>
            <a:off x="619125" y="2238375"/>
            <a:ext cx="311467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175" b="1">
                <a:solidFill>
                  <a:srgbClr val="285EA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175" b="1">
                <a:solidFill>
                  <a:srgbClr val="285EA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85EA8"/>
                </a:solidFill>
                <a:latin typeface="微软雅黑"/>
                <a:ea typeface="微软雅黑"/>
                <a:cs typeface="微软雅黑"/>
              </a:rPr>
              <a:t>存量扫描</a:t>
            </a:r>
          </a:p>
        </p:txBody>
      </p:sp>
      <p:sp>
        <p:nvSpPr>
          <p:cNvPr id="5014" name="ai_card_body_0">
            <a:extLst>
              <a:ext uri="{FF2B5EF4-FFF2-40B4-BE49-F238E27FC236}">
                <a16:creationId xmlns:a16="http://schemas.microsoft.com/office/drawing/2014/main" id="{708DCFA0-D2FC-4AB8-A8A2-EF908C182A3F}"/>
              </a:ext>
            </a:extLst>
          </p:cNvPr>
          <p:cNvSpPr>
            <a:spLocks noGrp="1"/>
          </p:cNvSpPr>
          <p:nvPr/>
        </p:nvSpPr>
        <p:spPr>
          <a:xfrm>
            <a:off x="762000" y="2676525"/>
            <a:ext cx="2828925" cy="2562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9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使用国外</a:t>
            </a:r>
            <a:r>
              <a:rPr sz="1950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 SOTA </a:t>
            </a:r>
            <a:r>
              <a:rPr sz="1950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模型</a:t>
            </a:r>
            <a:endParaRPr sz="1950" b="0" dirty="0">
              <a:solidFill>
                <a:srgbClr val="111111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9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对源码开展</a:t>
            </a:r>
            <a:r>
              <a:rPr lang="zh-CN" altLang="en-US" sz="195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白盒</a:t>
            </a:r>
            <a:r>
              <a:rPr sz="1950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扫描</a:t>
            </a:r>
            <a:r>
              <a:rPr sz="1950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，</a:t>
            </a:r>
          </a:p>
          <a:p>
            <a:pPr algn="ctr">
              <a:defRPr sz="19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重点关注语言库</a:t>
            </a:r>
            <a:r>
              <a:rPr sz="1950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 algn="ctr">
              <a:lnSpc>
                <a:spcPts val="1200"/>
              </a:lnSpc>
            </a:pPr>
            <a:endParaRPr sz="1950" b="0" dirty="0">
              <a:solidFill>
                <a:srgbClr val="111111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9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发现</a:t>
            </a:r>
            <a:r>
              <a:rPr sz="1950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 xx </a:t>
            </a:r>
            <a:r>
              <a:rPr sz="1950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项安全问题</a:t>
            </a:r>
            <a:r>
              <a:rPr sz="1950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，</a:t>
            </a:r>
          </a:p>
          <a:p>
            <a:pPr algn="ctr">
              <a:defRPr sz="19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完成修复与加固</a:t>
            </a:r>
            <a:r>
              <a:rPr sz="1950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5015" name="ai_card_footer_0">
            <a:extLst>
              <a:ext uri="{FF2B5EF4-FFF2-40B4-BE49-F238E27FC236}">
                <a16:creationId xmlns:a16="http://schemas.microsoft.com/office/drawing/2014/main" id="{E2148B8D-E648-4C0F-8CBB-A46DA277F0E4}"/>
              </a:ext>
            </a:extLst>
          </p:cNvPr>
          <p:cNvSpPr>
            <a:spLocks noGrp="1"/>
          </p:cNvSpPr>
          <p:nvPr/>
        </p:nvSpPr>
        <p:spPr>
          <a:xfrm>
            <a:off x="1190625" y="5705475"/>
            <a:ext cx="204787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存量治理</a:t>
            </a:r>
          </a:p>
        </p:txBody>
      </p:sp>
      <p:sp>
        <p:nvSpPr>
          <p:cNvPr id="5016" name="ai_card_heading_1">
            <a:extLst>
              <a:ext uri="{FF2B5EF4-FFF2-40B4-BE49-F238E27FC236}">
                <a16:creationId xmlns:a16="http://schemas.microsoft.com/office/drawing/2014/main" id="{BC2BA717-A7B6-40E2-87F2-BBECA7E3C4C4}"/>
              </a:ext>
            </a:extLst>
          </p:cNvPr>
          <p:cNvSpPr>
            <a:spLocks noGrp="1"/>
          </p:cNvSpPr>
          <p:nvPr/>
        </p:nvSpPr>
        <p:spPr>
          <a:xfrm>
            <a:off x="4419600" y="2238375"/>
            <a:ext cx="311467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175" b="1">
                <a:solidFill>
                  <a:srgbClr val="285EA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175" b="1">
                <a:solidFill>
                  <a:srgbClr val="285EA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85EA8"/>
                </a:solidFill>
                <a:latin typeface="微软雅黑"/>
                <a:ea typeface="微软雅黑"/>
                <a:cs typeface="微软雅黑"/>
              </a:rPr>
              <a:t>漏洞模式沉淀</a:t>
            </a:r>
          </a:p>
        </p:txBody>
      </p:sp>
      <p:sp>
        <p:nvSpPr>
          <p:cNvPr id="5017" name="ai_card_body_1">
            <a:extLst>
              <a:ext uri="{FF2B5EF4-FFF2-40B4-BE49-F238E27FC236}">
                <a16:creationId xmlns:a16="http://schemas.microsoft.com/office/drawing/2014/main" id="{01CC15E4-B709-4C6E-B3FF-C8D1974D7D53}"/>
              </a:ext>
            </a:extLst>
          </p:cNvPr>
          <p:cNvSpPr>
            <a:spLocks noGrp="1"/>
          </p:cNvSpPr>
          <p:nvPr/>
        </p:nvSpPr>
        <p:spPr>
          <a:xfrm>
            <a:off x="4562475" y="2676525"/>
            <a:ext cx="2828925" cy="2562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9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复盘历史白盒扫描</a:t>
            </a:r>
            <a:r>
              <a:rPr sz="1950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，</a:t>
            </a:r>
          </a:p>
          <a:p>
            <a:pPr algn="ctr">
              <a:defRPr sz="19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lang="zh-CN" altLang="en-US" sz="1950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持续</a:t>
            </a:r>
            <a:r>
              <a:rPr sz="1950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归纳</a:t>
            </a:r>
            <a:r>
              <a:rPr lang="en-US" sz="195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和更新</a:t>
            </a:r>
            <a:r>
              <a:rPr sz="1950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仓颉漏洞模式库</a:t>
            </a:r>
            <a:r>
              <a:rPr sz="1950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 algn="ctr">
              <a:lnSpc>
                <a:spcPts val="1200"/>
              </a:lnSpc>
            </a:pPr>
            <a:endParaRPr sz="1950" b="0" dirty="0">
              <a:solidFill>
                <a:srgbClr val="111111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9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形成专属挖洞</a:t>
            </a:r>
            <a:r>
              <a:rPr sz="1950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 Skills，</a:t>
            </a:r>
          </a:p>
          <a:p>
            <a:pPr algn="ctr">
              <a:defRPr sz="19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用于后续安全扫描</a:t>
            </a:r>
            <a:r>
              <a:rPr sz="1950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5018" name="ai_card_footer_1">
            <a:extLst>
              <a:ext uri="{FF2B5EF4-FFF2-40B4-BE49-F238E27FC236}">
                <a16:creationId xmlns:a16="http://schemas.microsoft.com/office/drawing/2014/main" id="{3200FA8F-EA8E-4720-B755-2922727B5E14}"/>
              </a:ext>
            </a:extLst>
          </p:cNvPr>
          <p:cNvSpPr>
            <a:spLocks noGrp="1"/>
          </p:cNvSpPr>
          <p:nvPr/>
        </p:nvSpPr>
        <p:spPr>
          <a:xfrm>
            <a:off x="4991100" y="5705475"/>
            <a:ext cx="204787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知识沉淀</a:t>
            </a:r>
          </a:p>
        </p:txBody>
      </p:sp>
      <p:sp>
        <p:nvSpPr>
          <p:cNvPr id="5019" name="ai_card_heading_2">
            <a:extLst>
              <a:ext uri="{FF2B5EF4-FFF2-40B4-BE49-F238E27FC236}">
                <a16:creationId xmlns:a16="http://schemas.microsoft.com/office/drawing/2014/main" id="{9947CE36-B23E-4828-A7CF-19B19C27E34E}"/>
              </a:ext>
            </a:extLst>
          </p:cNvPr>
          <p:cNvSpPr>
            <a:spLocks noGrp="1"/>
          </p:cNvSpPr>
          <p:nvPr/>
        </p:nvSpPr>
        <p:spPr>
          <a:xfrm>
            <a:off x="8258175" y="2238375"/>
            <a:ext cx="3114675" cy="4191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2175" b="1">
                <a:solidFill>
                  <a:srgbClr val="285EA8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2175" b="1">
                <a:solidFill>
                  <a:srgbClr val="285EA8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85EA8"/>
                </a:solidFill>
                <a:latin typeface="微软雅黑"/>
                <a:ea typeface="微软雅黑"/>
                <a:cs typeface="微软雅黑"/>
              </a:rPr>
              <a:t>secbot 门禁</a:t>
            </a:r>
          </a:p>
        </p:txBody>
      </p:sp>
      <p:sp>
        <p:nvSpPr>
          <p:cNvPr id="5020" name="ai_card_body_2">
            <a:extLst>
              <a:ext uri="{FF2B5EF4-FFF2-40B4-BE49-F238E27FC236}">
                <a16:creationId xmlns:a16="http://schemas.microsoft.com/office/drawing/2014/main" id="{2CF6C5F2-76A1-430D-822B-4D194DCDB6C2}"/>
              </a:ext>
            </a:extLst>
          </p:cNvPr>
          <p:cNvSpPr>
            <a:spLocks noGrp="1"/>
          </p:cNvSpPr>
          <p:nvPr/>
        </p:nvSpPr>
        <p:spPr>
          <a:xfrm>
            <a:off x="8401050" y="2676525"/>
            <a:ext cx="2980369" cy="25622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sz="19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9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研发</a:t>
            </a:r>
            <a:r>
              <a:rPr sz="1950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 PR </a:t>
            </a:r>
            <a:r>
              <a:rPr sz="1950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门禁机器人</a:t>
            </a:r>
            <a:endParaRPr sz="1950" b="0" dirty="0">
              <a:solidFill>
                <a:srgbClr val="111111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9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secbot，每个新</a:t>
            </a:r>
            <a:r>
              <a:rPr sz="1950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 PR</a:t>
            </a:r>
          </a:p>
          <a:p>
            <a:pPr algn="ctr">
              <a:defRPr sz="19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lang="en-US" sz="1950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都触发</a:t>
            </a:r>
            <a:r>
              <a:rPr sz="1950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白盒扫描</a:t>
            </a:r>
            <a:r>
              <a:rPr lang="zh-CN" altLang="en-US" sz="1950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任务</a:t>
            </a:r>
            <a:r>
              <a:rPr sz="1950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。</a:t>
            </a:r>
          </a:p>
          <a:p>
            <a:pPr algn="ctr">
              <a:lnSpc>
                <a:spcPts val="1200"/>
              </a:lnSpc>
            </a:pPr>
            <a:endParaRPr sz="1950" b="0" dirty="0">
              <a:solidFill>
                <a:srgbClr val="111111"/>
              </a:solidFill>
              <a:latin typeface="微软雅黑"/>
              <a:ea typeface="微软雅黑"/>
              <a:cs typeface="微软雅黑"/>
            </a:endParaRPr>
          </a:p>
          <a:p>
            <a:pPr algn="ctr">
              <a:defRPr sz="19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使用专属挖洞</a:t>
            </a:r>
            <a:r>
              <a:rPr sz="1950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 Skills，</a:t>
            </a:r>
          </a:p>
          <a:p>
            <a:pPr algn="ctr">
              <a:defRPr sz="1950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950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在</a:t>
            </a:r>
            <a:r>
              <a:rPr sz="1950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 PR </a:t>
            </a:r>
            <a:r>
              <a:rPr sz="1950" b="0" dirty="0" err="1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门禁环节识别风险</a:t>
            </a:r>
            <a:r>
              <a:rPr sz="1950" b="0" dirty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sp>
        <p:nvSpPr>
          <p:cNvPr id="5021" name="ai_card_footer_2">
            <a:extLst>
              <a:ext uri="{FF2B5EF4-FFF2-40B4-BE49-F238E27FC236}">
                <a16:creationId xmlns:a16="http://schemas.microsoft.com/office/drawing/2014/main" id="{9EEFF3E0-0450-401E-B747-A6E73C9C3A98}"/>
              </a:ext>
            </a:extLst>
          </p:cNvPr>
          <p:cNvSpPr>
            <a:spLocks noGrp="1"/>
          </p:cNvSpPr>
          <p:nvPr/>
        </p:nvSpPr>
        <p:spPr>
          <a:xfrm>
            <a:off x="8829675" y="5705475"/>
            <a:ext cx="2047875" cy="3524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>
            <a:defPPr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>
            <a: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增量看护</a:t>
            </a:r>
          </a:p>
        </p:txBody>
      </p:sp>
    </p:spTree>
    <p:extLst>
      <p:ext uri="{BB962C8B-B14F-4D97-AF65-F5344CB8AC3E}">
        <p14:creationId xmlns:p14="http://schemas.microsoft.com/office/powerpoint/2010/main" val="11869742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v4_s13_id36"/>
          <p:cNvSpPr txBox="1"/>
          <p:nvPr/>
        </p:nvSpPr>
        <p:spPr>
          <a:xfrm>
            <a:off x="795373" y="2817338"/>
            <a:ext cx="6097778" cy="830997"/>
          </a:xfrm>
          <a:prstGeom prst="rect">
            <a:avLst/>
          </a:prstGeom>
          <a:noFill/>
        </p:spPr>
        <p:txBody>
          <a:bodyPr lIns="0" tIns="0" rIns="0" bIns="0" anchor="t">
            <a:noAutofit/>
          </a:bodyPr>
          <a:lstStyle/>
          <a:p>
            <a:pPr algn="l">
              <a:defRPr sz="39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39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感谢您的观看！</a:t>
            </a:r>
            <a:endParaRPr sz="4800" b="1">
              <a:solidFill>
                <a:srgbClr val="00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8" name="v4_s13_id38"/>
          <p:cNvSpPr txBox="1"/>
          <p:nvPr/>
        </p:nvSpPr>
        <p:spPr>
          <a:xfrm>
            <a:off x="3026726" y="4607755"/>
            <a:ext cx="3884460" cy="738664"/>
          </a:xfrm>
          <a:prstGeom prst="rect">
            <a:avLst/>
          </a:prstGeom>
          <a:noFill/>
        </p:spPr>
        <p:txBody>
          <a:bodyPr lIns="0" tIns="0" rIns="0" bIns="0" anchor="t">
            <a:noAutofit/>
          </a:bodyPr>
          <a:lstStyle/>
          <a:p>
            <a:pPr algn="l">
              <a:defRPr sz="18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关注仓颉编程语言公众号</a:t>
            </a:r>
            <a:endParaRPr sz="2100">
              <a:latin typeface="微软雅黑"/>
              <a:ea typeface="微软雅黑"/>
              <a:cs typeface="微软雅黑"/>
            </a:endParaRPr>
          </a:p>
          <a:p>
            <a:pPr algn="l">
              <a:defRPr sz="18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0">
                <a:solidFill>
                  <a:srgbClr val="111111"/>
                </a:solidFill>
                <a:latin typeface="微软雅黑"/>
                <a:ea typeface="微软雅黑"/>
                <a:cs typeface="微软雅黑"/>
              </a:rPr>
              <a:t>获取仓颉相关资讯</a:t>
            </a:r>
            <a:endParaRPr sz="2100">
              <a:latin typeface="微软雅黑"/>
              <a:ea typeface="微软雅黑"/>
              <a:cs typeface="微软雅黑"/>
            </a:endParaRPr>
          </a:p>
        </p:txBody>
      </p:sp>
      <p:pic>
        <p:nvPicPr>
          <p:cNvPr id="7" name="v4_s13_id7">
            <a:extLst>
              <a:ext uri="{FF2B5EF4-FFF2-40B4-BE49-F238E27FC236}">
                <a16:creationId xmlns:a16="http://schemas.microsoft.com/office/drawing/2014/main" id="{6D68C71A-5133-4A5E-936E-7BBA54658D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316" y="4020968"/>
            <a:ext cx="1953639" cy="1953639"/>
          </a:xfrm>
          <a:prstGeom prst="rect">
            <a:avLst/>
          </a:prstGeom>
        </p:spPr>
      </p:pic>
      <p:pic>
        <p:nvPicPr>
          <p:cNvPr id="4" name="v4_s13_id4">
            <a:extLst>
              <a:ext uri="{FF2B5EF4-FFF2-40B4-BE49-F238E27FC236}">
                <a16:creationId xmlns:a16="http://schemas.microsoft.com/office/drawing/2014/main" id="{AD2F4674-0ED1-4248-8322-A4842EBCB3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3087" y="4173808"/>
            <a:ext cx="1622572" cy="1622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74519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DengXian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DengXian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12929</TotalTime>
  <Words>5751</Words>
  <Application>Microsoft Macintosh PowerPoint</Application>
  <PresentationFormat>宽屏</PresentationFormat>
  <Paragraphs>690</Paragraphs>
  <Slides>13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3" baseType="lpstr">
      <vt:lpstr>DengXian</vt:lpstr>
      <vt:lpstr>华文新魏</vt:lpstr>
      <vt:lpstr>楷体</vt:lpstr>
      <vt:lpstr>微软雅黑</vt:lpstr>
      <vt:lpstr>微软雅黑</vt:lpstr>
      <vt:lpstr>微软雅黑 Light</vt:lpstr>
      <vt:lpstr>Arial</vt:lpstr>
      <vt:lpstr>Calibri</vt:lpstr>
      <vt:lpstr>Wingdings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W jingqiao</dc:creator>
  <cp:lastModifiedBy>a49810</cp:lastModifiedBy>
  <cp:revision>204</cp:revision>
  <dcterms:created xsi:type="dcterms:W3CDTF">2022-07-15T02:23:02Z</dcterms:created>
  <dcterms:modified xsi:type="dcterms:W3CDTF">2026-10-09T01:56:25Z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(3)f2yP13Qp3vic5XTALCocdDa8Px+yleI4f76Gfge9UvbMH273pVNhawcQ/lv953a4ZCXEI+2I
UcgYWoqOm6AdCvcd/fd+0kya/SnjosPZOGpp42imUR/apPlX9FRnMOsULDMkUDtSFqQPxPBp
YEC5rZQjCgPbxx35AH1G98OLgLdk7GPnsKJ9m0Il9g7gam7lHBITNicZe7BgllxOCyi6zK2L
WUfNmT6TNlNs1xgT+5</vt:lpwstr>
  </property>
  <property fmtid="{D5CDD505-2E9C-101B-9397-08002B2CF9AE}" pid="3" name="_2015_ms_pID_7253431">
    <vt:lpwstr>JthLT77aSDy8Cp1Bp9hPlbkN8hzuD6oHLTAT60DJcx7cOGX5mrUyQK
jL5xEeqP01ct2Ack6dvSsYMT1P4YPSkyAM77DcJD68Bq3hdAGfUiyC8T+bPpdwvN1TS4f4+p
mupzp0lJoiQnz5y/HckxVo42iO1+J34VMQv8zLJc35OPsrlA2GaQX1m5tn2PC6Ku1skxNaOs
6X83iKXXnXqmCq8LjP0ZMbZveAcq6Az1Cttq</vt:lpwstr>
  </property>
  <property fmtid="{D5CDD505-2E9C-101B-9397-08002B2CF9AE}" pid="4" name="_2015_ms_pID_7253432">
    <vt:lpwstr>pw==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1677296177</vt:lpwstr>
  </property>
</Properties>
</file>